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04688"/>
            <a:ext cx="5943600" cy="6583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AEBAD0"/>
                </a:solidFill>
                <a:latin typeface="Apple SD Gothic Neo"/>
              </a:defRPr>
            </a:pPr>
            <a:r>
              <a:t>2026년 5월 27일</a:t>
            </a:r>
          </a:p>
          <a:p>
            <a:pPr>
              <a:defRPr sz="1250" b="0">
                <a:solidFill>
                  <a:srgbClr val="AEBAD0"/>
                </a:solidFill>
                <a:latin typeface="Apple SD Gothic Neo"/>
              </a:defRPr>
            </a:pPr>
            <a:r>
              <a:t>장재혁</a:t>
            </a:r>
          </a:p>
          <a:p>
            <a:pPr>
              <a:defRPr sz="1250" b="0">
                <a:solidFill>
                  <a:srgbClr val="AEBAD0"/>
                </a:solidFill>
                <a:latin typeface="Apple SD Gothic Neo"/>
              </a:defRPr>
            </a:pPr>
            <a:r>
              <a:t>Tokamak Network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809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907792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DApp이 다룰 storage surface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41985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346704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허용할 function vocabulary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8587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785616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proof와 public input layout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42976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4224528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관찰 가능한 write / event 범위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1" name="Oval 20"/>
          <p:cNvSpPr/>
          <p:nvPr/>
        </p:nvSpPr>
        <p:spPr>
          <a:xfrm>
            <a:off x="6739128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2907792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등록된 DApp인가?</a:t>
            </a:r>
          </a:p>
        </p:txBody>
      </p:sp>
      <p:sp>
        <p:nvSpPr>
          <p:cNvPr id="23" name="Oval 22"/>
          <p:cNvSpPr/>
          <p:nvPr/>
        </p:nvSpPr>
        <p:spPr>
          <a:xfrm>
            <a:off x="6739128" y="34198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3346704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이 proof가 허용된 함수 의미인가?</a:t>
            </a:r>
          </a:p>
        </p:txBody>
      </p:sp>
      <p:sp>
        <p:nvSpPr>
          <p:cNvPr id="25" name="Oval 24"/>
          <p:cNvSpPr/>
          <p:nvPr/>
        </p:nvSpPr>
        <p:spPr>
          <a:xfrm>
            <a:off x="6739128" y="38587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3785616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public input layout이 맞는가?</a:t>
            </a:r>
          </a:p>
        </p:txBody>
      </p:sp>
      <p:sp>
        <p:nvSpPr>
          <p:cNvPr id="27" name="Oval 26"/>
          <p:cNvSpPr/>
          <p:nvPr/>
        </p:nvSpPr>
        <p:spPr>
          <a:xfrm>
            <a:off x="6739128" y="42976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4224528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상태 변경이 허용 표면 안에 있는가?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파생물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Solidity DApp은 metadata로 브릿지에 들어온다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배포된 DApp을 호출하지 않는다. bytecode에서 만든 metadata를 보고 proof를 받아들일지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542032"/>
            <a:ext cx="2157984" cy="80467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93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80" b="1">
                <a:solidFill>
                  <a:srgbClr val="1B1F2A"/>
                </a:solidFill>
                <a:latin typeface="Apple SD Gothic Neo"/>
              </a:defRPr>
            </a:pPr>
            <a:r>
              <a:t>Solidity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80" b="0">
                <a:solidFill>
                  <a:srgbClr val="5C667A"/>
                </a:solidFill>
                <a:latin typeface="Apple SD Gothic Neo"/>
              </a:defRPr>
            </a:pPr>
            <a:r>
              <a:t>DApp logic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2542032"/>
            <a:ext cx="2157984" cy="80467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93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80" b="1">
                <a:solidFill>
                  <a:srgbClr val="1B1F2A"/>
                </a:solidFill>
                <a:latin typeface="Apple SD Gothic Neo"/>
              </a:defRPr>
            </a:pPr>
            <a:r>
              <a:t>deployed bytecode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80" b="0">
                <a:solidFill>
                  <a:srgbClr val="5C667A"/>
                </a:solidFill>
                <a:latin typeface="Apple SD Gothic Neo"/>
              </a:defRPr>
            </a:pPr>
            <a:r>
              <a:t>compiler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9408" y="2542032"/>
            <a:ext cx="2157984" cy="80467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93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80" b="1">
                <a:solidFill>
                  <a:srgbClr val="1B1F2A"/>
                </a:solidFill>
                <a:latin typeface="Apple SD Gothic Neo"/>
              </a:defRPr>
            </a:pPr>
            <a:r>
              <a:t>DApp metadata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80" b="0">
                <a:solidFill>
                  <a:srgbClr val="5C667A"/>
                </a:solidFill>
                <a:latin typeface="Apple SD Gothic Neo"/>
              </a:defRPr>
            </a:pPr>
            <a:r>
              <a:t>bridge input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99232" y="2944368"/>
            <a:ext cx="1627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114032" y="2944368"/>
            <a:ext cx="162763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035808" y="2148840"/>
            <a:ext cx="1554480" cy="34747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36392" y="2258568"/>
            <a:ext cx="1353312" cy="1371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80" b="1">
                <a:solidFill>
                  <a:srgbClr val="21A67A"/>
                </a:solidFill>
                <a:latin typeface="Apple SD Gothic Neo"/>
              </a:defRPr>
            </a:pPr>
            <a:r>
              <a:t>함수: solidity compiler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9168" y="2148840"/>
            <a:ext cx="1792224" cy="34747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00A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9752" y="2258568"/>
            <a:ext cx="1591056" cy="1371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60" b="1">
                <a:solidFill>
                  <a:srgbClr val="00A6B2"/>
                </a:solidFill>
                <a:latin typeface="Apple SD Gothic Neo"/>
              </a:defRPr>
            </a:pPr>
            <a:r>
              <a:t>함수: Tokamak zk-EVM compiler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3584448"/>
            <a:ext cx="56235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0">
                <a:solidFill>
                  <a:srgbClr val="5C667A"/>
                </a:solidFill>
                <a:latin typeface="Apple SD Gothic Neo"/>
              </a:defRPr>
            </a:pPr>
            <a:r>
              <a:t>함수는 데이터를 바꾸고, 브릿지는 최종 metadata를 등록 기준으로 사용한다.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" y="4224528"/>
            <a:ext cx="32918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2563EB"/>
                </a:solidFill>
                <a:latin typeface="Apple SD Gothic Neo"/>
              </a:defRPr>
            </a:pPr>
            <a:r>
              <a:t>DApp deployment는 왜 필요한가?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" y="4736592"/>
            <a:ext cx="26974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00" b="0">
                <a:solidFill>
                  <a:srgbClr val="5C667A"/>
                </a:solidFill>
                <a:latin typeface="Apple SD Gothic Neo"/>
              </a:defRPr>
            </a:pPr>
            <a:r>
              <a:t>compiler가 읽을 bytecode를 만들고, 개발자가 같은 로직을 직접 점검할 수 있게 한다.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3984" y="4224528"/>
            <a:ext cx="32918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21A67A"/>
                </a:solidFill>
                <a:latin typeface="Apple SD Gothic Neo"/>
              </a:defRPr>
            </a:pPr>
            <a:r>
              <a:t>Bridge는 무엇을 보나?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0016" y="4736592"/>
            <a:ext cx="26974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00" b="0">
                <a:solidFill>
                  <a:srgbClr val="5C667A"/>
                </a:solidFill>
                <a:latin typeface="Apple SD Gothic Neo"/>
              </a:defRPr>
            </a:pPr>
            <a:r>
              <a:t>허용 함수, storage 범위, public input 형식이 들어 있는 DApp metadata를 본다.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4224528"/>
            <a:ext cx="32918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9327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F59E0B"/>
                </a:solidFill>
                <a:latin typeface="Apple SD Gothic Neo"/>
              </a:defRPr>
            </a:pPr>
            <a:r>
              <a:t>Bridge는 무엇을 하지 않나?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7" y="4736592"/>
            <a:ext cx="26974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00" b="0">
                <a:solidFill>
                  <a:srgbClr val="5C667A"/>
                </a:solidFill>
                <a:latin typeface="Apple SD Gothic Neo"/>
              </a:defRPr>
            </a:pPr>
            <a:r>
              <a:t>배포된 DApp을 호출하거나 transaction을 L1에서 다시 실행하지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METADATA 신뢰 가정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compiler 산출물은 온체인 검증 대상이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metadata는 bridge admission의 언어이지만, bytecode에서 metadata가 올바르게 파생되었는지는 운영 절차와 리뷰의 책임이다.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2212848"/>
            <a:ext cx="4809744" cy="239572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299923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2926080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브릿지 운영자가 올바른 DApp metadata를 등록한다.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3832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5024" y="3310128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Solidity bytecode -&gt; zk-EVM compiler 산출물이 의도한 DApp 의미와 일치한다.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376732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5024" y="3694176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metadata review와 배포 artifact 관리가 channel 생성 전에 끝난다.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2212848"/>
            <a:ext cx="4809744" cy="239572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온체인이 검증하는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6821424" y="29992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2926080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등록된 metadata digest</a:t>
            </a:r>
          </a:p>
        </p:txBody>
      </p:sp>
      <p:sp>
        <p:nvSpPr>
          <p:cNvPr id="21" name="Oval 20"/>
          <p:cNvSpPr/>
          <p:nvPr/>
        </p:nvSpPr>
        <p:spPr>
          <a:xfrm>
            <a:off x="6821424" y="33467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6016" y="3273552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channel 생성 시 expected digest 일치</a:t>
            </a:r>
          </a:p>
        </p:txBody>
      </p:sp>
      <p:sp>
        <p:nvSpPr>
          <p:cNvPr id="23" name="Oval 22"/>
          <p:cNvSpPr/>
          <p:nvPr/>
        </p:nvSpPr>
        <p:spPr>
          <a:xfrm>
            <a:off x="6821424" y="36941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6016" y="3621024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function root, verifier snapshot, managed storage vector</a:t>
            </a:r>
          </a:p>
        </p:txBody>
      </p:sp>
      <p:sp>
        <p:nvSpPr>
          <p:cNvPr id="25" name="Oval 24"/>
          <p:cNvSpPr/>
          <p:nvPr/>
        </p:nvSpPr>
        <p:spPr>
          <a:xfrm>
            <a:off x="6821424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6016" y="3968496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proof/public input이 등록 vocabulary 안에 있는지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7552" y="5285232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5413248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10" b="1">
                <a:solidFill>
                  <a:srgbClr val="FFFFFF"/>
                </a:solidFill>
                <a:latin typeface="Apple SD Gothic Neo"/>
              </a:defRPr>
            </a:pPr>
            <a:r>
              <a:t>정리: proof 검증은 온체인에서 강제되지만, metadata가 올바른 bytecode에서 왔다는 사실은 등록 거버넌스와 artifact 검증에 의존한다.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2249424"/>
            <a:ext cx="1719072" cy="219456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2304288"/>
            <a:ext cx="1591056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40" b="1">
                <a:solidFill>
                  <a:srgbClr val="2563EB"/>
                </a:solidFill>
                <a:latin typeface="Apple SD Gothic Neo"/>
              </a:defRPr>
            </a:pPr>
            <a:r>
              <a:t>L1 block 안의 bridge tx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30752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tx batch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359152" y="4498848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779776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9504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6936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execute txs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R_k -&gt; R_k+1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proof pi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352544" y="4498848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773168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82896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0328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R_k+1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next txs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3712463" y="3163824"/>
            <a:ext cx="0" cy="877824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3383280"/>
            <a:ext cx="18470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L2 block proof + 공개 데이터가</a:t>
            </a:r>
          </a:p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bridge tx에 담긴다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2" name="Oval 41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9168" y="393192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20" b="1">
                <a:solidFill>
                  <a:srgbClr val="5C667A"/>
                </a:solidFill>
                <a:latin typeface="Apple SD Gothic Neo"/>
              </a:defRPr>
            </a:pPr>
            <a:r>
              <a:t>Channel policy field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59168" y="4142232"/>
            <a:ext cx="2514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354052"/>
                </a:solidFill>
                <a:latin typeface="Apple SD Gothic Neo"/>
              </a:defRPr>
            </a:pPr>
            <a:r>
              <a:t>Data availability 운영 방식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14032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68896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47888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2752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81744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serverless local users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VERIFIER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두 verifier는 같은 root vector를 다른 경로로 갱신한다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TokamakVerifier는 범용 실행 경로이고, Groth16Verifier는 channelTokenVault 전용 빠른 경로다.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48840"/>
            <a:ext cx="3090672" cy="166420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60704" y="286207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5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DApp별 함수 실행 proof</a:t>
            </a:r>
          </a:p>
        </p:txBody>
      </p:sp>
      <p:sp>
        <p:nvSpPr>
          <p:cNvPr id="13" name="Oval 12"/>
          <p:cNvSpPr/>
          <p:nvPr/>
        </p:nvSpPr>
        <p:spPr>
          <a:xfrm>
            <a:off x="1060704" y="3154679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5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vector 전체 갱신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" y="3447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5295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root도 포함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90288" y="2084831"/>
            <a:ext cx="2999232" cy="18105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2896" y="2340864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354052"/>
                </a:solidFill>
                <a:latin typeface="Apple SD Gothic Neo"/>
              </a:defRPr>
            </a:pPr>
            <a:r>
              <a:t>Channel root vector</a:t>
            </a:r>
          </a:p>
        </p:txBody>
      </p:sp>
      <p:sp>
        <p:nvSpPr>
          <p:cNvPr id="19" name="Oval 18"/>
          <p:cNvSpPr/>
          <p:nvPr/>
        </p:nvSpPr>
        <p:spPr>
          <a:xfrm>
            <a:off x="4901184" y="2816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743200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 storage roots</a:t>
            </a:r>
          </a:p>
        </p:txBody>
      </p:sp>
      <p:sp>
        <p:nvSpPr>
          <p:cNvPr id="21" name="Oval 20"/>
          <p:cNvSpPr/>
          <p:nvPr/>
        </p:nvSpPr>
        <p:spPr>
          <a:xfrm>
            <a:off x="4901184" y="31089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776" y="3035808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901184" y="34015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328416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기타 channel-local roots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2148840"/>
            <a:ext cx="3090672" cy="166420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7" name="Oval 26"/>
          <p:cNvSpPr/>
          <p:nvPr/>
        </p:nvSpPr>
        <p:spPr>
          <a:xfrm>
            <a:off x="8558784" y="286207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전용</a:t>
            </a:r>
          </a:p>
        </p:txBody>
      </p:sp>
      <p:sp>
        <p:nvSpPr>
          <p:cNvPr id="29" name="Oval 28"/>
          <p:cNvSpPr/>
          <p:nvPr/>
        </p:nvSpPr>
        <p:spPr>
          <a:xfrm>
            <a:off x="8558784" y="3154679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deposit / withdraw 공통 경로</a:t>
            </a:r>
          </a:p>
        </p:txBody>
      </p:sp>
      <p:sp>
        <p:nvSpPr>
          <p:cNvPr id="31" name="Oval 30"/>
          <p:cNvSpPr/>
          <p:nvPr/>
        </p:nvSpPr>
        <p:spPr>
          <a:xfrm>
            <a:off x="8558784" y="34472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빠른 proof 생성이 목적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77056" y="2999232"/>
            <a:ext cx="7132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589520" y="2999232"/>
            <a:ext cx="694944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5840" y="4553712"/>
            <a:ext cx="10113264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4782312"/>
            <a:ext cx="9564624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1B1F2A"/>
                </a:solidFill>
                <a:latin typeface="Apple SD Gothic Neo"/>
              </a:defRPr>
            </a:pPr>
            <a:r>
              <a:t>왜 나누는가? 범용 DApp 실행은 Tokamak 경로가 맡고, 모든 DApp이 공유하는 입출금 accounting은 Groth16 빠른 경로로 사용자 대기 시간을 줄인다.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범용 DApp 실행 proof를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DApp별 transition semantics는 registered metadata와 Tokamak public input이 함께 의미를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DApp-specific transition 제출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918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1868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channel-local state 변경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576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8444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private-state note 이동 같은 DApp 실행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입력으로 보는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285292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32918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321868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preprocess data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65760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58444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DApp public input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40233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95020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channel block context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47888" y="2139696"/>
            <a:ext cx="2999232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2395728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6D5BD0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29" name="Oval 28"/>
          <p:cNvSpPr/>
          <p:nvPr/>
        </p:nvSpPr>
        <p:spPr>
          <a:xfrm>
            <a:off x="8577072" y="292608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41664" y="285292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31" name="Oval 30"/>
          <p:cNvSpPr/>
          <p:nvPr/>
        </p:nvSpPr>
        <p:spPr>
          <a:xfrm>
            <a:off x="8577072" y="329184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41664" y="321868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root vector hash 갱신</a:t>
            </a:r>
          </a:p>
        </p:txBody>
      </p:sp>
      <p:sp>
        <p:nvSpPr>
          <p:cNvPr id="33" name="Oval 32"/>
          <p:cNvSpPr/>
          <p:nvPr/>
        </p:nvSpPr>
        <p:spPr>
          <a:xfrm>
            <a:off x="8577072" y="365760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1664" y="358444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상태 변경 observation 기록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핵심: TokamakVerifier는 channelTokenVault root를 포함한 root vector 전체 업데이트를 검증할 수 있는 범용 경로다.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channelTokenVault root 전용 빠른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입출금은 DApp별 함수 실행이 아니라 모든 DApp이 공유하는 channel accounting 문제다.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57984"/>
            <a:ext cx="305409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414016"/>
            <a:ext cx="24688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4436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71216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32841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255264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712463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639312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channelTokenVault balance 변경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43984" y="2157984"/>
            <a:ext cx="323697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16" y="2414016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고정 public signals</a:t>
            </a:r>
          </a:p>
        </p:txBody>
      </p:sp>
      <p:sp>
        <p:nvSpPr>
          <p:cNvPr id="19" name="Oval 18"/>
          <p:cNvSpPr/>
          <p:nvPr/>
        </p:nvSpPr>
        <p:spPr>
          <a:xfrm>
            <a:off x="4773168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287121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이전 vault root</a:t>
            </a:r>
          </a:p>
        </p:txBody>
      </p:sp>
      <p:sp>
        <p:nvSpPr>
          <p:cNvPr id="21" name="Oval 20"/>
          <p:cNvSpPr/>
          <p:nvPr/>
        </p:nvSpPr>
        <p:spPr>
          <a:xfrm>
            <a:off x="4773168" y="33101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59" y="323697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새 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773168" y="36758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59" y="360273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사용자 leaf key</a:t>
            </a:r>
          </a:p>
        </p:txBody>
      </p:sp>
      <p:sp>
        <p:nvSpPr>
          <p:cNvPr id="25" name="Oval 24"/>
          <p:cNvSpPr/>
          <p:nvPr/>
        </p:nvSpPr>
        <p:spPr>
          <a:xfrm>
            <a:off x="4773168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396849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balance before / after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2157984"/>
            <a:ext cx="2907792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0496" y="2414016"/>
            <a:ext cx="22402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29" name="Oval 28"/>
          <p:cNvSpPr/>
          <p:nvPr/>
        </p:nvSpPr>
        <p:spPr>
          <a:xfrm>
            <a:off x="8613648" y="29443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2871216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vault proof acceptance</a:t>
            </a:r>
          </a:p>
        </p:txBody>
      </p:sp>
      <p:sp>
        <p:nvSpPr>
          <p:cNvPr id="31" name="Oval 30"/>
          <p:cNvSpPr/>
          <p:nvPr/>
        </p:nvSpPr>
        <p:spPr>
          <a:xfrm>
            <a:off x="8613648" y="33284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3255264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교체</a:t>
            </a:r>
          </a:p>
        </p:txBody>
      </p:sp>
      <p:sp>
        <p:nvSpPr>
          <p:cNvPr id="33" name="Oval 32"/>
          <p:cNvSpPr/>
          <p:nvPr/>
        </p:nvSpPr>
        <p:spPr>
          <a:xfrm>
            <a:off x="8613648" y="3712463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3639312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root vector hash 재계산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핵심: Groth16Verifier는 범용 DApp semantics를 보지 않고, channelTokenVault accounting만 빠르게 증명한다.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VERIFIER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공통점은 root update, 차이점은 public surface다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두 verifier 모두 상태 갱신을 proof로 제한하지만, 공개 데이터의 종류와 책임 범위는 다르다.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831"/>
            <a:ext cx="5074920" cy="2944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1635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DApp function 의미를 포함한다.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18211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aPubUser / aPubBlock과 metadata를 함께 해석한다.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storage write와 event observation에 영향을 준다.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8678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91363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범위가 넓고 DApp마다 public input 의미가 달라진다.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2084831"/>
            <a:ext cx="5074920" cy="294436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1" name="Oval 20"/>
          <p:cNvSpPr/>
          <p:nvPr/>
        </p:nvSpPr>
        <p:spPr>
          <a:xfrm>
            <a:off x="6729984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281635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channelTokenVault leaf update만 본다.</a:t>
            </a:r>
          </a:p>
        </p:txBody>
      </p:sp>
      <p:sp>
        <p:nvSpPr>
          <p:cNvPr id="23" name="Oval 22"/>
          <p:cNvSpPr/>
          <p:nvPr/>
        </p:nvSpPr>
        <p:spPr>
          <a:xfrm>
            <a:off x="6729984" y="32552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4576" y="318211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고정된 5개 public signal을 사용한다.</a:t>
            </a:r>
          </a:p>
        </p:txBody>
      </p:sp>
      <p:sp>
        <p:nvSpPr>
          <p:cNvPr id="25" name="Oval 24"/>
          <p:cNvSpPr/>
          <p:nvPr/>
        </p:nvSpPr>
        <p:spPr>
          <a:xfrm>
            <a:off x="6729984" y="36210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354787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deposit / withdraw accounting에 영향을 준다.</a:t>
            </a:r>
          </a:p>
        </p:txBody>
      </p:sp>
      <p:sp>
        <p:nvSpPr>
          <p:cNvPr id="27" name="Oval 26"/>
          <p:cNvSpPr/>
          <p:nvPr/>
        </p:nvSpPr>
        <p:spPr>
          <a:xfrm>
            <a:off x="6729984" y="39867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391363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범위가 좁아 proof 생성과 사용자 흐름이 빠르다.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" y="5413248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554126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정리: Tokamak은 범용성과 표현력을, Groth16은 공통 입출금의 좁은 책임 범위와 빠른 UX를 담당한다.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