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06640" y="0"/>
            <a:ext cx="4791456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6720840" cy="6217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3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993392"/>
            <a:ext cx="6309360" cy="7498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Ethereum은 상태 전이를 검증해야 한다.</a:t>
            </a:r>
          </a:p>
          <a:p>
            <a:pPr>
              <a:defRPr sz="1800" b="0">
                <a:solidFill>
                  <a:srgbClr val="DEE7F6"/>
                </a:solidFill>
                <a:latin typeface="Apple SD Gothic Neo"/>
              </a:defRPr>
            </a:pPr>
            <a:r>
              <a:t>하지만 DApp transaction 원문을 보면 privacy는 깨진다.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27248"/>
            <a:ext cx="118872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Validity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66543" y="3127248"/>
            <a:ext cx="11887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93975" y="3191256"/>
            <a:ext cx="11338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Privacy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3127248"/>
            <a:ext cx="137160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3863" y="3191256"/>
            <a:ext cx="131673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Settlement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7" y="1005840"/>
            <a:ext cx="3218688" cy="713232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1243584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검증 가능해야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2487168"/>
            <a:ext cx="2816352" cy="713232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724912"/>
            <a:ext cx="248716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원문은 숨겨야 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82127" y="3968496"/>
            <a:ext cx="3218688" cy="713232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5008" y="4206240"/>
            <a:ext cx="2852928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자산은 정산되어야 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00032" y="1719072"/>
            <a:ext cx="0" cy="768096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00032" y="3200400"/>
            <a:ext cx="0" cy="768096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133087"/>
            <a:ext cx="6309360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이 발표는 세 조건을 동시에 만족시키기 위해 bridge가 무엇을 검증하고,</a:t>
            </a:r>
          </a:p>
          <a:p>
            <a:pPr>
              <a:defRPr sz="1500" b="0">
                <a:solidFill>
                  <a:srgbClr val="BECCE5"/>
                </a:solidFill>
                <a:latin typeface="Apple SD Gothic Neo"/>
              </a:defRPr>
            </a:pPr>
            <a:r>
              <a:t>무엇을 보지 않아야 하는지 정리한다.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04688"/>
            <a:ext cx="5943600" cy="6583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2026년 5월 27일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장재혁</a:t>
            </a:r>
          </a:p>
          <a:p>
            <a:pPr>
              <a:defRPr sz="1250" b="0">
                <a:solidFill>
                  <a:srgbClr val="AEBAD0"/>
                </a:solidFill>
                <a:latin typeface="Apple SD Gothic Neo"/>
              </a:defRPr>
            </a:pPr>
            <a:r>
              <a:t>Tokamak Network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검증과 프라이버시는 같은 표면을 요구한다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설계의 출발점은 하나의 상태 업데이트가 서로 다른 세 요구를 동시에 만족해야 한다는 점이다.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212848"/>
            <a:ext cx="45720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Ethereum이 필요한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상태 루트가 임의로 바뀌지 않았다는 증거와 canonical asset 정산 가능성.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212848"/>
            <a:ext cx="45720" cy="155448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DApp이 숨기고 싶은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사용자, 금액, 상대방, witness, 내부 상태 접근 패턴 같은 application semantics.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212848"/>
            <a:ext cx="3310128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212848"/>
            <a:ext cx="45720" cy="1554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7744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브릿지가 결정해야 하는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61488"/>
            <a:ext cx="2907792" cy="8961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어떤 proof와 public input을 받아들일지, 어떤 state write를 channel에 반영할지.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" y="4663440"/>
            <a:ext cx="10241280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28032"/>
            <a:ext cx="9692640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문제는 privacy 자체가 아니라, 원문 transaction 없이 상태 전이의 건실성을 받아들일 수 있는가이다.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대안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가장 단순한 방법들은 어디서 막히나?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쉬운 설계들은 validity, privacy, trust assumption 중 하나를 강하게 희생한다.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76272"/>
            <a:ext cx="45720" cy="1682496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replay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Ethereum이 DApp transaction semantics를 직접 실행하면 검증은 명확하지만 원문 활동이 공개된다.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76272"/>
            <a:ext cx="45720" cy="16824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Operator result posting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off-chain 실행 결과만 올리면 privacy 표면은 줄어들 수 있지만 사용자는 실행자를 더 많이 믿어야 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76272"/>
            <a:ext cx="3310128" cy="1682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76272"/>
            <a:ext cx="45720" cy="1682496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40864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Generic rollup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24912"/>
            <a:ext cx="2907792" cy="10241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확장성에는 자연스럽지만 DApp별 disclosure policy와 channel-local consent가 흐려질 수 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70832"/>
            <a:ext cx="20574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그래서 필요한 형태</a:t>
            </a:r>
          </a:p>
        </p:txBody>
      </p:sp>
      <p:sp>
        <p:nvSpPr>
          <p:cNvPr id="22" name="Oval 21"/>
          <p:cNvSpPr/>
          <p:nvPr/>
        </p:nvSpPr>
        <p:spPr>
          <a:xfrm>
            <a:off x="877824" y="48280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4754880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L1은 transaction을 replay하지 않는다.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" y="5212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5" y="5138928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브릿지는 proof가 주장하는 state transition의 의미만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877824" y="559612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5" y="5522976"/>
            <a:ext cx="98938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50" b="0">
                <a:solidFill>
                  <a:srgbClr val="1B1F2A"/>
                </a:solidFill>
                <a:latin typeface="Apple SD Gothic Neo"/>
              </a:defRPr>
            </a:pPr>
            <a:r>
              <a:t>사용자는 생성 시점에 고정된 DApp-specific channel policy에 참여한다.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핵심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무엇을 믿고, 무엇을 검증해야 하나?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질문을 분리해야 상태 건실성과 프라이버시 보장의 책임 범위가 명확해진다.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21408"/>
            <a:ext cx="45720" cy="16276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상태 업데이트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Ethereum은 원본 transaction 없이 channel root update를 받아들일 수 있는가?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21408"/>
            <a:ext cx="45720" cy="162763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검증 의미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proof가 어떤 DApp 함수, storage surface, public input layout을 뜻하는지 누가 정의하는가?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21408"/>
            <a:ext cx="3310128" cy="1627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21408"/>
            <a:ext cx="45720" cy="16276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670048"/>
            <a:ext cx="2907792" cy="96926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브릿지가 privacy를 보장하는가, 아니면 DApp proof system이 공개 경계를 프로그램하는가?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4590288"/>
            <a:ext cx="10058400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4828032"/>
            <a:ext cx="941832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이 발표의 답: 브릿지는 proof acceptance와 custody를 담당하고, DApp은 transition semantics와 disclosure boundary를 담당한다.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DApp Policy와 Channel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여러 DApp을 등록하고, 각 channel은 하나의 DApp을 선택한 뒤 자기 실행 조건을 고정한다.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28800"/>
            <a:ext cx="23774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Registered DApps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28800"/>
            <a:ext cx="146304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354052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28431" y="1828800"/>
            <a:ext cx="20116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Channels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1579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402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6151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6974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Payment DApp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072384"/>
            <a:ext cx="2606040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54679"/>
            <a:ext cx="2194560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Auction DApp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3675887"/>
            <a:ext cx="4005072" cy="133502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22191"/>
            <a:ext cx="16459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563EB"/>
                </a:solidFill>
                <a:latin typeface="Apple SD Gothic Neo"/>
              </a:defRPr>
            </a:pPr>
            <a:r>
              <a:t>DApp policy 예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096512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DApp 실행 종류</a:t>
            </a:r>
          </a:p>
        </p:txBody>
      </p:sp>
      <p:sp>
        <p:nvSpPr>
          <p:cNvPr id="22" name="Oval 21"/>
          <p:cNvSpPr/>
          <p:nvPr/>
        </p:nvSpPr>
        <p:spPr>
          <a:xfrm>
            <a:off x="950976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315968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받을 proof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" y="46085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4535424"/>
            <a:ext cx="155448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볼 public input</a:t>
            </a:r>
          </a:p>
        </p:txBody>
      </p:sp>
      <p:sp>
        <p:nvSpPr>
          <p:cNvPr id="26" name="Oval 25"/>
          <p:cNvSpPr/>
          <p:nvPr/>
        </p:nvSpPr>
        <p:spPr>
          <a:xfrm>
            <a:off x="2852928" y="41696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96512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허용 상태 변경</a:t>
            </a:r>
          </a:p>
        </p:txBody>
      </p:sp>
      <p:sp>
        <p:nvSpPr>
          <p:cNvPr id="28" name="Oval 27"/>
          <p:cNvSpPr/>
          <p:nvPr/>
        </p:nvSpPr>
        <p:spPr>
          <a:xfrm>
            <a:off x="2852928" y="4389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4315968"/>
            <a:ext cx="1463040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공개 / 비공개 범위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87952" y="2103120"/>
            <a:ext cx="2267712" cy="19385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2322576"/>
            <a:ext cx="1682496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0560" y="2761488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44568" y="2825496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3072384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3136391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proof 검증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80560" y="3383280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44568" y="3447288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asset 정산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0560" y="3694176"/>
            <a:ext cx="1682496" cy="2377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44568" y="3758183"/>
            <a:ext cx="1554480" cy="822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19" b="1">
                <a:solidFill>
                  <a:srgbClr val="5C667A"/>
                </a:solidFill>
                <a:latin typeface="Apple SD Gothic Neo"/>
              </a:defRPr>
            </a:pPr>
            <a:r>
              <a:t>channel 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944" y="21579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2402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A: Private-State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944" y="26151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26974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B: Private-State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944" y="3072384"/>
            <a:ext cx="3054096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54679"/>
            <a:ext cx="2487168" cy="1280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60" b="1">
                <a:solidFill>
                  <a:srgbClr val="1B1F2A"/>
                </a:solidFill>
                <a:latin typeface="Apple SD Gothic Neo"/>
              </a:defRPr>
            </a:pPr>
            <a:r>
              <a:t>Channel C: Payment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39712" y="3675887"/>
            <a:ext cx="3767328" cy="133502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40880" y="3822191"/>
            <a:ext cx="1755648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40" b="1">
                <a:solidFill>
                  <a:srgbClr val="21A67A"/>
                </a:solidFill>
                <a:latin typeface="Apple SD Gothic Neo"/>
              </a:defRPr>
            </a:pPr>
            <a:r>
              <a:t>Channel policy 예</a:t>
            </a:r>
          </a:p>
        </p:txBody>
      </p:sp>
      <p:sp>
        <p:nvSpPr>
          <p:cNvPr id="48" name="Oval 47"/>
          <p:cNvSpPr/>
          <p:nvPr/>
        </p:nvSpPr>
        <p:spPr>
          <a:xfrm>
            <a:off x="7077456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4096512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선택한 DApp</a:t>
            </a:r>
          </a:p>
        </p:txBody>
      </p:sp>
      <p:sp>
        <p:nvSpPr>
          <p:cNvPr id="50" name="Oval 49"/>
          <p:cNvSpPr/>
          <p:nvPr/>
        </p:nvSpPr>
        <p:spPr>
          <a:xfrm>
            <a:off x="7077456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42048" y="4315968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다루는 asset</a:t>
            </a:r>
          </a:p>
        </p:txBody>
      </p:sp>
      <p:sp>
        <p:nvSpPr>
          <p:cNvPr id="52" name="Oval 51"/>
          <p:cNvSpPr/>
          <p:nvPr/>
        </p:nvSpPr>
        <p:spPr>
          <a:xfrm>
            <a:off x="7077456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42048" y="4535424"/>
            <a:ext cx="138988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초기 상태</a:t>
            </a:r>
          </a:p>
        </p:txBody>
      </p:sp>
      <p:sp>
        <p:nvSpPr>
          <p:cNvPr id="54" name="Oval 53"/>
          <p:cNvSpPr/>
          <p:nvPr/>
        </p:nvSpPr>
        <p:spPr>
          <a:xfrm>
            <a:off x="8924544" y="41696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89136" y="4096512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DA 책임</a:t>
            </a:r>
          </a:p>
        </p:txBody>
      </p:sp>
      <p:sp>
        <p:nvSpPr>
          <p:cNvPr id="56" name="Oval 55"/>
          <p:cNvSpPr/>
          <p:nvPr/>
        </p:nvSpPr>
        <p:spPr>
          <a:xfrm>
            <a:off x="8924544" y="4389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89136" y="4315968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disclosure 권한</a:t>
            </a:r>
          </a:p>
        </p:txBody>
      </p:sp>
      <p:sp>
        <p:nvSpPr>
          <p:cNvPr id="58" name="Oval 57"/>
          <p:cNvSpPr/>
          <p:nvPr/>
        </p:nvSpPr>
        <p:spPr>
          <a:xfrm>
            <a:off x="8924544" y="460857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89136" y="4535424"/>
            <a:ext cx="1298448" cy="1920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1B1F2A"/>
                </a:solidFill>
                <a:latin typeface="Apple SD Gothic Neo"/>
              </a:defRPr>
            </a:pPr>
            <a:r>
              <a:t>참여 / 종료 조건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19272" y="2313432"/>
            <a:ext cx="868680" cy="7589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19272" y="2770632"/>
            <a:ext cx="868680" cy="30175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3319272" y="3072384"/>
            <a:ext cx="868680" cy="15544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6455664" y="2313432"/>
            <a:ext cx="1097280" cy="7589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6455664" y="2770632"/>
            <a:ext cx="1097280" cy="301752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6455664" y="3072384"/>
            <a:ext cx="1097280" cy="155448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960120" y="5358384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07008" y="5486400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DApp policy는 실행의 의미와 공개 데이터 범위를 정하고, Channel policy는 참여 조건과 운영 방법까지 고정한다.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Generic rollup과 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809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907792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DApp이 다룰 storage surface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41985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346704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허용할 function vocabulary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8587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785616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proof와 public input layout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42976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4224528"/>
            <a:ext cx="321868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관찰 가능한 write / event 범위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1" name="Oval 20"/>
          <p:cNvSpPr/>
          <p:nvPr/>
        </p:nvSpPr>
        <p:spPr>
          <a:xfrm>
            <a:off x="6739128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907792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등록된 DApp인가?</a:t>
            </a:r>
          </a:p>
        </p:txBody>
      </p:sp>
      <p:sp>
        <p:nvSpPr>
          <p:cNvPr id="23" name="Oval 22"/>
          <p:cNvSpPr/>
          <p:nvPr/>
        </p:nvSpPr>
        <p:spPr>
          <a:xfrm>
            <a:off x="6739128" y="34198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3346704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이 proof가 허용된 함수 의미인가?</a:t>
            </a:r>
          </a:p>
        </p:txBody>
      </p:sp>
      <p:sp>
        <p:nvSpPr>
          <p:cNvPr id="25" name="Oval 24"/>
          <p:cNvSpPr/>
          <p:nvPr/>
        </p:nvSpPr>
        <p:spPr>
          <a:xfrm>
            <a:off x="6739128" y="38587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3785616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public input layout이 맞는가?</a:t>
            </a:r>
          </a:p>
        </p:txBody>
      </p:sp>
      <p:sp>
        <p:nvSpPr>
          <p:cNvPr id="27" name="Oval 26"/>
          <p:cNvSpPr/>
          <p:nvPr/>
        </p:nvSpPr>
        <p:spPr>
          <a:xfrm>
            <a:off x="6739128" y="42976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4224528"/>
            <a:ext cx="3172968" cy="41147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0">
                <a:solidFill>
                  <a:srgbClr val="1B1F2A"/>
                </a:solidFill>
                <a:latin typeface="Apple SD Gothic Neo"/>
              </a:defRPr>
            </a:pPr>
            <a:r>
              <a:t>상태 변경이 허용 표면 안에 있는가?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파생물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Solidity DApp은 metadata로 브릿지에 들어온다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DApp deployment를 runtime call target으로 쓰지 않고, compiler가 만든 metadata vocabulary를 admission 기준으로 사용한다.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1645920" cy="6766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Solidity DApp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86000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62072" y="2514600"/>
            <a:ext cx="1645920" cy="676656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79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solidity compiler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07992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84064" y="2514600"/>
            <a:ext cx="1645920" cy="676656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8072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deployed bytecode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729984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06056" y="2514600"/>
            <a:ext cx="1645920" cy="676656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Tokamak zk-EVM</a:t>
            </a:r>
          </a:p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compiler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51976" y="2852928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28048" y="2514600"/>
            <a:ext cx="1645920" cy="676656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92056" y="2587752"/>
            <a:ext cx="1517904" cy="5303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20" b="1">
                <a:solidFill>
                  <a:srgbClr val="1B1F2A"/>
                </a:solidFill>
                <a:latin typeface="Apple SD Gothic Neo"/>
              </a:defRPr>
            </a:pPr>
            <a:r>
              <a:t>DApp metadata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Apple SD Gothic Neo"/>
              </a:defRPr>
            </a:pPr>
            <a:r>
              <a:t>Ethereum deployment의 역할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compiler 입력 bytecode를 만들고, 개발자가 Solidity 로직을 점검할 접근성을 제공한다.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43984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0016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Apple SD Gothic Neo"/>
              </a:defRPr>
            </a:pPr>
            <a:r>
              <a:t>Bridge가 직접 하지 않는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16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DApp deployment를 호출해 transaction을 replay하거나 Solidity runtime을 실행하지 않는다.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3296" y="4096512"/>
            <a:ext cx="329184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7" y="4297680"/>
            <a:ext cx="27432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21A67A"/>
                </a:solidFill>
                <a:latin typeface="Apple SD Gothic Neo"/>
              </a:defRPr>
            </a:pPr>
            <a:r>
              <a:t>Bridge가 실제로 쓰는 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617720"/>
            <a:ext cx="2697480" cy="42062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19" b="0">
                <a:solidFill>
                  <a:srgbClr val="5C667A"/>
                </a:solidFill>
                <a:latin typeface="Apple SD Gothic Neo"/>
              </a:defRPr>
            </a:pPr>
            <a:r>
              <a:t>function metadata, storage vector, preprocess hash, public input layout 같은 registration artifact다.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METADATA 신뢰 가정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compiler 산출물은 온체인 검증 대상이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metadata는 bridge admission의 언어이지만, bytecode에서 metadata가 올바르게 파생되었는지는 운영 절차와 리뷰의 책임이다.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2212848"/>
            <a:ext cx="4809744" cy="239572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2999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2926080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브릿지 운영자가 올바른 DApp metadata를 등록한다.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3832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5024" y="3310128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Solidity bytecode -&gt; zk-EVM compiler 산출물이 의도한 DApp 의미와 일치한다.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376732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35024" y="3694176"/>
            <a:ext cx="372160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metadata review와 배포 artifact 관리가 channel 생성 전에 끝난다.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55664" y="2212848"/>
            <a:ext cx="4809744" cy="239572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48272" y="2487168"/>
            <a:ext cx="32004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온체인이 검증하는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6821424" y="29992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86016" y="2926080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등록된 metadata digest</a:t>
            </a:r>
          </a:p>
        </p:txBody>
      </p:sp>
      <p:sp>
        <p:nvSpPr>
          <p:cNvPr id="21" name="Oval 20"/>
          <p:cNvSpPr/>
          <p:nvPr/>
        </p:nvSpPr>
        <p:spPr>
          <a:xfrm>
            <a:off x="6821424" y="33467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86016" y="3273552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channel 생성 시 expected digest 일치</a:t>
            </a:r>
          </a:p>
        </p:txBody>
      </p:sp>
      <p:sp>
        <p:nvSpPr>
          <p:cNvPr id="23" name="Oval 22"/>
          <p:cNvSpPr/>
          <p:nvPr/>
        </p:nvSpPr>
        <p:spPr>
          <a:xfrm>
            <a:off x="6821424" y="369417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86016" y="3621024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function root, verifier snapshot, managed storage vector</a:t>
            </a:r>
          </a:p>
        </p:txBody>
      </p:sp>
      <p:sp>
        <p:nvSpPr>
          <p:cNvPr id="25" name="Oval 24"/>
          <p:cNvSpPr/>
          <p:nvPr/>
        </p:nvSpPr>
        <p:spPr>
          <a:xfrm>
            <a:off x="6821424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3968496"/>
            <a:ext cx="36758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proof/public input이 등록 vocabulary 안에 있는지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7552" y="5285232"/>
            <a:ext cx="10222992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5413248"/>
            <a:ext cx="972921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10" b="1">
                <a:solidFill>
                  <a:srgbClr val="FFFFFF"/>
                </a:solidFill>
                <a:latin typeface="Apple SD Gothic Neo"/>
              </a:defRPr>
            </a:pPr>
            <a:r>
              <a:t>정리: proof 검증은 온체인에서 강제되지만, metadata가 올바른 bytecode에서 왔다는 사실은 등록 거버넌스와 artifact 검증에 의존한다.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실제 책임은 원문 transaction 실행이 아니라, 등록된 verifier와 metadata로 proof/public input을 검증하는 것이다.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67712"/>
            <a:ext cx="1133856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5C667A"/>
                </a:solidFill>
                <a:latin typeface="Apple SD Gothic Neo"/>
              </a:defRPr>
            </a:pPr>
            <a:r>
              <a:t>채널 내부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267712"/>
            <a:ext cx="123444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" y="274320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81635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72384" y="274320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36391" y="281635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1456" y="2706624"/>
            <a:ext cx="1371600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5464" y="2779776"/>
            <a:ext cx="124358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public input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65392" y="2651760"/>
            <a:ext cx="2212848" cy="82296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724912"/>
            <a:ext cx="2084831" cy="6766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274320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281635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615184" y="3063240"/>
            <a:ext cx="457200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352544" y="306324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63056" y="3063240"/>
            <a:ext cx="40233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78240" y="3063240"/>
            <a:ext cx="56692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90288" y="2359152"/>
            <a:ext cx="0" cy="1325880"/>
          </a:xfrm>
          <a:prstGeom prst="line">
            <a:avLst/>
          </a:prstGeom>
          <a:ln w="1778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160520" y="3703320"/>
            <a:ext cx="1170432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Apple SD Gothic Neo"/>
              </a:defRPr>
            </a:pPr>
            <a:r>
              <a:t>only proof crosses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206240"/>
            <a:ext cx="4059936" cy="804672"/>
          </a:xfrm>
          <a:prstGeom prst="roundRect">
            <a:avLst/>
          </a:prstGeom>
          <a:solidFill>
            <a:srgbClr val="FFF2F2"/>
          </a:solidFill>
          <a:ln w="12700">
            <a:solidFill>
              <a:srgbClr val="D9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5296" y="4370832"/>
            <a:ext cx="1353312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D94A4A"/>
                </a:solidFill>
                <a:latin typeface="Apple SD Gothic Neo"/>
              </a:defRPr>
            </a:pPr>
            <a:r>
              <a:t>사용하지 않는 경로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5296" y="4608576"/>
            <a:ext cx="3346704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50" b="1">
                <a:solidFill>
                  <a:srgbClr val="1B1F2A"/>
                </a:solidFill>
                <a:latin typeface="Apple SD Gothic Neo"/>
              </a:defRPr>
            </a:pPr>
            <a:r>
              <a:t>L1 replay / transaction semantics 직접 실행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87552" y="4343400"/>
            <a:ext cx="146304" cy="338328"/>
          </a:xfrm>
          <a:prstGeom prst="line">
            <a:avLst/>
          </a:prstGeom>
          <a:ln w="25400">
            <a:solidFill>
              <a:srgbClr val="D9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76672" y="4114800"/>
            <a:ext cx="5248656" cy="9601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0" y="4297680"/>
            <a:ext cx="9144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1">
                <a:solidFill>
                  <a:srgbClr val="21A67A"/>
                </a:solidFill>
                <a:latin typeface="Apple SD Gothic Neo"/>
              </a:defRPr>
            </a:pPr>
            <a:r>
              <a:t>실제 경로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4553712"/>
            <a:ext cx="4443984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L1은 proof, public input, registered metadata만 확인한다.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0" y="4773168"/>
            <a:ext cx="4590288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50" b="0">
                <a:solidFill>
                  <a:srgbClr val="5C667A"/>
                </a:solidFill>
                <a:latin typeface="Apple SD Gothic Neo"/>
              </a:defRPr>
            </a:pPr>
            <a:r>
              <a:t>원본 transaction과 witness는 브릿지/Ethereum에서 실행되거나 해석되지 않는다.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992" y="5413248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16736" y="5532120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ple SD Gothic Neo"/>
              </a:defRPr>
            </a:pPr>
            <a:r>
              <a:t>따라서 이 시스템의 bridge model은 proof verification model 하나다.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 큰 그림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L1이 L2 실행 블록을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Channel L2는 DApp transaction을 실행하고, Ethereum L1은 proof로 bridge/channel state를 업데이트한다.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066543"/>
            <a:ext cx="34747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Apple SD Gothic Neo"/>
              </a:defRPr>
            </a:pPr>
            <a:r>
              <a:t>Ethereum mainnet: verification 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state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S_B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59152" y="2798064"/>
            <a:ext cx="301751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bridge tx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verifies 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2544" y="2798064"/>
            <a:ext cx="30175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73168" y="2432304"/>
            <a:ext cx="1572768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542032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L1 block n+2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2761488"/>
            <a:ext cx="129844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updated bridge</a:t>
            </a:r>
          </a:p>
          <a:p>
            <a:pPr algn="ctr">
              <a:defRPr sz="960" b="1">
                <a:solidFill>
                  <a:srgbClr val="5C667A"/>
                </a:solidFill>
                <a:latin typeface="Apple SD Gothic Neo"/>
              </a:defRPr>
            </a:pPr>
            <a:r>
              <a:t>state S_B'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97480" y="2249424"/>
            <a:ext cx="1719072" cy="219456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61488" y="2304288"/>
            <a:ext cx="1591056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40" b="1">
                <a:solidFill>
                  <a:srgbClr val="2563EB"/>
                </a:solidFill>
                <a:latin typeface="Apple SD Gothic Neo"/>
              </a:defRPr>
            </a:pPr>
            <a:r>
              <a:t>L1 block 안의 bridge tx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730752"/>
            <a:ext cx="301752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21A67A"/>
                </a:solidFill>
                <a:latin typeface="Apple SD Gothic Neo"/>
              </a:defRPr>
            </a:pPr>
            <a:r>
              <a:t>Channel L2: execution layer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tx batch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59152" y="4498848"/>
            <a:ext cx="301751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779776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16936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execute txs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R_k -&gt; R_k+1</a:t>
            </a:r>
          </a:p>
          <a:p>
            <a:pPr algn="ctr">
              <a:defRPr sz="860" b="1">
                <a:solidFill>
                  <a:srgbClr val="5C667A"/>
                </a:solidFill>
                <a:latin typeface="Apple SD Gothic Neo"/>
              </a:defRPr>
            </a:pPr>
            <a:r>
              <a:t>proof pi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352544" y="4498848"/>
            <a:ext cx="301752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773168" y="4041648"/>
            <a:ext cx="1572768" cy="91440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82896" y="4151376"/>
            <a:ext cx="1353312" cy="14630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30" b="1">
                <a:solidFill>
                  <a:srgbClr val="1B1F2A"/>
                </a:solidFill>
                <a:latin typeface="Apple SD Gothic Neo"/>
              </a:defRPr>
            </a:pPr>
            <a:r>
              <a:t>L2 block k+2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0328" y="4370832"/>
            <a:ext cx="129844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state R_k+1</a:t>
            </a:r>
          </a:p>
          <a:p>
            <a:pPr algn="ctr">
              <a:defRPr sz="919" b="1">
                <a:solidFill>
                  <a:srgbClr val="5C667A"/>
                </a:solidFill>
                <a:latin typeface="Apple SD Gothic Neo"/>
              </a:defRPr>
            </a:pPr>
            <a:r>
              <a:t>+ next txs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3712463" y="3163824"/>
            <a:ext cx="0" cy="877824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986784" y="3255264"/>
            <a:ext cx="2103120" cy="47548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3383280"/>
            <a:ext cx="18470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L2 block proof + 공개 데이터가</a:t>
            </a:r>
          </a:p>
          <a:p>
            <a:pPr algn="ctr">
              <a:defRPr sz="960" b="1">
                <a:solidFill>
                  <a:srgbClr val="1B1F2A"/>
                </a:solidFill>
                <a:latin typeface="Apple SD Gothic Neo"/>
              </a:defRPr>
            </a:pPr>
            <a:r>
              <a:t>bridge tx에 담긴다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84848" y="230428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59168" y="2487168"/>
            <a:ext cx="201168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354052"/>
                </a:solidFill>
                <a:latin typeface="Apple SD Gothic Neo"/>
              </a:defRPr>
            </a:pPr>
            <a:r>
              <a:t>상태 전이 책임 분리</a:t>
            </a:r>
          </a:p>
        </p:txBody>
      </p:sp>
      <p:sp>
        <p:nvSpPr>
          <p:cNvPr id="40" name="Oval 39"/>
          <p:cNvSpPr/>
          <p:nvPr/>
        </p:nvSpPr>
        <p:spPr>
          <a:xfrm>
            <a:off x="7114032" y="28529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78624" y="27797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L2: DApp transaction 실행</a:t>
            </a:r>
          </a:p>
        </p:txBody>
      </p:sp>
      <p:sp>
        <p:nvSpPr>
          <p:cNvPr id="42" name="Oval 41"/>
          <p:cNvSpPr/>
          <p:nvPr/>
        </p:nvSpPr>
        <p:spPr>
          <a:xfrm>
            <a:off x="7114032" y="30815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78624" y="3008376"/>
            <a:ext cx="3081527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80" b="0">
                <a:solidFill>
                  <a:srgbClr val="1B1F2A"/>
                </a:solidFill>
                <a:latin typeface="Apple SD Gothic Neo"/>
              </a:defRPr>
            </a:pPr>
            <a:r>
              <a:t>L1: ZKP 검증과 bridge state update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84848" y="3767328"/>
            <a:ext cx="406908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3931920"/>
            <a:ext cx="210312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20" b="1">
                <a:solidFill>
                  <a:srgbClr val="5C667A"/>
                </a:solidFill>
                <a:latin typeface="Apple SD Gothic Neo"/>
              </a:defRPr>
            </a:pPr>
            <a:r>
              <a:t>Channel policy field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59168" y="4142232"/>
            <a:ext cx="2514600" cy="1828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354052"/>
                </a:solidFill>
                <a:latin typeface="Apple SD Gothic Neo"/>
              </a:defRPr>
            </a:pPr>
            <a:r>
              <a:t>Data availability 운영 방식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14032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68896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47888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02752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 + blob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81744" y="4462272"/>
            <a:ext cx="950976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4517136"/>
            <a:ext cx="841248" cy="7315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760" b="1">
                <a:solidFill>
                  <a:srgbClr val="354052"/>
                </a:solidFill>
                <a:latin typeface="Apple SD Gothic Neo"/>
              </a:defRPr>
            </a:pPr>
            <a:r>
              <a:t>serverless local users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8992" y="5376672"/>
            <a:ext cx="10040112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316736" y="549554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L2는 실행을 만들고, L1은 그 실행의 proof를 검증해 channel state를 받아들인다.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두 verifier는 같은 root vector를 다른 경로로 갱신한다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TokamakVerifier는 범용 실행 경로이고, Groth16Verifier는 channelTokenVault 전용 빠른 경로다.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48840"/>
            <a:ext cx="3090672" cy="166420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60704" y="286207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5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DApp별 함수 실행 proof</a:t>
            </a:r>
          </a:p>
        </p:txBody>
      </p:sp>
      <p:sp>
        <p:nvSpPr>
          <p:cNvPr id="13" name="Oval 12"/>
          <p:cNvSpPr/>
          <p:nvPr/>
        </p:nvSpPr>
        <p:spPr>
          <a:xfrm>
            <a:off x="1060704" y="3154679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5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vector 전체 갱신 가능</a:t>
            </a:r>
          </a:p>
        </p:txBody>
      </p:sp>
      <p:sp>
        <p:nvSpPr>
          <p:cNvPr id="15" name="Oval 14"/>
          <p:cNvSpPr/>
          <p:nvPr/>
        </p:nvSpPr>
        <p:spPr>
          <a:xfrm>
            <a:off x="1060704" y="3447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5295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root도 포함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90288" y="2084831"/>
            <a:ext cx="2999232" cy="18105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340864"/>
            <a:ext cx="237744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354052"/>
                </a:solidFill>
                <a:latin typeface="Apple SD Gothic Neo"/>
              </a:defRPr>
            </a:pPr>
            <a:r>
              <a:t>Channel root vector</a:t>
            </a:r>
          </a:p>
        </p:txBody>
      </p:sp>
      <p:sp>
        <p:nvSpPr>
          <p:cNvPr id="19" name="Oval 18"/>
          <p:cNvSpPr/>
          <p:nvPr/>
        </p:nvSpPr>
        <p:spPr>
          <a:xfrm>
            <a:off x="4901184" y="2816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743200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DApp storage roots</a:t>
            </a:r>
          </a:p>
        </p:txBody>
      </p:sp>
      <p:sp>
        <p:nvSpPr>
          <p:cNvPr id="21" name="Oval 20"/>
          <p:cNvSpPr/>
          <p:nvPr/>
        </p:nvSpPr>
        <p:spPr>
          <a:xfrm>
            <a:off x="4901184" y="31089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65776" y="3035808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901184" y="34015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328416"/>
            <a:ext cx="207568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기타 channel-local roots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2148840"/>
            <a:ext cx="3090672" cy="166420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0496" y="2395728"/>
            <a:ext cx="256032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7" name="Oval 26"/>
          <p:cNvSpPr/>
          <p:nvPr/>
        </p:nvSpPr>
        <p:spPr>
          <a:xfrm>
            <a:off x="8558784" y="286207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788920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전용</a:t>
            </a:r>
          </a:p>
        </p:txBody>
      </p:sp>
      <p:sp>
        <p:nvSpPr>
          <p:cNvPr id="29" name="Oval 28"/>
          <p:cNvSpPr/>
          <p:nvPr/>
        </p:nvSpPr>
        <p:spPr>
          <a:xfrm>
            <a:off x="8558784" y="3154679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081527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deposit / withdraw 공통 경로</a:t>
            </a:r>
          </a:p>
        </p:txBody>
      </p:sp>
      <p:sp>
        <p:nvSpPr>
          <p:cNvPr id="31" name="Oval 30"/>
          <p:cNvSpPr/>
          <p:nvPr/>
        </p:nvSpPr>
        <p:spPr>
          <a:xfrm>
            <a:off x="8558784" y="34472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3374136"/>
            <a:ext cx="2258568" cy="26517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빠른 proof 생성이 목적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77056" y="2999232"/>
            <a:ext cx="7132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89520" y="2999232"/>
            <a:ext cx="694944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5840" y="4553712"/>
            <a:ext cx="10113264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21A6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0160" y="4782312"/>
            <a:ext cx="9564624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1B1F2A"/>
                </a:solidFill>
                <a:latin typeface="Apple SD Gothic Neo"/>
              </a:defRPr>
            </a:pPr>
            <a:r>
              <a:t>왜 나누는가? 범용 DApp 실행은 Tokamak 경로가 맡고, 모든 DApp이 공유하는 입출금 accounting은 Groth16 빠른 경로로 사용자 대기 시간을 줄인다.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범용 DApp 실행 proof를 검증한다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DApp별 transition semantics는 registered metadata와 Tokamak public input이 함께 의미를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DApp-specific transition 제출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918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channel-local state 변경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576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private-state note 이동 같은 DApp 실행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2139696"/>
            <a:ext cx="3154680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95728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입력으로 보는 것</a:t>
            </a:r>
          </a:p>
        </p:txBody>
      </p:sp>
      <p:sp>
        <p:nvSpPr>
          <p:cNvPr id="19" name="Oval 18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285292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32918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321868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preprocess data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65760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58444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DApp public input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40233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950208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 block context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47888" y="2139696"/>
            <a:ext cx="2999232" cy="2450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3920" y="2395728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6D5BD0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577072" y="292608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41664" y="285292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577072" y="329184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41664" y="321868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root vector hash 갱신</a:t>
            </a:r>
          </a:p>
        </p:txBody>
      </p:sp>
      <p:sp>
        <p:nvSpPr>
          <p:cNvPr id="33" name="Oval 32"/>
          <p:cNvSpPr/>
          <p:nvPr/>
        </p:nvSpPr>
        <p:spPr>
          <a:xfrm>
            <a:off x="8577072" y="3657600"/>
            <a:ext cx="73152" cy="73152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41664" y="3584448"/>
            <a:ext cx="20756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상태 변경 observation 기록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TokamakVerifier는 channelTokenVault root를 포함한 root vector 전체 업데이트를 검증할 수 있는 범용 경로다.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channelTokenVault root 전용 빠른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입출금은 DApp별 함수 실행이 아니라 모든 DApp이 공유하는 channel accounting 문제다.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57984"/>
            <a:ext cx="305409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414016"/>
            <a:ext cx="24688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언제 호출되는가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4436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71216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32841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255264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712463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639312"/>
            <a:ext cx="2167127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channelTokenVault balance 변경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2157984"/>
            <a:ext cx="3236976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414016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고정 public signals</a:t>
            </a:r>
          </a:p>
        </p:txBody>
      </p:sp>
      <p:sp>
        <p:nvSpPr>
          <p:cNvPr id="19" name="Oval 18"/>
          <p:cNvSpPr/>
          <p:nvPr/>
        </p:nvSpPr>
        <p:spPr>
          <a:xfrm>
            <a:off x="4773168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59" y="287121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이전 vault root</a:t>
            </a:r>
          </a:p>
        </p:txBody>
      </p:sp>
      <p:sp>
        <p:nvSpPr>
          <p:cNvPr id="21" name="Oval 20"/>
          <p:cNvSpPr/>
          <p:nvPr/>
        </p:nvSpPr>
        <p:spPr>
          <a:xfrm>
            <a:off x="4773168" y="33101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59" y="323697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새 vault root</a:t>
            </a:r>
          </a:p>
        </p:txBody>
      </p:sp>
      <p:sp>
        <p:nvSpPr>
          <p:cNvPr id="23" name="Oval 22"/>
          <p:cNvSpPr/>
          <p:nvPr/>
        </p:nvSpPr>
        <p:spPr>
          <a:xfrm>
            <a:off x="4773168" y="36758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37759" y="360273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사용자 leaf key</a:t>
            </a:r>
          </a:p>
        </p:txBody>
      </p:sp>
      <p:sp>
        <p:nvSpPr>
          <p:cNvPr id="25" name="Oval 24"/>
          <p:cNvSpPr/>
          <p:nvPr/>
        </p:nvSpPr>
        <p:spPr>
          <a:xfrm>
            <a:off x="4773168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59" y="3968496"/>
            <a:ext cx="230428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balance before / after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84464" y="2157984"/>
            <a:ext cx="2907792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0496" y="2414016"/>
            <a:ext cx="22402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출력과 영향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294436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78240" y="2871216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vault proof acceptance</a:t>
            </a:r>
          </a:p>
        </p:txBody>
      </p:sp>
      <p:sp>
        <p:nvSpPr>
          <p:cNvPr id="31" name="Oval 30"/>
          <p:cNvSpPr/>
          <p:nvPr/>
        </p:nvSpPr>
        <p:spPr>
          <a:xfrm>
            <a:off x="8613648" y="33284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55264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channelTokenVault root 교체</a:t>
            </a:r>
          </a:p>
        </p:txBody>
      </p:sp>
      <p:sp>
        <p:nvSpPr>
          <p:cNvPr id="33" name="Oval 32"/>
          <p:cNvSpPr/>
          <p:nvPr/>
        </p:nvSpPr>
        <p:spPr>
          <a:xfrm>
            <a:off x="8613648" y="3712463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3639312"/>
            <a:ext cx="198424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root vector hash 재계산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5212080"/>
            <a:ext cx="10113264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4440" y="5349240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핵심: Groth16Verifier는 범용 DApp semantics를 보지 않고, channelTokenVault accounting만 빠르게 증명한다.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VERIFIER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공통점은 root update, 차이점은 public surface다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두 verifier 모두 상태 갱신을 proof로 제한하지만, 공개 데이터의 종류와 책임 범위는 다르다.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084831"/>
            <a:ext cx="5074920" cy="2944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1635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DApp function 의미를 포함한다.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18211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aPubUser / aPubBlock과 metadata를 함께 해석한다.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storage write와 event observation에 영향을 준다.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8678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913632"/>
            <a:ext cx="404164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넓고 DApp마다 public input 의미가 달라진다.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82512" y="2084831"/>
            <a:ext cx="5074920" cy="2944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2359152"/>
            <a:ext cx="2514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1" name="Oval 20"/>
          <p:cNvSpPr/>
          <p:nvPr/>
        </p:nvSpPr>
        <p:spPr>
          <a:xfrm>
            <a:off x="6729984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281635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channelTokenVault leaf update만 본다.</a:t>
            </a:r>
          </a:p>
        </p:txBody>
      </p:sp>
      <p:sp>
        <p:nvSpPr>
          <p:cNvPr id="23" name="Oval 22"/>
          <p:cNvSpPr/>
          <p:nvPr/>
        </p:nvSpPr>
        <p:spPr>
          <a:xfrm>
            <a:off x="6729984" y="32552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4576" y="318211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고정된 5개 public signal을 사용한다.</a:t>
            </a:r>
          </a:p>
        </p:txBody>
      </p:sp>
      <p:sp>
        <p:nvSpPr>
          <p:cNvPr id="25" name="Oval 24"/>
          <p:cNvSpPr/>
          <p:nvPr/>
        </p:nvSpPr>
        <p:spPr>
          <a:xfrm>
            <a:off x="6729984" y="36210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94576" y="354787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deposit / withdraw accounting에 영향을 준다.</a:t>
            </a:r>
          </a:p>
        </p:txBody>
      </p:sp>
      <p:sp>
        <p:nvSpPr>
          <p:cNvPr id="27" name="Oval 26"/>
          <p:cNvSpPr/>
          <p:nvPr/>
        </p:nvSpPr>
        <p:spPr>
          <a:xfrm>
            <a:off x="6729984" y="39867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3913632"/>
            <a:ext cx="399592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범위가 좁아 proof 생성과 사용자 흐름이 빠르다.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05840" y="5413248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4440" y="554126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정리: Tokamak은 범용성과 표현력을, Groth16은 공통 입출금의 좁은 책임 범위와 빠른 UX를 담당한다.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27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