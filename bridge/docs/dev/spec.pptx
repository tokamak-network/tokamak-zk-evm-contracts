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notesMasters/notesMaster1.xml" ContentType="application/vnd.openxmlformats-officedocument.presentationml.notesMaster+xml"/>
  <Override PartName="/ppt/notesMasters/theme/theme2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Layouts/slideLayout2.xml" ContentType="application/vnd.openxmlformats-officedocument.presentationml.slideLayout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95ffa0e75ab445b1" /><Relationship Type="http://schemas.openxmlformats.org/officeDocument/2006/relationships/extended-properties" Target="/docProps/app.xml" Id="R4853588b60c64893" /><Relationship Type="http://schemas.openxmlformats.org/officeDocument/2006/relationships/officeDocument" Target="/ppt/presentation.xml" Id="Raa8fa30640bc4181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3f414ebf478f4f85"/>
  </p:sldMasterIdLst>
  <p:notesMasterIdLst>
    <p:notesMasterId xmlns:r="http://schemas.openxmlformats.org/officeDocument/2006/relationships" r:id="R715d07ddb1234548"/>
  </p:notesMasterIdLst>
  <p:sldIdLst>
    <p:sldId xmlns:r="http://schemas.openxmlformats.org/officeDocument/2006/relationships" id="256" r:id="R200302fe550b4a72"/>
    <p:sldId xmlns:r="http://schemas.openxmlformats.org/officeDocument/2006/relationships" id="257" r:id="R5682b2d16297441b"/>
    <p:sldId xmlns:r="http://schemas.openxmlformats.org/officeDocument/2006/relationships" id="258" r:id="Rbc9713ff66b145c0"/>
    <p:sldId xmlns:r="http://schemas.openxmlformats.org/officeDocument/2006/relationships" id="259" r:id="R1b9ac66a40284a59"/>
    <p:sldId xmlns:r="http://schemas.openxmlformats.org/officeDocument/2006/relationships" id="260" r:id="R35277bd1f5284567"/>
    <p:sldId xmlns:r="http://schemas.openxmlformats.org/officeDocument/2006/relationships" id="261" r:id="Ree551d2dcc0c4236"/>
    <p:sldId xmlns:r="http://schemas.openxmlformats.org/officeDocument/2006/relationships" id="262" r:id="R6c1368a6fb8240ab"/>
    <p:sldId xmlns:r="http://schemas.openxmlformats.org/officeDocument/2006/relationships" id="263" r:id="R5ae3b81529594c77"/>
    <p:sldId xmlns:r="http://schemas.openxmlformats.org/officeDocument/2006/relationships" id="264" r:id="R62b3e3881048495e"/>
    <p:sldId xmlns:r="http://schemas.openxmlformats.org/officeDocument/2006/relationships" id="265" r:id="R78011db32468413f"/>
    <p:sldId xmlns:r="http://schemas.openxmlformats.org/officeDocument/2006/relationships" id="266" r:id="Rc931c76e6b224967"/>
    <p:sldId xmlns:r="http://schemas.openxmlformats.org/officeDocument/2006/relationships" id="267" r:id="R739b11e330e640e7"/>
    <p:sldId xmlns:r="http://schemas.openxmlformats.org/officeDocument/2006/relationships" id="268" r:id="R6a3140b26227489a"/>
    <p:sldId xmlns:r="http://schemas.openxmlformats.org/officeDocument/2006/relationships" id="269" r:id="Rdb04eda630d147dc"/>
    <p:sldId xmlns:r="http://schemas.openxmlformats.org/officeDocument/2006/relationships" id="270" r:id="Ra295a937c3bd4ba1"/>
    <p:sldId xmlns:r="http://schemas.openxmlformats.org/officeDocument/2006/relationships" id="271" r:id="R48286be00d434bfa"/>
    <p:sldId xmlns:r="http://schemas.openxmlformats.org/officeDocument/2006/relationships" id="272" r:id="Rf5c5cdd502e5492f"/>
    <p:sldId xmlns:r="http://schemas.openxmlformats.org/officeDocument/2006/relationships" id="273" r:id="R73c075b5073443e1"/>
    <p:sldId xmlns:r="http://schemas.openxmlformats.org/officeDocument/2006/relationships" id="274" r:id="R0a110639f17245e4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normalViewPr>
    <p:restoredLeft sz="15611"/>
    <p:restoredTop sz="94658"/>
  </p:normalViewPr>
  <p:slideViewPr>
    <p:cSldViewPr snapToGrid="0">
      <p:cViewPr varScale="1">
        <p:scale>
          <a:sx xmlns:a="http://schemas.openxmlformats.org/drawingml/2006/main" n="120" d="100"/>
          <a:sy xmlns:a="http://schemas.openxmlformats.org/drawingml/2006/main" n="120" d="100"/>
        </p:scale>
        <p:origin x="800" y="184"/>
      </p:cViewPr>
      <p:guideLst/>
    </p:cSldViewPr>
  </p:slideViewPr>
  <p:notesTextViewPr>
    <p:cViewPr>
      <p:scale>
        <a:sx xmlns:a="http://schemas.openxmlformats.org/drawingml/2006/main" n="1" d="1"/>
        <a:sy xmlns:a="http://schemas.openxmlformats.org/drawingml/2006/main" n="1" d="1"/>
      </p:scale>
      <p:origin x="0" y="0"/>
    </p:cViewPr>
  </p:notesText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f414ebf478f4f85" /><Relationship Type="http://schemas.openxmlformats.org/officeDocument/2006/relationships/theme" Target="/ppt/theme/theme1.xml" Id="R10d2e02df738434e" /><Relationship Type="http://schemas.openxmlformats.org/officeDocument/2006/relationships/notesMaster" Target="/ppt/notesMasters/notesMaster1.xml" Id="R715d07ddb1234548" /><Relationship Type="http://schemas.openxmlformats.org/officeDocument/2006/relationships/presProps" Target="/ppt/presProps.xml" Id="R5a9912e484354f05" /><Relationship Type="http://schemas.openxmlformats.org/officeDocument/2006/relationships/viewProps" Target="/ppt/viewProps.xml" Id="Rf0feabbc344645db" /><Relationship Type="http://schemas.openxmlformats.org/officeDocument/2006/relationships/tableStyles" Target="/ppt/tableStyles.xml" Id="R8e6c76ba8c2d418a" /><Relationship Type="http://schemas.openxmlformats.org/officeDocument/2006/relationships/slide" Target="/ppt/slides/slide1.xml" Id="R200302fe550b4a72" /><Relationship Type="http://schemas.openxmlformats.org/officeDocument/2006/relationships/slide" Target="/ppt/slides/slide2.xml" Id="R5682b2d16297441b" /><Relationship Type="http://schemas.openxmlformats.org/officeDocument/2006/relationships/slide" Target="/ppt/slides/slide3.xml" Id="Rbc9713ff66b145c0" /><Relationship Type="http://schemas.openxmlformats.org/officeDocument/2006/relationships/slide" Target="/ppt/slides/slide4.xml" Id="R1b9ac66a40284a59" /><Relationship Type="http://schemas.openxmlformats.org/officeDocument/2006/relationships/slide" Target="/ppt/slides/slide5.xml" Id="R35277bd1f5284567" /><Relationship Type="http://schemas.openxmlformats.org/officeDocument/2006/relationships/slide" Target="/ppt/slides/slide6.xml" Id="Ree551d2dcc0c4236" /><Relationship Type="http://schemas.openxmlformats.org/officeDocument/2006/relationships/slide" Target="/ppt/slides/slide7.xml" Id="R6c1368a6fb8240ab" /><Relationship Type="http://schemas.openxmlformats.org/officeDocument/2006/relationships/slide" Target="/ppt/slides/slide8.xml" Id="R5ae3b81529594c77" /><Relationship Type="http://schemas.openxmlformats.org/officeDocument/2006/relationships/slide" Target="/ppt/slides/slide9.xml" Id="R62b3e3881048495e" /><Relationship Type="http://schemas.openxmlformats.org/officeDocument/2006/relationships/slide" Target="/ppt/slides/slide10.xml" Id="R78011db32468413f" /><Relationship Type="http://schemas.openxmlformats.org/officeDocument/2006/relationships/slide" Target="/ppt/slides/slide11.xml" Id="Rc931c76e6b224967" /><Relationship Type="http://schemas.openxmlformats.org/officeDocument/2006/relationships/slide" Target="/ppt/slides/slide12.xml" Id="R739b11e330e640e7" /><Relationship Type="http://schemas.openxmlformats.org/officeDocument/2006/relationships/slide" Target="/ppt/slides/slide13.xml" Id="R6a3140b26227489a" /><Relationship Type="http://schemas.openxmlformats.org/officeDocument/2006/relationships/slide" Target="/ppt/slides/slide14.xml" Id="Rdb04eda630d147dc" /><Relationship Type="http://schemas.openxmlformats.org/officeDocument/2006/relationships/slide" Target="/ppt/slides/slide15.xml" Id="Ra295a937c3bd4ba1" /><Relationship Type="http://schemas.openxmlformats.org/officeDocument/2006/relationships/slide" Target="/ppt/slides/slide16.xml" Id="R48286be00d434bfa" /><Relationship Type="http://schemas.openxmlformats.org/officeDocument/2006/relationships/slide" Target="/ppt/slides/slide17.xml" Id="Rf5c5cdd502e5492f" /><Relationship Type="http://schemas.openxmlformats.org/officeDocument/2006/relationships/slide" Target="/ppt/slides/slide18.xml" Id="R73c075b5073443e1" /><Relationship Type="http://schemas.openxmlformats.org/officeDocument/2006/relationships/slide" Target="/ppt/slides/slide19.xml" Id="R0a110639f17245e4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2.xml" Id="Rd68528019cc64bba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2.xml><?xml version="1.0" encoding="utf-8"?>
<a:theme xmlns:a="http://schemas.openxmlformats.org/drawingml/2006/main" name="Tokamak Private App Channels">
  <a:themeElements>
    <a:clrScheme name="Tokamak Private App Channels">
      <a:accent1>
        <a:srgbClr val="2563EB"/>
      </a:accent1>
      <a:accent2>
        <a:srgbClr val="00A6B2"/>
      </a:accent2>
      <a:accent3>
        <a:srgbClr val="21A67A"/>
      </a:accent3>
      <a:accent4>
        <a:srgbClr val="F59E0B"/>
      </a:accent4>
      <a:accent5>
        <a:srgbClr val="6D5BD0"/>
      </a:accent5>
      <a:accent6>
        <a:srgbClr val="D94A4A"/>
      </a:accent6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Tokamak Private App Channels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e1ad92eb6cba4c15" /><Relationship Type="http://schemas.openxmlformats.org/officeDocument/2006/relationships/notesMaster" Target="/ppt/notesMasters/notesMaster1.xml" Id="R1e1371b07a674870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1c5298ff5b194bb2" /><Relationship Type="http://schemas.openxmlformats.org/officeDocument/2006/relationships/notesMaster" Target="/ppt/notesMasters/notesMaster1.xml" Id="Rffb954104e214e2d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c4410fde17d849b2" /><Relationship Type="http://schemas.openxmlformats.org/officeDocument/2006/relationships/notesMaster" Target="/ppt/notesMasters/notesMaster1.xml" Id="Rc6edb2a7860d4419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c145d6e4cfc546d5" /><Relationship Type="http://schemas.openxmlformats.org/officeDocument/2006/relationships/notesMaster" Target="/ppt/notesMasters/notesMaster1.xml" Id="Rccb6beb667f24232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588b2b61f7e0483d" /><Relationship Type="http://schemas.openxmlformats.org/officeDocument/2006/relationships/notesMaster" Target="/ppt/notesMasters/notesMaster1.xml" Id="R274b8939d5af4358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627c4b1734a244c3" /><Relationship Type="http://schemas.openxmlformats.org/officeDocument/2006/relationships/notesMaster" Target="/ppt/notesMasters/notesMaster1.xml" Id="R8a2e9683a00940ca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d52c1c19791342e5" /><Relationship Type="http://schemas.openxmlformats.org/officeDocument/2006/relationships/notesMaster" Target="/ppt/notesMasters/notesMaster1.xml" Id="Rdd82478aad4c466f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7a1fd43a50b94379" /><Relationship Type="http://schemas.openxmlformats.org/officeDocument/2006/relationships/notesMaster" Target="/ppt/notesMasters/notesMaster1.xml" Id="R7f31495734d645c3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a7ac1a91d9d747ec" /><Relationship Type="http://schemas.openxmlformats.org/officeDocument/2006/relationships/notesMaster" Target="/ppt/notesMasters/notesMaster1.xml" Id="R865ac74ca3004f2a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c1d616caf67d481e" /><Relationship Type="http://schemas.openxmlformats.org/officeDocument/2006/relationships/notesMaster" Target="/ppt/notesMasters/notesMaster1.xml" Id="R439d8f48c7464490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12ef6d27bf1f4bba" /><Relationship Type="http://schemas.openxmlformats.org/officeDocument/2006/relationships/notesMaster" Target="/ppt/notesMasters/notesMaster1.xml" Id="R5f0df73114044771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4b8f27d495904c89" /><Relationship Type="http://schemas.openxmlformats.org/officeDocument/2006/relationships/notesMaster" Target="/ppt/notesMasters/notesMaster1.xml" Id="R56208d686eb94653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c0cd9a98bf894f38" /><Relationship Type="http://schemas.openxmlformats.org/officeDocument/2006/relationships/notesMaster" Target="/ppt/notesMasters/notesMaster1.xml" Id="R3a40799cb12d497c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92797c673fb94ea7" /><Relationship Type="http://schemas.openxmlformats.org/officeDocument/2006/relationships/notesMaster" Target="/ppt/notesMasters/notesMaster1.xml" Id="R641ea1f63ad448f9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fba5b789a8f040cc" /><Relationship Type="http://schemas.openxmlformats.org/officeDocument/2006/relationships/notesMaster" Target="/ppt/notesMasters/notesMaster1.xml" Id="R79676ac4ba964c87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f3aad13161694ecc" /><Relationship Type="http://schemas.openxmlformats.org/officeDocument/2006/relationships/notesMaster" Target="/ppt/notesMasters/notesMaster1.xml" Id="R14df05cd08a44f45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ca393c63cfe9467f" /><Relationship Type="http://schemas.openxmlformats.org/officeDocument/2006/relationships/notesMaster" Target="/ppt/notesMasters/notesMaster1.xml" Id="R04b41e413f4f4094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b93504ee80a64764" /><Relationship Type="http://schemas.openxmlformats.org/officeDocument/2006/relationships/notesMaster" Target="/ppt/notesMasters/notesMaster1.xml" Id="Rfc55d57430234be2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ac91f35d13f1490f" /><Relationship Type="http://schemas.openxmlformats.org/officeDocument/2006/relationships/notesMaster" Target="/ppt/notesMasters/notesMaster1.xml" Id="R294c0b6642264a21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Slide 1: Present the visible points and relate them to the repository documents: docs/whitepaper.md, bridge/docs/dev/spec.md, bridge/docs/dev/current-implementation.md, and docs/dapps/private-state.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Slide 2: Present the visible points and relate them to the repository documents: docs/whitepaper.md, bridge/docs/dev/spec.md, bridge/docs/dev/current-implementation.md, and docs/dapps/private-state.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Slide 3: Present the visible points and relate them to the repository documents: docs/whitepaper.md, bridge/docs/dev/spec.md, bridge/docs/dev/current-implementation.md, and docs/dapps/private-state.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Slide 4: Present the visible points and relate them to the repository documents: docs/whitepaper.md, bridge/docs/dev/spec.md, bridge/docs/dev/current-implementation.md, and docs/dapps/private-state.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Slide 5: Present the visible points and relate them to the repository documents: docs/whitepaper.md, bridge/docs/dev/spec.md, bridge/docs/dev/current-implementation.md, and docs/dapps/private-state.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Slide 6: Present the visible points and relate them to the repository documents: docs/whitepaper.md, bridge/docs/dev/spec.md, bridge/docs/dev/current-implementation.md, and docs/dapps/private-state.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Slide 7: Present the visible points and relate them to the repository documents: docs/whitepaper.md, bridge/docs/dev/spec.md, bridge/docs/dev/current-implementation.md, and docs/dapps/private-state.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Slide 8: Present the visible points and relate them to the repository documents: docs/whitepaper.md, bridge/docs/dev/spec.md, bridge/docs/dev/current-implementation.md, and docs/dapps/private-state.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Slide 9: Present the visible points and relate them to the repository documents: docs/whitepaper.md, bridge/docs/dev/spec.md, bridge/docs/dev/current-implementation.md, and docs/dapps/private-state.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Slide 10: Present the visible points and relate them to the repository documents: docs/whitepaper.md, bridge/docs/dev/spec.md, bridge/docs/dev/current-implementation.md, and docs/dapps/private-state.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Slide 11: Present the visible points and relate them to the repository documents: docs/whitepaper.md, bridge/docs/dev/spec.md, bridge/docs/dev/current-implementation.md, and docs/dapps/private-state.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Slide 12: Present the visible points and relate them to the repository documents: docs/whitepaper.md, bridge/docs/dev/spec.md, bridge/docs/dev/current-implementation.md, and docs/dapps/private-state.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Slide 13: Present the visible points and relate them to the repository documents: docs/whitepaper.md, bridge/docs/dev/spec.md, bridge/docs/dev/current-implementation.md, and docs/dapps/private-state.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Slide 14: Present the visible points and relate them to the repository documents: docs/whitepaper.md, bridge/docs/dev/spec.md, bridge/docs/dev/current-implementation.md, and docs/dapps/private-state.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Slide 15: Present the visible points and relate them to the repository documents: docs/whitepaper.md, bridge/docs/dev/spec.md, bridge/docs/dev/current-implementation.md, and docs/dapps/private-state.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Slide 16: Present the visible points and relate them to the repository documents: docs/whitepaper.md, bridge/docs/dev/spec.md, bridge/docs/dev/current-implementation.md, and docs/dapps/private-state.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Slide 17: Present the visible points and relate them to the repository documents: docs/whitepaper.md, bridge/docs/dev/spec.md, bridge/docs/dev/current-implementation.md, and docs/dapps/private-state.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Slide 18: Present the visible points and relate them to the repository documents: docs/whitepaper.md, bridge/docs/dev/spec.md, bridge/docs/dev/current-implementation.md, and docs/dapps/private-state.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Slide 19: Present the visible points and relate them to the repository documents: docs/whitepaper.md, bridge/docs/dev/spec.md, bridge/docs/dev/current-implementation.md, and docs/dapps/private-state.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777dc00d960430b" /></Relationships>
</file>

<file path=ppt/slideLayouts/slideLayout2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Title 1">
            <a:extLst xmlns:a="http://schemas.openxmlformats.org/drawingml/2006/main">
              <a:ext uri="{FF2B5EF4-FFF2-40B4-BE49-F238E27FC236}">
                <a16:creationId xmlns:a16="http://schemas.microsoft.com/office/drawing/2014/main" id="{5A44F919-0DA3-4C7E-AFB8-B2C6476A1BD6}"/>
              </a:ext>
            </a:extLst>
          </p:cNvPr>
          <p:cNvSpPr/>
          <p:nvPr>
            <p:ph type="ctrTitle" idx="0"/>
          </p:nvPr>
        </p:nvSpPr>
        <p:spPr>
          <a:xfrm xmlns:a="http://schemas.openxmlformats.org/drawingml/2006/main">
            <a:off x="1524000" y="1122363"/>
            <a:ext cx="9144000" cy="2387600"/>
          </a:xfrm>
        </p:spPr>
        <p:txBody>
          <a:bodyPr xmlns:a="http://schemas.openxmlformats.org/drawingml/2006/main" anchor="b"/>
          <a:lstStyle xmlns:a="http://schemas.openxmlformats.org/drawingml/2006/main">
            <a:lvl1pPr algn="ctr">
              <a:buNone/>
              <a:defRPr sz="6000"/>
            </a:lvl1pPr>
          </a:lstStyle>
          <a:p xmlns:a="http://schemas.openxmlformats.org/drawingml/2006/main"/>
        </p:txBody>
      </p:sp>
      <p:sp>
        <p:nvSpPr>
          <p:cNvPr id="2" name="Subtitle 2">
            <a:extLst xmlns:a="http://schemas.openxmlformats.org/drawingml/2006/main">
              <a:ext uri="{FF2B5EF4-FFF2-40B4-BE49-F238E27FC236}">
                <a16:creationId xmlns:a16="http://schemas.microsoft.com/office/drawing/2014/main" id="{C1B176C2-7756-43FD-A16C-A63422F031B3}"/>
              </a:ext>
            </a:extLst>
          </p:cNvPr>
          <p:cNvSpPr/>
          <p:nvPr>
            <p:ph type="subTitle" idx="1"/>
          </p:nvPr>
        </p:nvSpPr>
        <p:spPr>
          <a:xfrm xmlns:a="http://schemas.openxmlformats.org/drawingml/2006/main">
            <a:off x="1524000" y="3602038"/>
            <a:ext cx="9144000" cy="1655762"/>
          </a:xfrm>
        </p:spPr>
        <p:txBody>
          <a:bodyPr xmlns:a="http://schemas.openxmlformats.org/drawingml/2006/main"/>
          <a:lstStyle xmlns:a="http://schemas.openxmlformats.org/drawingml/2006/main"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 xmlns:a="http://schemas.openxmlformats.org/drawingml/2006/main"/>
        </p:txBody>
      </p:sp>
      <p:sp>
        <p:nvSpPr>
          <p:cNvPr id="3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4D27C514-A63F-43DA-BE24-F9FF89CB75C9}"/>
              </a:ext>
            </a:extLst>
          </p:cNvPr>
          <p:cNvSpPr/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6BB22E9F-03BC-4DEB-A389-00C9A4D8A8A2}"/>
              </a:ext>
            </a:extLst>
          </p:cNvPr>
          <p:cNvSpPr/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70659316-B4BB-42AA-9EDF-4B27092320CB}"/>
              </a:ext>
            </a:extLst>
          </p:cNvPr>
          <p:cNvSpPr/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theme/theme1.xml" Id="Ra5d1cb96f1c443a3" /><Relationship Type="http://schemas.openxmlformats.org/officeDocument/2006/relationships/slideLayout" Target="/ppt/slideLayouts/slideLayout2.xml" Id="R7f2fba5138354ee2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FDF153FB-6104-4793-A817-7214F6D99D48}"/>
              </a:ext>
            </a:extLst>
          </p:cNvPr>
          <p:cNvSpPr/>
          <p:nvPr>
            <p:ph type="sldNum" idx="4"/>
          </p:nvPr>
        </p:nvSpPr>
        <p:spPr>
          <a:xfrm xmlns:a="http://schemas.openxmlformats.org/drawingml/2006/main">
            <a:off x="8610600" y="6356350"/>
            <a:ext cx="27432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r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7f2fba5138354ee2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b47b7ca43e1346ea" /><Relationship Type="http://schemas.openxmlformats.org/officeDocument/2006/relationships/notesSlide" Target="/ppt/notesSlides/notesSlide1.xml" Id="R495806cf7580434b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b7216f4421454642" /><Relationship Type="http://schemas.openxmlformats.org/officeDocument/2006/relationships/notesSlide" Target="/ppt/notesSlides/notesSlide2.xml" Id="R757fe306ef1240d0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eef9d7614b8149fd" /><Relationship Type="http://schemas.openxmlformats.org/officeDocument/2006/relationships/notesSlide" Target="/ppt/notesSlides/notesSlide3.xml" Id="R78ab7ec9300c4f7b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c3b9211261c74f07" /><Relationship Type="http://schemas.openxmlformats.org/officeDocument/2006/relationships/notesSlide" Target="/ppt/notesSlides/notesSlide4.xml" Id="R695ed4ee9f9143dd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59a26e7f6087455a" /><Relationship Type="http://schemas.openxmlformats.org/officeDocument/2006/relationships/notesSlide" Target="/ppt/notesSlides/notesSlide5.xml" Id="R2b60cadac078410f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4fd56f6c18e444f7" /><Relationship Type="http://schemas.openxmlformats.org/officeDocument/2006/relationships/notesSlide" Target="/ppt/notesSlides/notesSlide6.xml" Id="R8bd76eac7b3a496b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ab6e6da8c3c14694" /><Relationship Type="http://schemas.openxmlformats.org/officeDocument/2006/relationships/notesSlide" Target="/ppt/notesSlides/notesSlide7.xml" Id="R3331f3684e2a4f06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e215df5184064c0b" /><Relationship Type="http://schemas.openxmlformats.org/officeDocument/2006/relationships/notesSlide" Target="/ppt/notesSlides/notesSlide8.xml" Id="Rc8b8880dbd574e2c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d1ea593673a44fb8" /><Relationship Type="http://schemas.openxmlformats.org/officeDocument/2006/relationships/notesSlide" Target="/ppt/notesSlides/notesSlide9.xml" Id="R92f07b8d87454e2b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39caf69791ba451d" /><Relationship Type="http://schemas.openxmlformats.org/officeDocument/2006/relationships/notesSlide" Target="/ppt/notesSlides/notesSlide10.xml" Id="R8d849adcb17b4758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80bdb57024e64f14" /><Relationship Type="http://schemas.openxmlformats.org/officeDocument/2006/relationships/notesSlide" Target="/ppt/notesSlides/notesSlide11.xml" Id="R854efa2f9fff40b1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6d1b34f303d84de7" /><Relationship Type="http://schemas.openxmlformats.org/officeDocument/2006/relationships/notesSlide" Target="/ppt/notesSlides/notesSlide12.xml" Id="R059c3e1ea80a44b3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ea5d7670e9404245" /><Relationship Type="http://schemas.openxmlformats.org/officeDocument/2006/relationships/notesSlide" Target="/ppt/notesSlides/notesSlide13.xml" Id="R60c85827ba1d457e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64664d7871d14b83" /><Relationship Type="http://schemas.openxmlformats.org/officeDocument/2006/relationships/notesSlide" Target="/ppt/notesSlides/notesSlide14.xml" Id="R859c907014bf4120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e7ba373386214d4e" /><Relationship Type="http://schemas.openxmlformats.org/officeDocument/2006/relationships/notesSlide" Target="/ppt/notesSlides/notesSlide15.xml" Id="R7aace53a14744547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ce0b686c55654acb" /><Relationship Type="http://schemas.openxmlformats.org/officeDocument/2006/relationships/notesSlide" Target="/ppt/notesSlides/notesSlide16.xml" Id="R0deeda7e229d4170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56a40f47fa2e4542" /><Relationship Type="http://schemas.openxmlformats.org/officeDocument/2006/relationships/notesSlide" Target="/ppt/notesSlides/notesSlide17.xml" Id="R417ff7d3503e463a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ce25093d934f41b2" /><Relationship Type="http://schemas.openxmlformats.org/officeDocument/2006/relationships/notesSlide" Target="/ppt/notesSlides/notesSlide18.xml" Id="Rd57d6d3761304ae7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1aca7518aa224e16" /><Relationship Type="http://schemas.openxmlformats.org/officeDocument/2006/relationships/notesSlide" Target="/ppt/notesSlides/notesSlide19.xml" Id="Raa94dea11e1b4143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70659316-B4BB-42AA-9EDF-4B27092320CB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1524000" y="1122363"/>
            <a:ext cx="9144000" cy="2387600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69A51EC-2871-4CB6-9B3C-9B17C0ABA5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828"/>
          </a:solidFill>
          <a:ln xmlns:a="http://schemas.openxmlformats.org/drawingml/2006/main">
            <a:solidFill>
              <a:srgbClr val="101828"/>
            </a:solidFill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CA02D13-783A-4172-AFB3-51D692CD3F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-762000"/>
            <a:ext cx="5334000" cy="8382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3A5F"/>
          </a:solidFill>
          <a:ln xmlns:a="http://schemas.openxmlformats.org/drawingml/2006/main">
            <a:solidFill>
              <a:srgbClr val="1F3A5F"/>
            </a:solidFill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0256D18-801F-4F59-9240-3E811D4FBE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762000"/>
            <a:ext cx="3143250" cy="8763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243B63"/>
          </a:solidFill>
          <a:ln xmlns:a="http://schemas.openxmlformats.org/drawingml/2006/main" w="9525">
            <a:solidFill>
              <a:srgbClr val="4F7ACC"/>
            </a:solidFill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61EDE21-B325-46E9-A2CA-5491CF432B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2238375"/>
            <a:ext cx="2476500" cy="8763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73F46"/>
          </a:solidFill>
          <a:ln xmlns:a="http://schemas.openxmlformats.org/drawingml/2006/main" w="9525">
            <a:solidFill>
              <a:srgbClr val="44C2C8"/>
            </a:solidFill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8320591-9722-4247-A170-8158A224FC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3714750"/>
            <a:ext cx="3333750" cy="8763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254637"/>
          </a:solidFill>
          <a:ln xmlns:a="http://schemas.openxmlformats.org/drawingml/2006/main" w="9525">
            <a:solidFill>
              <a:srgbClr val="40C58F"/>
            </a:solidFill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368C19E-E283-4EA6-88D3-3AE7D3709C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72600" y="1638300"/>
            <a:ext cx="114300" cy="600075"/>
          </a:xfrm>
          <a:prstGeom xmlns:a="http://schemas.openxmlformats.org/drawingml/2006/main" prst="downArrow">
            <a:avLst/>
          </a:prstGeom>
          <a:solidFill xmlns:a="http://schemas.openxmlformats.org/drawingml/2006/main">
            <a:srgbClr val="93C5FD"/>
          </a:solidFill>
          <a:ln xmlns:a="http://schemas.openxmlformats.org/drawingml/2006/main">
            <a:solidFill>
              <a:srgbClr val="93C5FD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985A839-D8B5-4094-9951-31D268089F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53600" y="3114675"/>
            <a:ext cx="114300" cy="600075"/>
          </a:xfrm>
          <a:prstGeom xmlns:a="http://schemas.openxmlformats.org/drawingml/2006/main" prst="downArrow">
            <a:avLst/>
          </a:prstGeom>
          <a:solidFill xmlns:a="http://schemas.openxmlformats.org/drawingml/2006/main">
            <a:srgbClr val="7DD3FC"/>
          </a:solidFill>
          <a:ln xmlns:a="http://schemas.openxmlformats.org/drawingml/2006/main">
            <a:solidFill>
              <a:srgbClr val="7DD3FC"/>
            </a:solidFill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BFD377C-5D5C-483B-A768-2B95261E0E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933450"/>
            <a:ext cx="68580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solidFill>
              <a:srgbClr val="D8DDE6"/>
            </a:solidFill>
          </a:ln>
        </p:spPr>
        <p:txBody>
          <a:bodyPr xmlns:a="http://schemas.openxmlformats.org/drawingml/2006/main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r>
              <a:rPr sz="3300" b="1">
                <a:solidFill>
                  <a:srgbClr val="FFFFFF"/>
                </a:solidFill>
              </a:rPr>
              <a:t>Tokamak Private App Channels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2B939C4-73ED-412E-A768-21356591C0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133600"/>
            <a:ext cx="59055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solidFill>
              <a:srgbClr val="D8DDE6"/>
            </a:solidFill>
          </a:ln>
        </p:spPr>
        <p:txBody>
          <a:bodyPr xmlns:a="http://schemas.openxmlformats.org/drawingml/2006/main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r>
              <a:rPr sz="1575">
                <a:solidFill>
                  <a:srgbClr val="CFD8E8"/>
                </a:solidFill>
              </a:rPr>
              <a:t>Bridge-coupled validity-proven DApp channels for Ethereum-settled confidential application state.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08DBC58-4E34-49B3-8ADF-18FC71B20C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19450"/>
            <a:ext cx="1714500" cy="28575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>
            <a:solidFill>
              <a:srgbClr val="2563EB"/>
            </a:solidFill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/>
            <a:r>
              <a:rPr sz="975" b="1">
                <a:solidFill>
                  <a:srgbClr val="FFFFFF"/>
                </a:solidFill>
              </a:rPr>
              <a:t>Ethereum settlement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5B87C48-7BE6-4174-A624-17D6C0A01B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3219450"/>
            <a:ext cx="1847850" cy="28575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21A67A"/>
          </a:solidFill>
          <a:ln xmlns:a="http://schemas.openxmlformats.org/drawingml/2006/main">
            <a:solidFill>
              <a:srgbClr val="21A67A"/>
            </a:solidFill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/>
            <a:r>
              <a:rPr sz="975" b="1">
                <a:solidFill>
                  <a:srgbClr val="FFFFFF"/>
                </a:solidFill>
              </a:rPr>
              <a:t>DApp policy snapshots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2D03480-E7B3-40A1-B7A2-A81D6CEF67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1050" y="3219450"/>
            <a:ext cx="1619250" cy="28575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00A6B2"/>
          </a:solidFill>
          <a:ln xmlns:a="http://schemas.openxmlformats.org/drawingml/2006/main">
            <a:solidFill>
              <a:srgbClr val="00A6B2"/>
            </a:solidFill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/>
            <a:r>
              <a:rPr sz="975" b="1">
                <a:solidFill>
                  <a:srgbClr val="FFFFFF"/>
                </a:solidFill>
              </a:rPr>
              <a:t>Proof-backed state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42120B9-91BF-4F4C-BA71-298FFCE882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734050"/>
            <a:ext cx="5905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solidFill>
              <a:srgbClr val="D8DDE6"/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r>
              <a:rPr sz="1200">
                <a:solidFill>
                  <a:srgbClr val="AEBAD0"/>
                </a:solidFill>
              </a:rPr>
              <a:t>Target audience: graduate researchers and protocol developers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5B7FEAE-7F3F-472F-973A-7DB3C46ED0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1066800"/>
            <a:ext cx="2476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solidFill>
              <a:srgbClr val="D8DDE6"/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/>
            <a:r>
              <a:rPr sz="1350" b="1">
                <a:solidFill>
                  <a:srgbClr val="FFFFFF"/>
                </a:solidFill>
              </a:rPr>
              <a:t>BridgeCore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60A631D-D813-4822-B381-68F98FC174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2543175"/>
            <a:ext cx="2000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solidFill>
              <a:srgbClr val="D8DDE6"/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/>
            <a:r>
              <a:rPr sz="1350" b="1">
                <a:solidFill>
                  <a:srgbClr val="FFFFFF"/>
                </a:solidFill>
              </a:rPr>
              <a:t>ChannelManager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CC9343D-F413-416F-8A64-63CF62A792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4019550"/>
            <a:ext cx="2571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solidFill>
              <a:srgbClr val="D8DDE6"/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/>
            <a:r>
              <a:rPr sz="1350" b="1">
                <a:solidFill>
                  <a:srgbClr val="FFFFFF"/>
                </a:solidFill>
              </a:rPr>
              <a:t>DApp State</a:t>
            </a:r>
          </a:p>
        </p:txBody>
      </p:sp>
    </p:spTree>
    <p:extLst>
      <p:ext uri="{BB962C8B-B14F-4D97-AF65-F5344CB8AC3E}">
        <p14:creationId xmlns:p14="http://schemas.microsoft.com/office/powerpoint/2010/main" val="531220795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70659316-B4BB-42AA-9EDF-4B27092320CB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1524000" y="1122363"/>
            <a:ext cx="9144000" cy="2387600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49AEDD8-F810-4DB6-8477-3D2C59D56F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8FA"/>
          </a:solidFill>
          <a:ln xmlns:a="http://schemas.openxmlformats.org/drawingml/2006/main">
            <a:solidFill>
              <a:srgbClr val="F7F8FA"/>
            </a:solidFill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9287009-FDFB-4D0A-B980-9D4284D1AB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524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>
            <a:solidFill>
              <a:srgbClr val="2563EB"/>
            </a:solidFill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C70C04F-05F4-4C93-8FC2-9C95DB2225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00050"/>
            <a:ext cx="5334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solidFill>
              <a:srgbClr val="D8DDE6"/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r>
              <a:rPr sz="900" b="1">
                <a:solidFill>
                  <a:srgbClr val="2563EB"/>
                </a:solidFill>
              </a:rPr>
              <a:t>BACKGROUND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76A218F-ABEA-4C2F-9A21-E351A99EB6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723900"/>
            <a:ext cx="72390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solidFill>
              <a:srgbClr val="D8DDE6"/>
            </a:solidFill>
          </a:ln>
        </p:spPr>
        <p:txBody>
          <a:bodyPr xmlns:a="http://schemas.openxmlformats.org/drawingml/2006/main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r>
              <a:rPr sz="2925" b="1">
                <a:solidFill>
                  <a:srgbClr val="101828"/>
                </a:solidFill>
              </a:rPr>
              <a:t>Why App-Specific Channels?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9671DE2-A980-4D7E-B300-6B94839452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466850"/>
            <a:ext cx="7429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solidFill>
              <a:srgbClr val="D8DDE6"/>
            </a:solidFill>
          </a:ln>
        </p:spPr>
        <p:txBody>
          <a:bodyPr xmlns:a="http://schemas.openxmlformats.org/drawingml/2006/main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r>
              <a:rPr sz="1350">
                <a:solidFill>
                  <a:srgbClr val="5C667A"/>
                </a:solidFill>
              </a:rPr>
              <a:t>The system narrows the execution domain so privacy, custody, and proof meaning are easier to reason about.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EDAEC3D-7F32-4DBF-844A-7F847F4D51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362700"/>
            <a:ext cx="111252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DE6"/>
          </a:solidFill>
          <a:ln xmlns:a="http://schemas.openxmlformats.org/drawingml/2006/main">
            <a:solidFill>
              <a:srgbClr val="D8DD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C112E25-AA66-4627-A2EA-5D33C68D73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77000"/>
            <a:ext cx="3048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solidFill>
              <a:srgbClr val="D8DDE6"/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r>
              <a:rPr sz="750">
                <a:solidFill>
                  <a:srgbClr val="5C667A"/>
                </a:solidFill>
              </a:rPr>
              <a:t>Tokamak Private App Channels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CCABE79-C742-4FE5-A98E-BBD645DFA6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53800" y="6477000"/>
            <a:ext cx="3048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solidFill>
              <a:srgbClr val="D8DDE6"/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r"/>
            <a:r>
              <a:rPr sz="750">
                <a:solidFill>
                  <a:srgbClr val="5C667A"/>
                </a:solidFill>
              </a:rPr>
              <a:t>02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01B6364-C0D8-4FAD-8A91-65636419D2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381250"/>
            <a:ext cx="3333750" cy="142875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DE6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BDEFD7D-7837-490A-B5DE-BBD36379AF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381250"/>
            <a:ext cx="47625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4A4A"/>
          </a:solidFill>
          <a:ln xmlns:a="http://schemas.openxmlformats.org/drawingml/2006/main">
            <a:solidFill>
              <a:srgbClr val="D94A4A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EE72AF0-7436-432B-B6E0-6F4C7C31F3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552700"/>
            <a:ext cx="29146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solidFill>
              <a:srgbClr val="D8DDE6"/>
            </a:solidFill>
          </a:ln>
        </p:spPr>
        <p:txBody>
          <a:bodyPr xmlns:a="http://schemas.openxmlformats.org/drawingml/2006/main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r>
              <a:rPr sz="1350" b="1">
                <a:solidFill>
                  <a:srgbClr val="1B1F2A"/>
                </a:solidFill>
              </a:rPr>
              <a:t>Custody ambiguity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3FCDBE5-0F97-4BEF-9A83-C950E28659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914650"/>
            <a:ext cx="29146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solidFill>
              <a:srgbClr val="D8DDE6"/>
            </a:solidFill>
          </a:ln>
        </p:spPr>
        <p:txBody>
          <a:bodyPr xmlns:a="http://schemas.openxmlformats.org/drawingml/2006/main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r>
              <a:rPr sz="1050">
                <a:solidFill>
                  <a:srgbClr val="5C667A"/>
                </a:solidFill>
              </a:rPr>
              <a:t>Private execution should not move the canonical asset into an opaque operator custody model.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45473AF-C33B-45F7-AF94-B6DF33487B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29125" y="2381250"/>
            <a:ext cx="3333750" cy="142875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DE6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DC451E4-0001-487A-9469-FDFE3E19A2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29125" y="2381250"/>
            <a:ext cx="47625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9E0B"/>
          </a:solidFill>
          <a:ln xmlns:a="http://schemas.openxmlformats.org/drawingml/2006/main">
            <a:solidFill>
              <a:srgbClr val="F59E0B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9F65D95-A474-405D-B14F-6B0F825C92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38675" y="2552700"/>
            <a:ext cx="29146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solidFill>
              <a:srgbClr val="D8DDE6"/>
            </a:solidFill>
          </a:ln>
        </p:spPr>
        <p:txBody>
          <a:bodyPr xmlns:a="http://schemas.openxmlformats.org/drawingml/2006/main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r>
              <a:rPr sz="1350" b="1">
                <a:solidFill>
                  <a:srgbClr val="1B1F2A"/>
                </a:solidFill>
              </a:rPr>
              <a:t>Proof interpretation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897DD10-6367-48DA-8A84-1C6A649A66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38675" y="2914650"/>
            <a:ext cx="29146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solidFill>
              <a:srgbClr val="D8DDE6"/>
            </a:solidFill>
          </a:ln>
        </p:spPr>
        <p:txBody>
          <a:bodyPr xmlns:a="http://schemas.openxmlformats.org/drawingml/2006/main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r>
              <a:rPr sz="1050">
                <a:solidFill>
                  <a:srgbClr val="5C667A"/>
                </a:solidFill>
              </a:rPr>
              <a:t>A proof is only meaningful when the bridge knows which function, storage surface, and public-input layout it describes.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E8A9AE1-1F88-4090-8599-9044E928FC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2381250"/>
            <a:ext cx="3333750" cy="142875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DE6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AAE4164-DEDA-42C3-9D34-24F880C3E0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2381250"/>
            <a:ext cx="47625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D5BD0"/>
          </a:solidFill>
          <a:ln xmlns:a="http://schemas.openxmlformats.org/drawingml/2006/main">
            <a:solidFill>
              <a:srgbClr val="6D5BD0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E012C78-DD04-4CD4-A522-1669954EF5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2552700"/>
            <a:ext cx="29146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solidFill>
              <a:srgbClr val="D8DDE6"/>
            </a:solidFill>
          </a:ln>
        </p:spPr>
        <p:txBody>
          <a:bodyPr xmlns:a="http://schemas.openxmlformats.org/drawingml/2006/main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r>
              <a:rPr sz="1350" b="1">
                <a:solidFill>
                  <a:srgbClr val="1B1F2A"/>
                </a:solidFill>
              </a:rPr>
              <a:t>Privacy overclaiming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E29994B-8064-40BE-9662-FDC7A2CB8D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2914650"/>
            <a:ext cx="29146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solidFill>
              <a:srgbClr val="D8DDE6"/>
            </a:solidFill>
          </a:ln>
        </p:spPr>
        <p:txBody>
          <a:bodyPr xmlns:a="http://schemas.openxmlformats.org/drawingml/2006/main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r>
              <a:rPr sz="1050">
                <a:solidFill>
                  <a:srgbClr val="5C667A"/>
                </a:solidFill>
              </a:rPr>
              <a:t>The bridge lowers the settlement disclosure surface, but semantic privacy must be programmed by each DApp.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D369B82-32BA-4ADB-BBA4-DEE6F7DC9D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305300"/>
            <a:ext cx="2286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solidFill>
              <a:srgbClr val="D8DDE6"/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r>
              <a:rPr sz="1350" b="1">
                <a:solidFill>
                  <a:srgbClr val="2563EB"/>
                </a:solidFill>
              </a:rPr>
              <a:t>Design response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F806B5C2-E0B6-4D15-AC88-2BB76787B6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800600"/>
            <a:ext cx="76200" cy="762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21A67A"/>
          </a:solidFill>
          <a:ln xmlns:a="http://schemas.openxmlformats.org/drawingml/2006/main">
            <a:solidFill>
              <a:srgbClr val="21A67A"/>
            </a:solidFill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E143D071-A2B9-4085-8B0A-4135CDE2AD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4724400"/>
            <a:ext cx="91249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solidFill>
              <a:srgbClr val="D8DDE6"/>
            </a:solidFill>
          </a:ln>
        </p:spPr>
        <p:txBody>
          <a:bodyPr xmlns:a="http://schemas.openxmlformats.org/drawingml/2006/main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r>
              <a:rPr sz="1350">
                <a:solidFill>
                  <a:srgbClr val="1B1F2A"/>
                </a:solidFill>
              </a:rPr>
              <a:t>Keep canonical custody and proof acceptance on Ethereum.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86C7E719-566E-47CD-8F52-993EBCC394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200650"/>
            <a:ext cx="76200" cy="762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21A67A"/>
          </a:solidFill>
          <a:ln xmlns:a="http://schemas.openxmlformats.org/drawingml/2006/main">
            <a:solidFill>
              <a:srgbClr val="21A67A"/>
            </a:solidFill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D5C3FD7F-D27C-4E84-84E3-BBA295D53D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5124450"/>
            <a:ext cx="91249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solidFill>
              <a:srgbClr val="D8DDE6"/>
            </a:solidFill>
          </a:ln>
        </p:spPr>
        <p:txBody>
          <a:bodyPr xmlns:a="http://schemas.openxmlformats.org/drawingml/2006/main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r>
              <a:rPr sz="1350">
                <a:solidFill>
                  <a:srgbClr val="1B1F2A"/>
                </a:solidFill>
              </a:rPr>
              <a:t>Admit execution through bridge-managed DApp metadata.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DED7DC92-B969-416D-A380-38D3D443D4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600700"/>
            <a:ext cx="76200" cy="762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21A67A"/>
          </a:solidFill>
          <a:ln xmlns:a="http://schemas.openxmlformats.org/drawingml/2006/main">
            <a:solidFill>
              <a:srgbClr val="21A67A"/>
            </a:solidFill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E4867EE7-FC1C-4080-9F0D-98E2B03BF0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5524500"/>
            <a:ext cx="91249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solidFill>
              <a:srgbClr val="D8DDE6"/>
            </a:solidFill>
          </a:ln>
        </p:spPr>
        <p:txBody>
          <a:bodyPr xmlns:a="http://schemas.openxmlformats.org/drawingml/2006/main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r>
              <a:rPr sz="1350">
                <a:solidFill>
                  <a:srgbClr val="1B1F2A"/>
                </a:solidFill>
              </a:rPr>
              <a:t>Snapshot the channel policy when users choose to join.</a:t>
            </a:r>
          </a:p>
        </p:txBody>
      </p:sp>
    </p:spTree>
    <p:extLst>
      <p:ext uri="{BB962C8B-B14F-4D97-AF65-F5344CB8AC3E}">
        <p14:creationId xmlns:p14="http://schemas.microsoft.com/office/powerpoint/2010/main" val="1618887840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70659316-B4BB-42AA-9EDF-4B27092320CB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1524000" y="1122363"/>
            <a:ext cx="9144000" cy="2387600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A6FFF54-F960-4E94-8541-37FC8366B4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8FA"/>
          </a:solidFill>
          <a:ln xmlns:a="http://schemas.openxmlformats.org/drawingml/2006/main">
            <a:solidFill>
              <a:srgbClr val="F7F8FA"/>
            </a:solidFill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48A8D02-066E-4303-BE38-EE82A799E9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524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>
            <a:solidFill>
              <a:srgbClr val="2563EB"/>
            </a:solidFill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45D9C1B-33F6-4465-A5CC-77848EFF80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00050"/>
            <a:ext cx="5334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solidFill>
              <a:srgbClr val="D8DDE6"/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r>
              <a:rPr sz="900" b="1">
                <a:solidFill>
                  <a:srgbClr val="2563EB"/>
                </a:solidFill>
              </a:rPr>
              <a:t>PURPOSE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E3B5A75-C763-49B6-B3EA-AAE41B8034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723900"/>
            <a:ext cx="72390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solidFill>
              <a:srgbClr val="D8DDE6"/>
            </a:solidFill>
          </a:ln>
        </p:spPr>
        <p:txBody>
          <a:bodyPr xmlns:a="http://schemas.openxmlformats.org/drawingml/2006/main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r>
              <a:rPr sz="2925" b="1">
                <a:solidFill>
                  <a:srgbClr val="101828"/>
                </a:solidFill>
              </a:rPr>
              <a:t>The Core Thesis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0C2F911-2D46-4E5E-8161-663A888870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466850"/>
            <a:ext cx="7429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solidFill>
              <a:srgbClr val="D8DDE6"/>
            </a:solidFill>
          </a:ln>
        </p:spPr>
        <p:txBody>
          <a:bodyPr xmlns:a="http://schemas.openxmlformats.org/drawingml/2006/main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r>
              <a:rPr sz="1350">
                <a:solidFill>
                  <a:srgbClr val="5C667A"/>
                </a:solidFill>
              </a:rPr>
              <a:t>Users join a specific channel policy, not a mutable generic rollup.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717FE5D-01EA-4B36-929B-09063A1A67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362700"/>
            <a:ext cx="111252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DE6"/>
          </a:solidFill>
          <a:ln xmlns:a="http://schemas.openxmlformats.org/drawingml/2006/main">
            <a:solidFill>
              <a:srgbClr val="D8DD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E8D5CB0-9D5B-4A37-84D7-E91119BB39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77000"/>
            <a:ext cx="3048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solidFill>
              <a:srgbClr val="D8DDE6"/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r>
              <a:rPr sz="750">
                <a:solidFill>
                  <a:srgbClr val="5C667A"/>
                </a:solidFill>
              </a:rPr>
              <a:t>Tokamak Private App Channels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4E064A7-7BA1-4CA4-AF36-624B91A8D3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53800" y="6477000"/>
            <a:ext cx="3048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solidFill>
              <a:srgbClr val="D8DDE6"/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r"/>
            <a:r>
              <a:rPr sz="750">
                <a:solidFill>
                  <a:srgbClr val="5C667A"/>
                </a:solidFill>
              </a:rPr>
              <a:t>03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870D203-A283-4D08-A3A6-CFCFDD34A9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333625"/>
            <a:ext cx="4838700" cy="257175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DE6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4801DCC-31E8-4DF7-B290-F382FF32C5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647950"/>
            <a:ext cx="4000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solidFill>
              <a:srgbClr val="D8DDE6"/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r>
              <a:rPr sz="1650" b="1">
                <a:solidFill>
                  <a:srgbClr val="D94A4A"/>
                </a:solidFill>
              </a:rPr>
              <a:t>Generic rollup mindset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D3DFE1F-5992-423F-BC1E-1BD5FB99F5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276600"/>
            <a:ext cx="76200" cy="762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D94A4A"/>
          </a:solidFill>
          <a:ln xmlns:a="http://schemas.openxmlformats.org/drawingml/2006/main">
            <a:solidFill>
              <a:srgbClr val="D94A4A"/>
            </a:solidFill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8C1474E-F25F-4E47-AB60-5CE26D3BC7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" y="3200400"/>
            <a:ext cx="34671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solidFill>
              <a:srgbClr val="D8DDE6"/>
            </a:solidFill>
          </a:ln>
        </p:spPr>
        <p:txBody>
          <a:bodyPr xmlns:a="http://schemas.openxmlformats.org/drawingml/2006/main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r>
              <a:rPr sz="1275">
                <a:solidFill>
                  <a:srgbClr val="1B1F2A"/>
                </a:solidFill>
              </a:rPr>
              <a:t>One global execution environment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0D803EE-E5CC-4E90-A01A-3BA8EA3DEC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733800"/>
            <a:ext cx="76200" cy="762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D94A4A"/>
          </a:solidFill>
          <a:ln xmlns:a="http://schemas.openxmlformats.org/drawingml/2006/main">
            <a:solidFill>
              <a:srgbClr val="D94A4A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42621A5-C4E9-4A49-A1E5-691D2DCD63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" y="3657600"/>
            <a:ext cx="34671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solidFill>
              <a:srgbClr val="D8DDE6"/>
            </a:solidFill>
          </a:ln>
        </p:spPr>
        <p:txBody>
          <a:bodyPr xmlns:a="http://schemas.openxmlformats.org/drawingml/2006/main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r>
              <a:rPr sz="1275">
                <a:solidFill>
                  <a:srgbClr val="1B1F2A"/>
                </a:solidFill>
              </a:rPr>
              <a:t>Application policy is often downstream of rollup policy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EC8CD65-B9C7-4FE9-8459-89A540DCF4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4191000"/>
            <a:ext cx="76200" cy="762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D94A4A"/>
          </a:solidFill>
          <a:ln xmlns:a="http://schemas.openxmlformats.org/drawingml/2006/main">
            <a:solidFill>
              <a:srgbClr val="D94A4A"/>
            </a:solidFill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7AE1E9E-3263-4AA4-9D6C-30D84B6D95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" y="4114800"/>
            <a:ext cx="34671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solidFill>
              <a:srgbClr val="D8DDE6"/>
            </a:solidFill>
          </a:ln>
        </p:spPr>
        <p:txBody>
          <a:bodyPr xmlns:a="http://schemas.openxmlformats.org/drawingml/2006/main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r>
              <a:rPr sz="1275">
                <a:solidFill>
                  <a:srgbClr val="1B1F2A"/>
                </a:solidFill>
              </a:rPr>
              <a:t>Privacy assumptions can become implicit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5BD25C5-CCCC-4936-914F-251E9D4AC3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2333625"/>
            <a:ext cx="4838700" cy="257175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DE6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6AC2CAB-646A-4870-B480-DB8B394A77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29450" y="2647950"/>
            <a:ext cx="4000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solidFill>
              <a:srgbClr val="D8DDE6"/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r>
              <a:rPr sz="1650" b="1">
                <a:solidFill>
                  <a:srgbClr val="21A67A"/>
                </a:solidFill>
              </a:rPr>
              <a:t>Private App Channel mindset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46163B8-2C9A-46C9-BC91-1E3ABF0052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0" y="3276600"/>
            <a:ext cx="76200" cy="762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21A67A"/>
          </a:solidFill>
          <a:ln xmlns:a="http://schemas.openxmlformats.org/drawingml/2006/main">
            <a:solidFill>
              <a:srgbClr val="21A67A"/>
            </a:solidFill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70577E4-D79F-4F0F-B12B-E156465E93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8050" y="3200400"/>
            <a:ext cx="35052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solidFill>
              <a:srgbClr val="D8DDE6"/>
            </a:solidFill>
          </a:ln>
        </p:spPr>
        <p:txBody>
          <a:bodyPr xmlns:a="http://schemas.openxmlformats.org/drawingml/2006/main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r>
              <a:rPr sz="1275">
                <a:solidFill>
                  <a:srgbClr val="1B1F2A"/>
                </a:solidFill>
              </a:rPr>
              <a:t>One registered DApp per channel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A2C1234-13A6-43E2-8C62-7A896FA671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0" y="3733800"/>
            <a:ext cx="76200" cy="762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21A67A"/>
          </a:solidFill>
          <a:ln xmlns:a="http://schemas.openxmlformats.org/drawingml/2006/main">
            <a:solidFill>
              <a:srgbClr val="21A67A"/>
            </a:solidFill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72D808CE-5CDA-4CB4-B734-204383FD27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8050" y="3657600"/>
            <a:ext cx="35052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solidFill>
              <a:srgbClr val="D8DDE6"/>
            </a:solidFill>
          </a:ln>
        </p:spPr>
        <p:txBody>
          <a:bodyPr xmlns:a="http://schemas.openxmlformats.org/drawingml/2006/main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r>
              <a:rPr sz="1275">
                <a:solidFill>
                  <a:srgbClr val="1B1F2A"/>
                </a:solidFill>
              </a:rPr>
              <a:t>Immutable policy snapshot at creation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D0A6D619-2DC6-4D91-9CEA-68B1446BEA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0" y="4191000"/>
            <a:ext cx="76200" cy="762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21A67A"/>
          </a:solidFill>
          <a:ln xmlns:a="http://schemas.openxmlformats.org/drawingml/2006/main">
            <a:solidFill>
              <a:srgbClr val="21A67A"/>
            </a:solidFill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99650662-F16A-4060-B8A2-9AFE4DA65F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8050" y="4114800"/>
            <a:ext cx="35052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solidFill>
              <a:srgbClr val="D8DDE6"/>
            </a:solidFill>
          </a:ln>
        </p:spPr>
        <p:txBody>
          <a:bodyPr xmlns:a="http://schemas.openxmlformats.org/drawingml/2006/main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r>
              <a:rPr sz="1275">
                <a:solidFill>
                  <a:srgbClr val="1B1F2A"/>
                </a:solidFill>
              </a:rPr>
              <a:t>DApp-programmed disclosure model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159C248F-E4DD-4280-B59D-C76C1DA868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53100" y="3543300"/>
            <a:ext cx="685800" cy="1143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>
            <a:solidFill>
              <a:srgbClr val="2563EB"/>
            </a:solidFill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3822F0BF-792D-4813-BF51-0999946D7F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95825" y="5095875"/>
            <a:ext cx="285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solidFill>
              <a:srgbClr val="D8DDE6"/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/>
            <a:r>
              <a:rPr sz="1200" b="1">
                <a:solidFill>
                  <a:srgbClr val="2563EB"/>
                </a:solidFill>
              </a:rPr>
              <a:t>policy choice becomes explicit</a:t>
            </a:r>
          </a:p>
        </p:txBody>
      </p:sp>
    </p:spTree>
    <p:extLst>
      <p:ext uri="{BB962C8B-B14F-4D97-AF65-F5344CB8AC3E}">
        <p14:creationId xmlns:p14="http://schemas.microsoft.com/office/powerpoint/2010/main" val="1365567836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70659316-B4BB-42AA-9EDF-4B27092320CB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1524000" y="1122363"/>
            <a:ext cx="9144000" cy="2387600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98720A9-2A7A-49B3-85E2-4BF0D1C5C6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8FA"/>
          </a:solidFill>
          <a:ln xmlns:a="http://schemas.openxmlformats.org/drawingml/2006/main">
            <a:solidFill>
              <a:srgbClr val="F7F8FA"/>
            </a:solidFill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4AEC43D-D016-4874-BEE2-4F6DEC6368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524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>
            <a:solidFill>
              <a:srgbClr val="2563EB"/>
            </a:solidFill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64CDDC8-E652-416C-9033-2A630E5CA6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00050"/>
            <a:ext cx="5334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solidFill>
              <a:srgbClr val="D8DDE6"/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r>
              <a:rPr sz="900" b="1">
                <a:solidFill>
                  <a:srgbClr val="2563EB"/>
                </a:solidFill>
              </a:rPr>
              <a:t>SYSTEM MODEL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784C90C-84F6-470A-B56B-07390B1988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723900"/>
            <a:ext cx="72390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solidFill>
              <a:srgbClr val="D8DDE6"/>
            </a:solidFill>
          </a:ln>
        </p:spPr>
        <p:txBody>
          <a:bodyPr xmlns:a="http://schemas.openxmlformats.org/drawingml/2006/main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r>
              <a:rPr sz="2925" b="1">
                <a:solidFill>
                  <a:srgbClr val="101828"/>
                </a:solidFill>
              </a:rPr>
              <a:t>Actors, Contracts, and State Domains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382194B-CDED-4D20-9E3A-EF3533CE5B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466850"/>
            <a:ext cx="7429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solidFill>
              <a:srgbClr val="D8DDE6"/>
            </a:solidFill>
          </a:ln>
        </p:spPr>
        <p:txBody>
          <a:bodyPr xmlns:a="http://schemas.openxmlformats.org/drawingml/2006/main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r>
              <a:rPr sz="1350">
                <a:solidFill>
                  <a:srgbClr val="5C667A"/>
                </a:solidFill>
              </a:rPr>
              <a:t>The bridge fabric is shared, while each channel is a DApp-scoped execution domain.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9ACB714-B504-4335-9373-CF7894029A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362700"/>
            <a:ext cx="111252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DE6"/>
          </a:solidFill>
          <a:ln xmlns:a="http://schemas.openxmlformats.org/drawingml/2006/main">
            <a:solidFill>
              <a:srgbClr val="D8DD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D3DA009-2F58-4BEF-8367-AE61F187E9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77000"/>
            <a:ext cx="3048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solidFill>
              <a:srgbClr val="D8DDE6"/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r>
              <a:rPr sz="750">
                <a:solidFill>
                  <a:srgbClr val="5C667A"/>
                </a:solidFill>
              </a:rPr>
              <a:t>Tokamak Private App Channels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BEB0CE2-75D3-46EC-A791-BF2D40D6EE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53800" y="6477000"/>
            <a:ext cx="3048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solidFill>
              <a:srgbClr val="D8DDE6"/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r"/>
            <a:r>
              <a:rPr sz="750">
                <a:solidFill>
                  <a:srgbClr val="5C667A"/>
                </a:solidFill>
              </a:rPr>
              <a:t>04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F4699F7-A8B9-4ADA-B547-169CF11A58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628900"/>
            <a:ext cx="1809750" cy="66675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9F1FF"/>
          </a:solidFill>
          <a:ln xmlns:a="http://schemas.openxmlformats.org/drawingml/2006/main" w="9525">
            <a:solidFill>
              <a:srgbClr val="D8DDE6"/>
            </a:solidFill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/>
            <a:r>
              <a:rPr sz="1125" b="1">
                <a:solidFill>
                  <a:srgbClr val="1B1F2A"/>
                </a:solidFill>
              </a:rPr>
              <a:t>User / CLI / Prover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540EA23-9956-415B-AF3F-DACB36CB38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57550" y="1809750"/>
            <a:ext cx="1676400" cy="6096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9F1FF"/>
          </a:solidFill>
          <a:ln xmlns:a="http://schemas.openxmlformats.org/drawingml/2006/main" w="9525">
            <a:solidFill>
              <a:srgbClr val="D8DDE6"/>
            </a:solidFill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/>
            <a:r>
              <a:rPr sz="1125" b="1">
                <a:solidFill>
                  <a:srgbClr val="1B1F2A"/>
                </a:solidFill>
              </a:rPr>
              <a:t>BridgeCore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85F632E-E161-4CA3-9D36-0DBE695CA5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57550" y="2990850"/>
            <a:ext cx="1676400" cy="6096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8F7F0"/>
          </a:solidFill>
          <a:ln xmlns:a="http://schemas.openxmlformats.org/drawingml/2006/main" w="9525">
            <a:solidFill>
              <a:srgbClr val="D8DDE6"/>
            </a:solidFill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/>
            <a:r>
              <a:rPr sz="1125" b="1">
                <a:solidFill>
                  <a:srgbClr val="1B1F2A"/>
                </a:solidFill>
              </a:rPr>
              <a:t>DAppManager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97E0122-3899-4737-8D70-623A57D7F1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57550" y="4171950"/>
            <a:ext cx="1676400" cy="6096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4DE"/>
          </a:solidFill>
          <a:ln xmlns:a="http://schemas.openxmlformats.org/drawingml/2006/main" w="9525">
            <a:solidFill>
              <a:srgbClr val="D8DDE6"/>
            </a:solidFill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/>
            <a:r>
              <a:rPr sz="1125" b="1">
                <a:solidFill>
                  <a:srgbClr val="1B1F2A"/>
                </a:solidFill>
              </a:rPr>
              <a:t>L1TokenVault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8485ED8-BF35-4EE8-8D89-C602B70509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29300" y="2628900"/>
            <a:ext cx="2000250" cy="66675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1EEFF"/>
          </a:solidFill>
          <a:ln xmlns:a="http://schemas.openxmlformats.org/drawingml/2006/main" w="9525">
            <a:solidFill>
              <a:srgbClr val="D8DDE6"/>
            </a:solidFill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/>
            <a:r>
              <a:rPr sz="1125" b="1">
                <a:solidFill>
                  <a:srgbClr val="1B1F2A"/>
                </a:solidFill>
              </a:rPr>
              <a:t>ChannelManager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3808DD9-95AF-4BBF-86C8-77EC690386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9650" y="1981200"/>
            <a:ext cx="1885950" cy="5715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8FBFF"/>
          </a:solidFill>
          <a:ln xmlns:a="http://schemas.openxmlformats.org/drawingml/2006/main" w="9525">
            <a:solidFill>
              <a:srgbClr val="D8DDE6"/>
            </a:solidFill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/>
            <a:r>
              <a:rPr sz="1125" b="1">
                <a:solidFill>
                  <a:srgbClr val="1B1F2A"/>
                </a:solidFill>
              </a:rPr>
              <a:t>TokamakVerifier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C2D2B6F-AB96-480E-9326-0B4BF62A52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9650" y="3371850"/>
            <a:ext cx="1885950" cy="5715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8E7"/>
          </a:solidFill>
          <a:ln xmlns:a="http://schemas.openxmlformats.org/drawingml/2006/main" w="9525">
            <a:solidFill>
              <a:srgbClr val="D8DDE6"/>
            </a:solidFill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/>
            <a:r>
              <a:rPr sz="1125" b="1">
                <a:solidFill>
                  <a:srgbClr val="1B1F2A"/>
                </a:solidFill>
              </a:rPr>
              <a:t>Groth16Verifier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AB26839-D97B-4DDF-B2A1-69F99F3016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9650" y="4762500"/>
            <a:ext cx="1885950" cy="5715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AF7EF"/>
          </a:solidFill>
          <a:ln xmlns:a="http://schemas.openxmlformats.org/drawingml/2006/main" w="9525">
            <a:solidFill>
              <a:srgbClr val="D8DDE6"/>
            </a:solidFill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/>
            <a:r>
              <a:rPr sz="1125" b="1">
                <a:solidFill>
                  <a:srgbClr val="1B1F2A"/>
                </a:solidFill>
              </a:rPr>
              <a:t>DApp storage vector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64B33AB-D44A-4B24-8F7E-F906D71AF5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19350" y="2114550"/>
            <a:ext cx="114300" cy="847725"/>
          </a:xfrm>
          <a:prstGeom xmlns:a="http://schemas.openxmlformats.org/drawingml/2006/main" prst="upArrow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>
            <a:solidFill>
              <a:srgbClr val="2563EB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73222EE-D752-49C1-BB08-4F0FC7F673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2905125"/>
            <a:ext cx="781050" cy="1143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>
            <a:solidFill>
              <a:srgbClr val="2563EB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EBEAE97-38FF-4CB5-80ED-CDD410A9B9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33950" y="2057400"/>
            <a:ext cx="895350" cy="1143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>
            <a:solidFill>
              <a:srgbClr val="2563EB"/>
            </a:solidFill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5B85892-3532-4E26-83B3-EC66519575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33950" y="3238500"/>
            <a:ext cx="895350" cy="1143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>
            <a:solidFill>
              <a:srgbClr val="2563EB"/>
            </a:solidFill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61344C6-010C-4554-B89A-C6A1C6D800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76800" y="3238500"/>
            <a:ext cx="114300" cy="1238250"/>
          </a:xfrm>
          <a:prstGeom xmlns:a="http://schemas.openxmlformats.org/drawingml/2006/main" prst="upArrow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>
            <a:solidFill>
              <a:srgbClr val="2563EB"/>
            </a:solidFill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E636D6BD-CA87-4DA3-BDC3-4E67AD20B4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29550" y="2800350"/>
            <a:ext cx="800100" cy="1143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>
            <a:solidFill>
              <a:srgbClr val="2563EB"/>
            </a:solidFill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20726A01-244F-4D29-B400-97F61B14FC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29550" y="3009900"/>
            <a:ext cx="800100" cy="1143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>
            <a:solidFill>
              <a:srgbClr val="2563EB"/>
            </a:solidFill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9830EAF6-1731-4348-818D-8E44F0AB66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0" y="3200400"/>
            <a:ext cx="114300" cy="1847850"/>
          </a:xfrm>
          <a:prstGeom xmlns:a="http://schemas.openxmlformats.org/drawingml/2006/main" prst="downArrow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>
            <a:solidFill>
              <a:srgbClr val="2563EB"/>
            </a:solidFill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AAF090BF-E30E-4249-8ABD-0F5ADC16A5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9900" y="1333500"/>
            <a:ext cx="247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solidFill>
              <a:srgbClr val="D8DDE6"/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/>
            <a:r>
              <a:rPr sz="1125" b="1">
                <a:solidFill>
                  <a:srgbClr val="5C667A"/>
                </a:solidFill>
              </a:rPr>
              <a:t>Shared L1 control plane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60DCB07E-0EF6-456E-870B-F0ED84F4FD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81650" y="2152650"/>
            <a:ext cx="25527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solidFill>
              <a:srgbClr val="D8DDE6"/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/>
            <a:r>
              <a:rPr sz="1125" b="1">
                <a:solidFill>
                  <a:srgbClr val="5C667A"/>
                </a:solidFill>
              </a:rPr>
              <a:t>Per-channel execution surface</a:t>
            </a:r>
          </a:p>
        </p:txBody>
      </p:sp>
    </p:spTree>
    <p:extLst>
      <p:ext uri="{BB962C8B-B14F-4D97-AF65-F5344CB8AC3E}">
        <p14:creationId xmlns:p14="http://schemas.microsoft.com/office/powerpoint/2010/main" val="57155428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70659316-B4BB-42AA-9EDF-4B27092320CB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1524000" y="1122363"/>
            <a:ext cx="9144000" cy="2387600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53D2591-4DB0-4D0D-809D-790425CAB3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8FA"/>
          </a:solidFill>
          <a:ln xmlns:a="http://schemas.openxmlformats.org/drawingml/2006/main">
            <a:solidFill>
              <a:srgbClr val="F7F8FA"/>
            </a:solidFill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66AED2E-D638-4115-9B5B-4D12DD6CEC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524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>
            <a:solidFill>
              <a:srgbClr val="2563EB"/>
            </a:solidFill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FC27DAD-E4BA-45A5-A8ED-FCDFDC1290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00050"/>
            <a:ext cx="5334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solidFill>
              <a:srgbClr val="D8DDE6"/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r>
              <a:rPr sz="900" b="1">
                <a:solidFill>
                  <a:srgbClr val="2563EB"/>
                </a:solidFill>
              </a:rPr>
              <a:t>RESEARCH DIFFERENTIATION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504EC7B-2A22-4A69-9F65-7D9F04AB7E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723900"/>
            <a:ext cx="72390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solidFill>
              <a:srgbClr val="D8DDE6"/>
            </a:solidFill>
          </a:ln>
        </p:spPr>
        <p:txBody>
          <a:bodyPr xmlns:a="http://schemas.openxmlformats.org/drawingml/2006/main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r>
              <a:rPr sz="2925" b="1">
                <a:solidFill>
                  <a:srgbClr val="101828"/>
                </a:solidFill>
              </a:rPr>
              <a:t>What Is Different?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8CA031F-DF5B-4D52-A0D9-A5DE3532BF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466850"/>
            <a:ext cx="7429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solidFill>
              <a:srgbClr val="D8DDE6"/>
            </a:solidFill>
          </a:ln>
        </p:spPr>
        <p:txBody>
          <a:bodyPr xmlns:a="http://schemas.openxmlformats.org/drawingml/2006/main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r>
              <a:rPr sz="1350">
                <a:solidFill>
                  <a:srgbClr val="5C667A"/>
                </a:solidFill>
              </a:rPr>
              <a:t>The bridge is DApp-aware at admission time and DApp-agnostic at settlement time.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280D98C-1464-4141-8625-065677DDF3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362700"/>
            <a:ext cx="111252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DE6"/>
          </a:solidFill>
          <a:ln xmlns:a="http://schemas.openxmlformats.org/drawingml/2006/main">
            <a:solidFill>
              <a:srgbClr val="D8DD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0D4F31B-68FA-4AA5-966D-0BDDD4D6ED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77000"/>
            <a:ext cx="3048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solidFill>
              <a:srgbClr val="D8DDE6"/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r>
              <a:rPr sz="750">
                <a:solidFill>
                  <a:srgbClr val="5C667A"/>
                </a:solidFill>
              </a:rPr>
              <a:t>Tokamak Private App Channels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3140200-5277-42B7-9177-4F4ED78682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53800" y="6477000"/>
            <a:ext cx="3048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solidFill>
              <a:srgbClr val="D8DDE6"/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r"/>
            <a:r>
              <a:rPr sz="750">
                <a:solidFill>
                  <a:srgbClr val="5C667A"/>
                </a:solidFill>
              </a:rPr>
              <a:t>05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043A20B-98D9-41E0-9E52-F15C3A002C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247900"/>
            <a:ext cx="3314700" cy="17526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DE6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8A80E08-1069-4F27-A197-224EA8CEAE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247900"/>
            <a:ext cx="47625" cy="1752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>
            <a:solidFill>
              <a:srgbClr val="2563EB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1C033CD-34ED-4252-93BC-268B445937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419350"/>
            <a:ext cx="28956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solidFill>
              <a:srgbClr val="D8DDE6"/>
            </a:solidFill>
          </a:ln>
        </p:spPr>
        <p:txBody>
          <a:bodyPr xmlns:a="http://schemas.openxmlformats.org/drawingml/2006/main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r>
              <a:rPr sz="1350" b="1">
                <a:solidFill>
                  <a:srgbClr val="1B1F2A"/>
                </a:solidFill>
              </a:rPr>
              <a:t>Metadata-driven admission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40E3B02-D39B-4B50-97D4-A5F101FACB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781300"/>
            <a:ext cx="2895600" cy="1085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solidFill>
              <a:srgbClr val="D8DDE6"/>
            </a:solidFill>
          </a:ln>
        </p:spPr>
        <p:txBody>
          <a:bodyPr xmlns:a="http://schemas.openxmlformats.org/drawingml/2006/main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r>
              <a:rPr sz="1050">
                <a:solidFill>
                  <a:srgbClr val="5C667A"/>
                </a:solidFill>
              </a:rPr>
              <a:t>Registered metadata defines the bridge vocabulary for function selectors, preprocess hashes, storage roots, and public-input offsets.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E043A82-2DFC-4101-A25D-BF95470013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2247900"/>
            <a:ext cx="3314700" cy="17526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DE6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2059ADC-9B72-4901-B9AF-DD8EAAE351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2247900"/>
            <a:ext cx="47625" cy="1752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1A67A"/>
          </a:solidFill>
          <a:ln xmlns:a="http://schemas.openxmlformats.org/drawingml/2006/main">
            <a:solidFill>
              <a:srgbClr val="21A67A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E0F0F37-46DD-41C5-87F6-C23E496E85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48200" y="2419350"/>
            <a:ext cx="28956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solidFill>
              <a:srgbClr val="D8DDE6"/>
            </a:solidFill>
          </a:ln>
        </p:spPr>
        <p:txBody>
          <a:bodyPr xmlns:a="http://schemas.openxmlformats.org/drawingml/2006/main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r>
              <a:rPr sz="1350" b="1">
                <a:solidFill>
                  <a:srgbClr val="1B1F2A"/>
                </a:solidFill>
              </a:rPr>
              <a:t>Immutable channel policy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5798C2A-205F-449E-826B-0E6931F650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48200" y="2781300"/>
            <a:ext cx="2895600" cy="1085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solidFill>
              <a:srgbClr val="D8DDE6"/>
            </a:solidFill>
          </a:ln>
        </p:spPr>
        <p:txBody>
          <a:bodyPr xmlns:a="http://schemas.openxmlformats.org/drawingml/2006/main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r>
              <a:rPr sz="1050">
                <a:solidFill>
                  <a:srgbClr val="5C667A"/>
                </a:solidFill>
              </a:rPr>
              <a:t>Existing channels keep the verifier snapshot, function root, managed storage vector, and refund policy they accepted at creation.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4365D48-AB29-4AA7-B317-5875F4B615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2247900"/>
            <a:ext cx="3314700" cy="17526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DE6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D76F32A-042C-44A5-A006-64C4C1FCA6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2247900"/>
            <a:ext cx="47625" cy="1752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9E0B"/>
          </a:solidFill>
          <a:ln xmlns:a="http://schemas.openxmlformats.org/drawingml/2006/main">
            <a:solidFill>
              <a:srgbClr val="F59E0B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D64628C-B057-416D-8151-4855E81341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2419350"/>
            <a:ext cx="28956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solidFill>
              <a:srgbClr val="D8DDE6"/>
            </a:solidFill>
          </a:ln>
        </p:spPr>
        <p:txBody>
          <a:bodyPr xmlns:a="http://schemas.openxmlformats.org/drawingml/2006/main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r>
              <a:rPr sz="1350" b="1">
                <a:solidFill>
                  <a:srgbClr val="1B1F2A"/>
                </a:solidFill>
              </a:rPr>
              <a:t>Split proof roles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9C8893D-95C9-423F-B52E-544C818A9C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2781300"/>
            <a:ext cx="2895600" cy="1085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solidFill>
              <a:srgbClr val="D8DDE6"/>
            </a:solidFill>
          </a:ln>
        </p:spPr>
        <p:txBody>
          <a:bodyPr xmlns:a="http://schemas.openxmlformats.org/drawingml/2006/main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r>
              <a:rPr sz="1050">
                <a:solidFill>
                  <a:srgbClr val="5C667A"/>
                </a:solidFill>
              </a:rPr>
              <a:t>Tokamak proofs cover general DApp execution; Groth16 updateTree proofs cover channel-token-vault accounting.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80B59AF-0B78-4A3F-889C-5FD074A79F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4629150"/>
            <a:ext cx="10210800" cy="6858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52238"/>
          </a:solidFill>
          <a:ln xmlns:a="http://schemas.openxmlformats.org/drawingml/2006/main">
            <a:solidFill>
              <a:srgbClr val="152238"/>
            </a:solidFill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2A0D093-AABF-4E86-A5F6-2C9416E8EA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4819650"/>
            <a:ext cx="96774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solidFill>
              <a:srgbClr val="D8DDE6"/>
            </a:solidFill>
          </a:ln>
        </p:spPr>
        <p:txBody>
          <a:bodyPr xmlns:a="http://schemas.openxmlformats.org/drawingml/2006/main" lIns="0" tIns="0" rIns="0" bIns="0">
            <a:normAutofit fontScale="79166"/>
          </a:bodyPr>
          <a:lstStyle xmlns:a="http://schemas.openxmlformats.org/drawingml/2006/main"/>
          <a:p xmlns:a="http://schemas.openxmlformats.org/drawingml/2006/main">
            <a:pPr algn="ctr"/>
            <a:r>
              <a:rPr sz="1350">
                <a:solidFill>
                  <a:srgbClr val="FFFFFF"/>
                </a:solidFill>
              </a:rPr>
              <a:t>Research lens: the system studies how far validity proofs, metadata admission, and channel-local policy can replace a monolithic rollup without giving up Ethereum settlement.</a:t>
            </a:r>
          </a:p>
        </p:txBody>
      </p:sp>
    </p:spTree>
    <p:extLst>
      <p:ext uri="{BB962C8B-B14F-4D97-AF65-F5344CB8AC3E}">
        <p14:creationId xmlns:p14="http://schemas.microsoft.com/office/powerpoint/2010/main" val="1141441067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70659316-B4BB-42AA-9EDF-4B27092320CB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1524000" y="1122363"/>
            <a:ext cx="9144000" cy="2387600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EA22CD5-C43F-40A0-87E7-AE055CD4E9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8FA"/>
          </a:solidFill>
          <a:ln xmlns:a="http://schemas.openxmlformats.org/drawingml/2006/main">
            <a:solidFill>
              <a:srgbClr val="F7F8FA"/>
            </a:solidFill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DAC5934-0E8D-40A0-B5D2-842C112ECD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524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>
            <a:solidFill>
              <a:srgbClr val="2563EB"/>
            </a:solidFill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F9808CA-7717-4FBB-8DE0-2B52A3270C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00050"/>
            <a:ext cx="5334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solidFill>
              <a:srgbClr val="D8DDE6"/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r>
              <a:rPr sz="900" b="1">
                <a:solidFill>
                  <a:srgbClr val="2563EB"/>
                </a:solidFill>
              </a:rPr>
              <a:t>CHANNEL POLICY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D325A1B-B0DD-436E-B3B8-7067CE01C1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723900"/>
            <a:ext cx="72390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solidFill>
              <a:srgbClr val="D8DDE6"/>
            </a:solidFill>
          </a:ln>
        </p:spPr>
        <p:txBody>
          <a:bodyPr xmlns:a="http://schemas.openxmlformats.org/drawingml/2006/main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r>
              <a:rPr sz="2925" b="1">
                <a:solidFill>
                  <a:srgbClr val="101828"/>
                </a:solidFill>
              </a:rPr>
              <a:t>What Is Fixed at Channel Creation?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5D5688F-A1AF-4E88-8571-524CCE36AA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466850"/>
            <a:ext cx="7429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solidFill>
              <a:srgbClr val="D8DDE6"/>
            </a:solidFill>
          </a:ln>
        </p:spPr>
        <p:txBody>
          <a:bodyPr xmlns:a="http://schemas.openxmlformats.org/drawingml/2006/main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r>
              <a:rPr sz="1350">
                <a:solidFill>
                  <a:srgbClr val="5C667A"/>
                </a:solidFill>
              </a:rPr>
              <a:t>A channel snapshots the execution grammar that users are about to accept.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8C8D458-8C89-4B47-B92E-20D6BF0F02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362700"/>
            <a:ext cx="111252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DE6"/>
          </a:solidFill>
          <a:ln xmlns:a="http://schemas.openxmlformats.org/drawingml/2006/main">
            <a:solidFill>
              <a:srgbClr val="D8DD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7BCA51F-2F4E-4CB6-9000-837C7E2594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77000"/>
            <a:ext cx="3048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solidFill>
              <a:srgbClr val="D8DDE6"/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r>
              <a:rPr sz="750">
                <a:solidFill>
                  <a:srgbClr val="5C667A"/>
                </a:solidFill>
              </a:rPr>
              <a:t>Tokamak Private App Channels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1846AFD-1930-46E1-B793-C2AA8A72BE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53800" y="6477000"/>
            <a:ext cx="3048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solidFill>
              <a:srgbClr val="D8DDE6"/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r"/>
            <a:r>
              <a:rPr sz="750">
                <a:solidFill>
                  <a:srgbClr val="5C667A"/>
                </a:solidFill>
              </a:rPr>
              <a:t>06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798FD5E-0992-4177-84BF-041C39018C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266950"/>
            <a:ext cx="2971800" cy="59055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DE6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C846560-F053-4282-875F-D90D5914E7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457450"/>
            <a:ext cx="209550" cy="20955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>
            <a:solidFill>
              <a:srgbClr val="2563EB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17688E4-D7EC-439F-A025-3968F80E1F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" y="2438400"/>
            <a:ext cx="2190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solidFill>
              <a:srgbClr val="D8DDE6"/>
            </a:solidFill>
          </a:ln>
        </p:spPr>
        <p:txBody>
          <a:bodyPr xmlns:a="http://schemas.openxmlformats.org/drawingml/2006/main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r>
              <a:rPr sz="1275" b="1">
                <a:solidFill>
                  <a:srgbClr val="1B1F2A"/>
                </a:solidFill>
              </a:rPr>
              <a:t>DApp metadata digest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DBCAE8D-3D6E-4A38-9AAA-27AB8C57AE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7700" y="2266950"/>
            <a:ext cx="2971800" cy="59055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DE6"/>
            </a:solidFill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E1E7BDD-42E7-4E4C-881B-7D293AC19C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9150" y="2457450"/>
            <a:ext cx="209550" cy="20955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21A67A"/>
          </a:solidFill>
          <a:ln xmlns:a="http://schemas.openxmlformats.org/drawingml/2006/main">
            <a:solidFill>
              <a:srgbClr val="21A67A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9F1A857-BFF9-47CE-A85B-5849A2079A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72050" y="2438400"/>
            <a:ext cx="2190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solidFill>
              <a:srgbClr val="D8DDE6"/>
            </a:solidFill>
          </a:ln>
        </p:spPr>
        <p:txBody>
          <a:bodyPr xmlns:a="http://schemas.openxmlformats.org/drawingml/2006/main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r>
              <a:rPr sz="1275" b="1">
                <a:solidFill>
                  <a:srgbClr val="1B1F2A"/>
                </a:solidFill>
              </a:rPr>
              <a:t>function metadata root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33D9130-C6ED-478C-978B-B38EC6284B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2266950"/>
            <a:ext cx="2971800" cy="59055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DE6"/>
            </a:solidFill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B3B76C3-34B4-4753-9E88-5C4ACB907B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2457450"/>
            <a:ext cx="209550" cy="20955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59E0B"/>
          </a:solidFill>
          <a:ln xmlns:a="http://schemas.openxmlformats.org/drawingml/2006/main">
            <a:solidFill>
              <a:srgbClr val="F59E0B"/>
            </a:solidFill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944D2E8-B60B-4401-A1BE-DC5072B3E6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34400" y="2438400"/>
            <a:ext cx="2190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solidFill>
              <a:srgbClr val="D8DDE6"/>
            </a:solidFill>
          </a:ln>
        </p:spPr>
        <p:txBody>
          <a:bodyPr xmlns:a="http://schemas.openxmlformats.org/drawingml/2006/main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r>
              <a:rPr sz="1275" b="1">
                <a:solidFill>
                  <a:srgbClr val="1B1F2A"/>
                </a:solidFill>
              </a:rPr>
              <a:t>verifier snapshot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73C5D8D-38E8-4521-A810-F9AB2D900E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257550"/>
            <a:ext cx="2971800" cy="59055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DE6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DAF952B-9F60-4089-A78B-E3AE6CDFCC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448050"/>
            <a:ext cx="209550" cy="20955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6D5BD0"/>
          </a:solidFill>
          <a:ln xmlns:a="http://schemas.openxmlformats.org/drawingml/2006/main">
            <a:solidFill>
              <a:srgbClr val="6D5BD0"/>
            </a:solidFill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6AC23DE-0537-4339-A5B1-FA8CF0C575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" y="3429000"/>
            <a:ext cx="2190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solidFill>
              <a:srgbClr val="D8DDE6"/>
            </a:solidFill>
          </a:ln>
        </p:spPr>
        <p:txBody>
          <a:bodyPr xmlns:a="http://schemas.openxmlformats.org/drawingml/2006/main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r>
              <a:rPr sz="1275" b="1">
                <a:solidFill>
                  <a:srgbClr val="1B1F2A"/>
                </a:solidFill>
              </a:rPr>
              <a:t>managed storage vector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C8E163B-8D45-44A9-AB19-9ECC00903F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7700" y="3257550"/>
            <a:ext cx="2971800" cy="59055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DE6"/>
            </a:solidFill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74D38216-B8EB-4CEE-BD55-84587FE1C9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9150" y="3448050"/>
            <a:ext cx="209550" cy="20955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00A6B2"/>
          </a:solidFill>
          <a:ln xmlns:a="http://schemas.openxmlformats.org/drawingml/2006/main">
            <a:solidFill>
              <a:srgbClr val="00A6B2"/>
            </a:solidFill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B8D8E9E-6BF3-49DF-8938-4F9EA571AB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72050" y="3429000"/>
            <a:ext cx="2190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solidFill>
              <a:srgbClr val="D8DDE6"/>
            </a:solidFill>
          </a:ln>
        </p:spPr>
        <p:txBody>
          <a:bodyPr xmlns:a="http://schemas.openxmlformats.org/drawingml/2006/main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r>
              <a:rPr sz="1275" b="1">
                <a:solidFill>
                  <a:srgbClr val="1B1F2A"/>
                </a:solidFill>
              </a:rPr>
              <a:t>token-vault index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B9B5EB38-637D-4B66-8407-6ADF97AE55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3257550"/>
            <a:ext cx="2971800" cy="59055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DE6"/>
            </a:solidFill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BF0364F5-381E-4268-A1E6-DCE408356E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3448050"/>
            <a:ext cx="209550" cy="20955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D94A4A"/>
          </a:solidFill>
          <a:ln xmlns:a="http://schemas.openxmlformats.org/drawingml/2006/main">
            <a:solidFill>
              <a:srgbClr val="D94A4A"/>
            </a:solidFill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C88E674B-4ABE-4395-8209-8F9B5DA63D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34400" y="3429000"/>
            <a:ext cx="2190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solidFill>
              <a:srgbClr val="D8DDE6"/>
            </a:solidFill>
          </a:ln>
        </p:spPr>
        <p:txBody>
          <a:bodyPr xmlns:a="http://schemas.openxmlformats.org/drawingml/2006/main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r>
              <a:rPr sz="1275" b="1">
                <a:solidFill>
                  <a:srgbClr val="1B1F2A"/>
                </a:solidFill>
              </a:rPr>
              <a:t>join toll / refund policy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0D5E17DE-3299-406A-B83A-E19375AE8C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248150"/>
            <a:ext cx="7124700" cy="59055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DE6"/>
            </a:solidFill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799BD317-7781-473C-BD1D-5233253AA9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4438650"/>
            <a:ext cx="209550" cy="20955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354052"/>
          </a:solidFill>
          <a:ln xmlns:a="http://schemas.openxmlformats.org/drawingml/2006/main">
            <a:solidFill>
              <a:srgbClr val="354052"/>
            </a:solidFill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629F047E-4723-4DB5-A0E4-8448C18E60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" y="4419600"/>
            <a:ext cx="6286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solidFill>
              <a:srgbClr val="D8DDE6"/>
            </a:solidFill>
          </a:ln>
        </p:spPr>
        <p:txBody>
          <a:bodyPr xmlns:a="http://schemas.openxmlformats.org/drawingml/2006/main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r>
              <a:rPr sz="1275" b="1">
                <a:solidFill>
                  <a:srgbClr val="1B1F2A"/>
                </a:solidFill>
              </a:rPr>
              <a:t>genesis proof context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CEED762D-7345-43A6-82BB-22CE60BF23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5286375"/>
            <a:ext cx="97917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solidFill>
              <a:srgbClr val="D8DDE6"/>
            </a:solidFill>
          </a:ln>
        </p:spPr>
        <p:txBody>
          <a:bodyPr xmlns:a="http://schemas.openxmlformats.org/drawingml/2006/main" lIns="0" tIns="0" rIns="0" bIns="0">
            <a:normAutofit fontScale="90592"/>
          </a:bodyPr>
          <a:lstStyle xmlns:a="http://schemas.openxmlformats.org/drawingml/2006/main"/>
          <a:p xmlns:a="http://schemas.openxmlformats.org/drawingml/2006/main">
            <a:pPr algn="ctr"/>
            <a:r>
              <a:rPr sz="1500" b="1">
                <a:solidFill>
                  <a:srgbClr val="2563EB"/>
                </a:solidFill>
              </a:rPr>
              <a:t>Future DApp metadata or verifier changes affect future channels. They do not silently rewrite already-created channels.</a:t>
            </a:r>
          </a:p>
        </p:txBody>
      </p:sp>
    </p:spTree>
    <p:extLst>
      <p:ext uri="{BB962C8B-B14F-4D97-AF65-F5344CB8AC3E}">
        <p14:creationId xmlns:p14="http://schemas.microsoft.com/office/powerpoint/2010/main" val="908825570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70659316-B4BB-42AA-9EDF-4B27092320CB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1524000" y="1122363"/>
            <a:ext cx="9144000" cy="2387600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4ED568F-5C79-4EA6-BDB4-949DEFD4C4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8FA"/>
          </a:solidFill>
          <a:ln xmlns:a="http://schemas.openxmlformats.org/drawingml/2006/main">
            <a:solidFill>
              <a:srgbClr val="F7F8FA"/>
            </a:solidFill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58F1731-A3D7-4D5F-9E93-0FF34D79D7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524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>
            <a:solidFill>
              <a:srgbClr val="2563EB"/>
            </a:solidFill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A1150A7-45DE-4999-933C-FE511F6D82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00050"/>
            <a:ext cx="5334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solidFill>
              <a:srgbClr val="D8DDE6"/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r>
              <a:rPr sz="900" b="1">
                <a:solidFill>
                  <a:srgbClr val="2563EB"/>
                </a:solidFill>
              </a:rPr>
              <a:t>BRIDGE ARCHITECTURE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435BF1A-3540-4C8C-823B-74B8F8377D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723900"/>
            <a:ext cx="72390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solidFill>
              <a:srgbClr val="D8DDE6"/>
            </a:solidFill>
          </a:ln>
        </p:spPr>
        <p:txBody>
          <a:bodyPr xmlns:a="http://schemas.openxmlformats.org/drawingml/2006/main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r>
              <a:rPr sz="2925" b="1">
                <a:solidFill>
                  <a:srgbClr val="101828"/>
                </a:solidFill>
              </a:rPr>
              <a:t>Shared Control Plane, Isolated Channels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CF423F9-9789-4077-A25D-12EEEA45F3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466850"/>
            <a:ext cx="7429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solidFill>
              <a:srgbClr val="D8DDE6"/>
            </a:solidFill>
          </a:ln>
        </p:spPr>
        <p:txBody>
          <a:bodyPr xmlns:a="http://schemas.openxmlformats.org/drawingml/2006/main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r>
              <a:rPr sz="1350">
                <a:solidFill>
                  <a:srgbClr val="5C667A"/>
                </a:solidFill>
              </a:rPr>
              <a:t>Root contracts coordinate custody and admission; channel managers track channel-local commitments.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85C9E01-05F1-4EE6-9BBF-C388E3A817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362700"/>
            <a:ext cx="111252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DE6"/>
          </a:solidFill>
          <a:ln xmlns:a="http://schemas.openxmlformats.org/drawingml/2006/main">
            <a:solidFill>
              <a:srgbClr val="D8DD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D1512FB-C61E-4397-A542-932141CCA0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77000"/>
            <a:ext cx="3048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solidFill>
              <a:srgbClr val="D8DDE6"/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r>
              <a:rPr sz="750">
                <a:solidFill>
                  <a:srgbClr val="5C667A"/>
                </a:solidFill>
              </a:rPr>
              <a:t>Tokamak Private App Channels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D97A8FD-BBFC-457C-99BE-75992D76A7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53800" y="6477000"/>
            <a:ext cx="3048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solidFill>
              <a:srgbClr val="D8DDE6"/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r"/>
            <a:r>
              <a:rPr sz="750">
                <a:solidFill>
                  <a:srgbClr val="5C667A"/>
                </a:solidFill>
              </a:rPr>
              <a:t>07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D8152FF-86A6-4206-85BF-A62CE6D525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286000"/>
            <a:ext cx="10782300" cy="10668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AF0F8"/>
          </a:solidFill>
          <a:ln xmlns:a="http://schemas.openxmlformats.org/drawingml/2006/main" w="9525">
            <a:solidFill>
              <a:srgbClr val="D8DDE6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5919AC9-D25A-4DC0-A068-12E0939AED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476500"/>
            <a:ext cx="3333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solidFill>
              <a:srgbClr val="D8DDE6"/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r>
              <a:rPr sz="1425" b="1">
                <a:solidFill>
                  <a:srgbClr val="1B1F2A"/>
                </a:solidFill>
              </a:rPr>
              <a:t>Shared Ethereum Control Plane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F7122F8-36B0-49E9-AF88-306B889386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895600"/>
            <a:ext cx="2000250" cy="4191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DE6"/>
            </a:solidFill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/>
            <a:r>
              <a:rPr sz="1125" b="1">
                <a:solidFill>
                  <a:srgbClr val="1B1F2A"/>
                </a:solidFill>
              </a:rPr>
              <a:t>BridgeCore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3F719B5-9B68-435F-8668-0C1AF6698D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2895600"/>
            <a:ext cx="2000250" cy="4191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DE6"/>
            </a:solidFill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/>
            <a:r>
              <a:rPr sz="1125" b="1">
                <a:solidFill>
                  <a:srgbClr val="1B1F2A"/>
                </a:solidFill>
              </a:rPr>
              <a:t>DAppManager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85A06ED-E580-4D34-811C-E2618CC42A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6950" y="2895600"/>
            <a:ext cx="2000250" cy="4191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DE6"/>
            </a:solidFill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/>
            <a:r>
              <a:rPr sz="1125" b="1">
                <a:solidFill>
                  <a:srgbClr val="1B1F2A"/>
                </a:solidFill>
              </a:rPr>
              <a:t>L1TokenVault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090AED5-0553-4294-9897-660EFCB0B2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9650" y="2895600"/>
            <a:ext cx="2000250" cy="4191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DE6"/>
            </a:solidFill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/>
            <a:r>
              <a:rPr sz="1125" b="1">
                <a:solidFill>
                  <a:srgbClr val="1B1F2A"/>
                </a:solidFill>
              </a:rPr>
              <a:t>ChannelDeployer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3DD7EA0-C53C-44FE-B20B-2CB67869FC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000500"/>
            <a:ext cx="10782300" cy="11430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1F6F2"/>
          </a:solidFill>
          <a:ln xmlns:a="http://schemas.openxmlformats.org/drawingml/2006/main" w="9525">
            <a:solidFill>
              <a:srgbClr val="D8DDE6"/>
            </a:solidFill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BC5742B-D421-43FA-8CA0-F5B97D5681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191000"/>
            <a:ext cx="3714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solidFill>
              <a:srgbClr val="D8DDE6"/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r>
              <a:rPr sz="1425" b="1">
                <a:solidFill>
                  <a:srgbClr val="1B1F2A"/>
                </a:solidFill>
              </a:rPr>
              <a:t>Per-Channel Execution Domains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CA4D7A2-E815-4015-8463-F712B4D27B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" y="4610100"/>
            <a:ext cx="2609850" cy="47625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DE6"/>
            </a:solidFill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/>
            <a:r>
              <a:rPr sz="1125" b="1">
                <a:solidFill>
                  <a:srgbClr val="1B1F2A"/>
                </a:solidFill>
              </a:rPr>
              <a:t>Channel A
ChannelManager + state commitment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B5B195E-7EE0-4E3D-9A2B-0C2610A3A2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81225" y="3352800"/>
            <a:ext cx="114300" cy="647700"/>
          </a:xfrm>
          <a:prstGeom xmlns:a="http://schemas.openxmlformats.org/drawingml/2006/main" prst="downArrow">
            <a:avLst/>
          </a:prstGeom>
          <a:solidFill xmlns:a="http://schemas.openxmlformats.org/drawingml/2006/main">
            <a:srgbClr val="21A67A"/>
          </a:solidFill>
          <a:ln xmlns:a="http://schemas.openxmlformats.org/drawingml/2006/main">
            <a:solidFill>
              <a:srgbClr val="21A67A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0D38723-70DA-46B9-B8F7-3E43FE0B57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0100" y="4610100"/>
            <a:ext cx="2609850" cy="47625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DE6"/>
            </a:solidFill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/>
            <a:r>
              <a:rPr sz="1125" b="1">
                <a:solidFill>
                  <a:srgbClr val="1B1F2A"/>
                </a:solidFill>
              </a:rPr>
              <a:t>Channel B
ChannelManager + state commitment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785FD91-9AAF-4040-9748-D37C0915F5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14975" y="3352800"/>
            <a:ext cx="114300" cy="647700"/>
          </a:xfrm>
          <a:prstGeom xmlns:a="http://schemas.openxmlformats.org/drawingml/2006/main" prst="downArrow">
            <a:avLst/>
          </a:prstGeom>
          <a:solidFill xmlns:a="http://schemas.openxmlformats.org/drawingml/2006/main">
            <a:srgbClr val="21A67A"/>
          </a:solidFill>
          <a:ln xmlns:a="http://schemas.openxmlformats.org/drawingml/2006/main">
            <a:solidFill>
              <a:srgbClr val="21A67A"/>
            </a:solidFill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5D87787-22CE-46C9-A1DD-C1DD7707E6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43850" y="4610100"/>
            <a:ext cx="2609850" cy="47625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DE6"/>
            </a:solidFill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/>
            <a:r>
              <a:rPr sz="1125" b="1">
                <a:solidFill>
                  <a:srgbClr val="1B1F2A"/>
                </a:solidFill>
              </a:rPr>
              <a:t>Channel C
ChannelManager + state commitment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C37F089-863F-4599-81CC-0B3061147D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48725" y="3352800"/>
            <a:ext cx="114300" cy="647700"/>
          </a:xfrm>
          <a:prstGeom xmlns:a="http://schemas.openxmlformats.org/drawingml/2006/main" prst="downArrow">
            <a:avLst/>
          </a:prstGeom>
          <a:solidFill xmlns:a="http://schemas.openxmlformats.org/drawingml/2006/main">
            <a:srgbClr val="21A67A"/>
          </a:solidFill>
          <a:ln xmlns:a="http://schemas.openxmlformats.org/drawingml/2006/main">
            <a:solidFill>
              <a:srgbClr val="21A67A"/>
            </a:solidFill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D62292D5-ED2D-4D56-9808-D1FD81971C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5476875"/>
            <a:ext cx="99822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solidFill>
              <a:srgbClr val="D8DDE6"/>
            </a:solidFill>
          </a:ln>
        </p:spPr>
        <p:txBody>
          <a:bodyPr xmlns:a="http://schemas.openxmlformats.org/drawingml/2006/main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 algn="ctr"/>
            <a:r>
              <a:rPr sz="1350">
                <a:solidFill>
                  <a:srgbClr val="5C667A"/>
                </a:solidFill>
              </a:rPr>
              <a:t>Isolation is the safety default: corruption or policy failure in one channel should not rewrite another channel's accepted state.</a:t>
            </a:r>
          </a:p>
        </p:txBody>
      </p:sp>
    </p:spTree>
    <p:extLst>
      <p:ext uri="{BB962C8B-B14F-4D97-AF65-F5344CB8AC3E}">
        <p14:creationId xmlns:p14="http://schemas.microsoft.com/office/powerpoint/2010/main" val="1632362022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70659316-B4BB-42AA-9EDF-4B27092320CB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1524000" y="1122363"/>
            <a:ext cx="9144000" cy="2387600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7EB7581-C153-488C-AE29-7C18076C80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8FA"/>
          </a:solidFill>
          <a:ln xmlns:a="http://schemas.openxmlformats.org/drawingml/2006/main">
            <a:solidFill>
              <a:srgbClr val="F7F8FA"/>
            </a:solidFill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99158AE-B39D-421B-9A69-F7948EE21E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524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>
            <a:solidFill>
              <a:srgbClr val="2563EB"/>
            </a:solidFill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F9D387C-CDE4-4AFB-AEF1-E50D3CFC6E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00050"/>
            <a:ext cx="5334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solidFill>
              <a:srgbClr val="D8DDE6"/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r>
              <a:rPr sz="900" b="1">
                <a:solidFill>
                  <a:srgbClr val="2563EB"/>
                </a:solidFill>
              </a:rPr>
              <a:t>DAPP REGISTRATION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3290D5B-4AB2-417F-98EA-8A492838ED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723900"/>
            <a:ext cx="72390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solidFill>
              <a:srgbClr val="D8DDE6"/>
            </a:solidFill>
          </a:ln>
        </p:spPr>
        <p:txBody>
          <a:bodyPr xmlns:a="http://schemas.openxmlformats.org/drawingml/2006/main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r>
              <a:rPr sz="2925" b="1">
                <a:solidFill>
                  <a:srgbClr val="101828"/>
                </a:solidFill>
              </a:rPr>
              <a:t>Metadata Is the Admission Boundary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5B80A05-88B5-481C-AB84-79237E35D7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466850"/>
            <a:ext cx="7429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solidFill>
              <a:srgbClr val="D8DDE6"/>
            </a:solidFill>
          </a:ln>
        </p:spPr>
        <p:txBody>
          <a:bodyPr xmlns:a="http://schemas.openxmlformats.org/drawingml/2006/main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r>
              <a:rPr sz="1350">
                <a:solidFill>
                  <a:srgbClr val="5C667A"/>
                </a:solidFill>
              </a:rPr>
              <a:t>A Solidity function is not enough; the bridge admits only registered proof vocabulary.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A9A9170-947E-4800-BBE0-466D479212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362700"/>
            <a:ext cx="111252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DE6"/>
          </a:solidFill>
          <a:ln xmlns:a="http://schemas.openxmlformats.org/drawingml/2006/main">
            <a:solidFill>
              <a:srgbClr val="D8DD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E7202EB-C2FC-4B56-BDFA-8E1414F53D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77000"/>
            <a:ext cx="3048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solidFill>
              <a:srgbClr val="D8DDE6"/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r>
              <a:rPr sz="750">
                <a:solidFill>
                  <a:srgbClr val="5C667A"/>
                </a:solidFill>
              </a:rPr>
              <a:t>Tokamak Private App Channels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AD1C844-2E59-454F-9E47-3271330381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53800" y="6477000"/>
            <a:ext cx="3048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solidFill>
              <a:srgbClr val="D8DDE6"/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r"/>
            <a:r>
              <a:rPr sz="750">
                <a:solidFill>
                  <a:srgbClr val="5C667A"/>
                </a:solidFill>
              </a:rPr>
              <a:t>08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B6B1D21-B157-4D8A-9823-E2081CBA52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238375"/>
            <a:ext cx="4381500" cy="314325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DE6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A5A7E4D-F390-4BE9-8755-7E02228A59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2476500"/>
            <a:ext cx="3048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solidFill>
              <a:srgbClr val="D8DDE6"/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r>
              <a:rPr sz="1650" b="1">
                <a:solidFill>
                  <a:srgbClr val="1B1F2A"/>
                </a:solidFill>
              </a:rPr>
              <a:t>Registration payload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FC9F457-3C6A-4571-90A5-262405D8F0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3048000"/>
            <a:ext cx="76200" cy="762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>
            <a:solidFill>
              <a:srgbClr val="2563EB"/>
            </a:solidFill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C0B976A-D14B-494E-96A5-2AE6B14BBE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2971800"/>
            <a:ext cx="321945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solidFill>
              <a:srgbClr val="D8DDE6"/>
            </a:solidFill>
          </a:ln>
        </p:spPr>
        <p:txBody>
          <a:bodyPr xmlns:a="http://schemas.openxmlformats.org/drawingml/2006/main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r>
              <a:rPr sz="1125">
                <a:solidFill>
                  <a:srgbClr val="1B1F2A"/>
                </a:solidFill>
              </a:rPr>
              <a:t>managed storage vector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1D542F4-65EA-4572-88B0-1496782CE6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3324225"/>
            <a:ext cx="76200" cy="762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>
            <a:solidFill>
              <a:srgbClr val="2563EB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2A25BBE-D58E-4F9B-B3E0-EA028EFADF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3248025"/>
            <a:ext cx="321945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solidFill>
              <a:srgbClr val="D8DDE6"/>
            </a:solidFill>
          </a:ln>
        </p:spPr>
        <p:txBody>
          <a:bodyPr xmlns:a="http://schemas.openxmlformats.org/drawingml/2006/main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r>
              <a:rPr sz="1125">
                <a:solidFill>
                  <a:srgbClr val="1B1F2A"/>
                </a:solidFill>
              </a:rPr>
              <a:t>pre-allocated storage keys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E1CBD0A-3B71-4851-95E0-8CD08A8D0C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3600450"/>
            <a:ext cx="76200" cy="762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>
            <a:solidFill>
              <a:srgbClr val="2563EB"/>
            </a:solidFill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EA3364B-4F83-449E-9AAC-D5682E2A53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3524250"/>
            <a:ext cx="321945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solidFill>
              <a:srgbClr val="D8DDE6"/>
            </a:solidFill>
          </a:ln>
        </p:spPr>
        <p:txBody>
          <a:bodyPr xmlns:a="http://schemas.openxmlformats.org/drawingml/2006/main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r>
              <a:rPr sz="1125">
                <a:solidFill>
                  <a:srgbClr val="1B1F2A"/>
                </a:solidFill>
              </a:rPr>
              <a:t>user storage slots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B12556A-FC92-4762-AD3E-E53A1AD98C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3876675"/>
            <a:ext cx="76200" cy="762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>
            <a:solidFill>
              <a:srgbClr val="2563EB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14D6E57-A604-4DC4-9CE3-9E3F36CE8C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3800475"/>
            <a:ext cx="321945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solidFill>
              <a:srgbClr val="D8DDE6"/>
            </a:solidFill>
          </a:ln>
        </p:spPr>
        <p:txBody>
          <a:bodyPr xmlns:a="http://schemas.openxmlformats.org/drawingml/2006/main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r>
              <a:rPr sz="1125">
                <a:solidFill>
                  <a:srgbClr val="1B1F2A"/>
                </a:solidFill>
              </a:rPr>
              <a:t>supported function list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6EFC11A-DB4A-41F1-8397-EA7DDB54B6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4152900"/>
            <a:ext cx="76200" cy="762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>
            <a:solidFill>
              <a:srgbClr val="2563EB"/>
            </a:solidFill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6508A5D-3945-43AA-A97D-787A95DF2F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4076700"/>
            <a:ext cx="321945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solidFill>
              <a:srgbClr val="D8DDE6"/>
            </a:solidFill>
          </a:ln>
        </p:spPr>
        <p:txBody>
          <a:bodyPr xmlns:a="http://schemas.openxmlformats.org/drawingml/2006/main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r>
              <a:rPr sz="1125">
                <a:solidFill>
                  <a:srgbClr val="1B1F2A"/>
                </a:solidFill>
              </a:rPr>
              <a:t>preprocess hash per function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17DD456-819B-4A11-A70D-6680282B81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4429125"/>
            <a:ext cx="76200" cy="762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>
            <a:solidFill>
              <a:srgbClr val="2563EB"/>
            </a:solidFill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4A7C8A3D-3BF3-4925-B0DF-A64B60BB5E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4352925"/>
            <a:ext cx="321945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solidFill>
              <a:srgbClr val="D8DDE6"/>
            </a:solidFill>
          </a:ln>
        </p:spPr>
        <p:txBody>
          <a:bodyPr xmlns:a="http://schemas.openxmlformats.org/drawingml/2006/main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r>
              <a:rPr sz="1125">
                <a:solidFill>
                  <a:srgbClr val="1B1F2A"/>
                </a:solidFill>
              </a:rPr>
              <a:t>instance layout offsets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9F92669F-5B98-4C7E-9D02-9516CE8739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4705350"/>
            <a:ext cx="76200" cy="762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>
            <a:solidFill>
              <a:srgbClr val="2563EB"/>
            </a:solidFill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25D3234A-EDEF-4325-B03B-2423E3509F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4629150"/>
            <a:ext cx="321945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solidFill>
              <a:srgbClr val="D8DDE6"/>
            </a:solidFill>
          </a:ln>
        </p:spPr>
        <p:txBody>
          <a:bodyPr xmlns:a="http://schemas.openxmlformats.org/drawingml/2006/main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r>
              <a:rPr sz="1125">
                <a:solidFill>
                  <a:srgbClr val="1B1F2A"/>
                </a:solidFill>
              </a:rPr>
              <a:t>storage-write metadata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6CC7E613-8539-4E21-B626-1768CEDF80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4981575"/>
            <a:ext cx="76200" cy="762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>
            <a:solidFill>
              <a:srgbClr val="2563EB"/>
            </a:solidFill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8B32A083-E8D5-4058-97EF-915ECADE9C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4905375"/>
            <a:ext cx="321945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solidFill>
              <a:srgbClr val="D8DDE6"/>
            </a:solidFill>
          </a:ln>
        </p:spPr>
        <p:txBody>
          <a:bodyPr xmlns:a="http://schemas.openxmlformats.org/drawingml/2006/main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r>
              <a:rPr sz="1125">
                <a:solidFill>
                  <a:srgbClr val="1B1F2A"/>
                </a:solidFill>
              </a:rPr>
              <a:t>event-log metadata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6D4686B8-E19F-4C6B-B10C-0C1A0A7DA4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2238375"/>
            <a:ext cx="4381500" cy="314325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DE6"/>
            </a:solidFill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79BC01D4-BD01-4963-B3F9-B51FE5E6FE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2476500"/>
            <a:ext cx="3048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solidFill>
              <a:srgbClr val="D8DDE6"/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r>
              <a:rPr sz="1650" b="1">
                <a:solidFill>
                  <a:srgbClr val="1B1F2A"/>
                </a:solidFill>
              </a:rPr>
              <a:t>Runtime decision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C6B262BD-1DBE-485E-8BB6-1B505C76D6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3105150"/>
            <a:ext cx="76200" cy="762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21A67A"/>
          </a:solidFill>
          <a:ln xmlns:a="http://schemas.openxmlformats.org/drawingml/2006/main">
            <a:solidFill>
              <a:srgbClr val="21A67A"/>
            </a:solidFill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EC44B914-9608-441F-B973-99517CAC8E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3028950"/>
            <a:ext cx="31242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solidFill>
              <a:srgbClr val="D8DDE6"/>
            </a:solidFill>
          </a:ln>
        </p:spPr>
        <p:txBody>
          <a:bodyPr xmlns:a="http://schemas.openxmlformats.org/drawingml/2006/main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r>
              <a:rPr sz="1200">
                <a:solidFill>
                  <a:srgbClr val="1B1F2A"/>
                </a:solidFill>
              </a:rPr>
              <a:t>Does this DApp exist?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D7DAF27A-51AF-4037-A2BD-6C44374E04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3486150"/>
            <a:ext cx="76200" cy="762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21A67A"/>
          </a:solidFill>
          <a:ln xmlns:a="http://schemas.openxmlformats.org/drawingml/2006/main">
            <a:solidFill>
              <a:srgbClr val="21A67A"/>
            </a:solidFill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CDB3B05F-653A-4AB9-AA97-EE5FE6E567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3409950"/>
            <a:ext cx="31242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solidFill>
              <a:srgbClr val="D8DDE6"/>
            </a:solidFill>
          </a:ln>
        </p:spPr>
        <p:txBody>
          <a:bodyPr xmlns:a="http://schemas.openxmlformats.org/drawingml/2006/main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r>
              <a:rPr sz="1200">
                <a:solidFill>
                  <a:srgbClr val="1B1F2A"/>
                </a:solidFill>
              </a:rPr>
              <a:t>Is the function root admissible?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E3D1037D-6EA9-452E-AD2F-E908B5CA89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3867150"/>
            <a:ext cx="76200" cy="762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21A67A"/>
          </a:solidFill>
          <a:ln xmlns:a="http://schemas.openxmlformats.org/drawingml/2006/main">
            <a:solidFill>
              <a:srgbClr val="21A67A"/>
            </a:solidFill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4C081E08-7D3D-4684-B25E-A03703AB2C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3790950"/>
            <a:ext cx="31242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solidFill>
              <a:srgbClr val="D8DDE6"/>
            </a:solidFill>
          </a:ln>
        </p:spPr>
        <p:txBody>
          <a:bodyPr xmlns:a="http://schemas.openxmlformats.org/drawingml/2006/main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r>
              <a:rPr sz="1200">
                <a:solidFill>
                  <a:srgbClr val="1B1F2A"/>
                </a:solidFill>
              </a:rPr>
              <a:t>Does the preprocess hash match?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2A07DA41-89F3-4A43-B586-1426F61B90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4248150"/>
            <a:ext cx="76200" cy="762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21A67A"/>
          </a:solidFill>
          <a:ln xmlns:a="http://schemas.openxmlformats.org/drawingml/2006/main">
            <a:solidFill>
              <a:srgbClr val="21A67A"/>
            </a:solidFill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98AFCD39-8631-4B27-9E3D-3442CAECFB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4171950"/>
            <a:ext cx="31242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solidFill>
              <a:srgbClr val="D8DDE6"/>
            </a:solidFill>
          </a:ln>
        </p:spPr>
        <p:txBody>
          <a:bodyPr xmlns:a="http://schemas.openxmlformats.org/drawingml/2006/main" lIns="0" tIns="0" rIns="0" bIns="0">
            <a:normAutofit fontScale="99540"/>
          </a:bodyPr>
          <a:lstStyle xmlns:a="http://schemas.openxmlformats.org/drawingml/2006/main"/>
          <a:p xmlns:a="http://schemas.openxmlformats.org/drawingml/2006/main">
            <a:r>
              <a:rPr sz="1200">
                <a:solidFill>
                  <a:srgbClr val="1B1F2A"/>
                </a:solidFill>
              </a:rPr>
              <a:t>Do storage-write indices stay in the managed vector?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F676646B-6C1E-4465-9073-6697C2442C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4629150"/>
            <a:ext cx="76200" cy="762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21A67A"/>
          </a:solidFill>
          <a:ln xmlns:a="http://schemas.openxmlformats.org/drawingml/2006/main">
            <a:solidFill>
              <a:srgbClr val="21A67A"/>
            </a:solidFill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8C070E1B-3C31-4CED-BAFF-7999000E3E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4552950"/>
            <a:ext cx="31242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solidFill>
              <a:srgbClr val="D8DDE6"/>
            </a:solidFill>
          </a:ln>
        </p:spPr>
        <p:txBody>
          <a:bodyPr xmlns:a="http://schemas.openxmlformats.org/drawingml/2006/main" lIns="0" tIns="0" rIns="0" bIns="0">
            <a:normAutofit fontScale="99540"/>
          </a:bodyPr>
          <a:lstStyle xmlns:a="http://schemas.openxmlformats.org/drawingml/2006/main"/>
          <a:p xmlns:a="http://schemas.openxmlformats.org/drawingml/2006/main">
            <a:r>
              <a:rPr sz="1200">
                <a:solidFill>
                  <a:srgbClr val="1B1F2A"/>
                </a:solidFill>
              </a:rPr>
              <a:t>Do public-input offsets decode the expected fields?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9A1FF643-6C83-4354-A879-121746A0C1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76850" y="3733800"/>
            <a:ext cx="876300" cy="1143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F59E0B"/>
          </a:solidFill>
          <a:ln xmlns:a="http://schemas.openxmlformats.org/drawingml/2006/main">
            <a:solidFill>
              <a:srgbClr val="F59E0B"/>
            </a:solidFill>
          </a:ln>
        </p:spPr>
      </p:sp>
    </p:spTree>
    <p:extLst>
      <p:ext uri="{BB962C8B-B14F-4D97-AF65-F5344CB8AC3E}">
        <p14:creationId xmlns:p14="http://schemas.microsoft.com/office/powerpoint/2010/main" val="2020261213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70659316-B4BB-42AA-9EDF-4B27092320CB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1524000" y="1122363"/>
            <a:ext cx="9144000" cy="2387600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ED03103-6DAE-4324-B040-537E9149E0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8FA"/>
          </a:solidFill>
          <a:ln xmlns:a="http://schemas.openxmlformats.org/drawingml/2006/main">
            <a:solidFill>
              <a:srgbClr val="F7F8FA"/>
            </a:solidFill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7EDE31A-6EDD-47CA-B1A8-E0DD21B97D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524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>
            <a:solidFill>
              <a:srgbClr val="2563EB"/>
            </a:solidFill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43C047E-17C4-49DE-8008-7370DBD867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00050"/>
            <a:ext cx="5334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solidFill>
              <a:srgbClr val="D8DDE6"/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r>
              <a:rPr sz="900" b="1">
                <a:solidFill>
                  <a:srgbClr val="2563EB"/>
                </a:solidFill>
              </a:rPr>
              <a:t>CHANNEL CREATION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EC09905-9BE2-43FC-A2A3-18EDD18C0A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723900"/>
            <a:ext cx="72390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solidFill>
              <a:srgbClr val="D8DDE6"/>
            </a:solidFill>
          </a:ln>
        </p:spPr>
        <p:txBody>
          <a:bodyPr xmlns:a="http://schemas.openxmlformats.org/drawingml/2006/main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r>
              <a:rPr sz="2925" b="1">
                <a:solidFill>
                  <a:srgbClr val="101828"/>
                </a:solidFill>
              </a:rPr>
              <a:t>From Registered DApp to Live Channel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D72D446-615B-46ED-A889-C4801AEF48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466850"/>
            <a:ext cx="7429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solidFill>
              <a:srgbClr val="D8DDE6"/>
            </a:solidFill>
          </a:ln>
        </p:spPr>
        <p:txBody>
          <a:bodyPr xmlns:a="http://schemas.openxmlformats.org/drawingml/2006/main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r>
              <a:rPr sz="1350">
                <a:solidFill>
                  <a:srgbClr val="5C667A"/>
                </a:solidFill>
              </a:rPr>
              <a:t>Creation is permissionless at the bridge level after a DApp is registered.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C94C982-5F50-41FA-B5AC-D3AF260043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362700"/>
            <a:ext cx="111252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DE6"/>
          </a:solidFill>
          <a:ln xmlns:a="http://schemas.openxmlformats.org/drawingml/2006/main">
            <a:solidFill>
              <a:srgbClr val="D8DD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FA578A4-E4AF-433A-85C5-4AEC98A2E7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77000"/>
            <a:ext cx="3048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solidFill>
              <a:srgbClr val="D8DDE6"/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r>
              <a:rPr sz="750">
                <a:solidFill>
                  <a:srgbClr val="5C667A"/>
                </a:solidFill>
              </a:rPr>
              <a:t>Tokamak Private App Channels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CF7EEF8-DFC3-459E-9964-A3B04CE9D8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53800" y="6477000"/>
            <a:ext cx="3048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solidFill>
              <a:srgbClr val="D8DDE6"/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r"/>
            <a:r>
              <a:rPr sz="750">
                <a:solidFill>
                  <a:srgbClr val="5C667A"/>
                </a:solidFill>
              </a:rPr>
              <a:t>09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226DD27-7DD9-43C4-823F-7212897FFF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876550"/>
            <a:ext cx="1619250" cy="11430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DE6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99B9998-0CD2-4408-BDD0-92CF6D69E6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2343150"/>
            <a:ext cx="514350" cy="51435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>
            <a:solidFill>
              <a:srgbClr val="2563EB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2DC98AF-5CBC-4E18-A3AE-8D43F54DB4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2457450"/>
            <a:ext cx="514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solidFill>
              <a:srgbClr val="D8DDE6"/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/>
            <a:r>
              <a:rPr sz="15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C0D5D4C-B9FB-434D-B94F-2C66705EB9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3143250"/>
            <a:ext cx="12763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solidFill>
              <a:srgbClr val="D8DDE6"/>
            </a:solidFill>
          </a:ln>
        </p:spPr>
        <p:txBody>
          <a:bodyPr xmlns:a="http://schemas.openxmlformats.org/drawingml/2006/main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 algn="ctr"/>
            <a:r>
              <a:rPr sz="1200" b="1">
                <a:solidFill>
                  <a:srgbClr val="1B1F2A"/>
                </a:solidFill>
              </a:rPr>
              <a:t>Check DApp metadata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BE0E136-7E6E-4267-8577-60F435F6B1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4600" y="3390900"/>
            <a:ext cx="438150" cy="1143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5C667A"/>
          </a:solidFill>
          <a:ln xmlns:a="http://schemas.openxmlformats.org/drawingml/2006/main">
            <a:solidFill>
              <a:srgbClr val="5C667A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246C8B1-7E1C-4F47-98D5-4B3E9E4C15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90850" y="2876550"/>
            <a:ext cx="1619250" cy="11430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DE6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270471E-C2EA-4B28-A4B6-505E0366C4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43300" y="2343150"/>
            <a:ext cx="514350" cy="51435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21A67A"/>
          </a:solidFill>
          <a:ln xmlns:a="http://schemas.openxmlformats.org/drawingml/2006/main">
            <a:solidFill>
              <a:srgbClr val="21A67A"/>
            </a:solidFill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E0D695E-539F-45EA-8CD0-9D6C07C72C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43300" y="2457450"/>
            <a:ext cx="514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solidFill>
              <a:srgbClr val="D8DDE6"/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/>
            <a:r>
              <a:rPr sz="150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2E4F989-3ED5-4DE5-A2BE-67C1DFC7AA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62300" y="3143250"/>
            <a:ext cx="12763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solidFill>
              <a:srgbClr val="D8DDE6"/>
            </a:solidFill>
          </a:ln>
        </p:spPr>
        <p:txBody>
          <a:bodyPr xmlns:a="http://schemas.openxmlformats.org/drawingml/2006/main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 algn="ctr"/>
            <a:r>
              <a:rPr sz="1200" b="1">
                <a:solidFill>
                  <a:srgbClr val="1B1F2A"/>
                </a:solidFill>
              </a:rPr>
              <a:t>Bind leader and asset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7FE9B88-8D8E-4978-9C31-0DD9131D96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9150" y="3390900"/>
            <a:ext cx="438150" cy="1143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5C667A"/>
          </a:solidFill>
          <a:ln xmlns:a="http://schemas.openxmlformats.org/drawingml/2006/main">
            <a:solidFill>
              <a:srgbClr val="5C667A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01BDEA8-FD8E-4A7A-B85A-E2E3C49DF3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05400" y="2876550"/>
            <a:ext cx="1619250" cy="11430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DE6"/>
            </a:solidFill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DFF7A00-BF2D-4AF6-9DD4-1963061780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57850" y="2343150"/>
            <a:ext cx="514350" cy="51435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59E0B"/>
          </a:solidFill>
          <a:ln xmlns:a="http://schemas.openxmlformats.org/drawingml/2006/main">
            <a:solidFill>
              <a:srgbClr val="F59E0B"/>
            </a:solidFill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3CA1CDE-7C37-4C07-B093-1B9C28F418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57850" y="2457450"/>
            <a:ext cx="514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solidFill>
              <a:srgbClr val="D8DDE6"/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/>
            <a:r>
              <a:rPr sz="1500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C3FD636E-7715-417D-86D9-C59557851C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76850" y="3143250"/>
            <a:ext cx="12763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solidFill>
              <a:srgbClr val="D8DDE6"/>
            </a:solidFill>
          </a:ln>
        </p:spPr>
        <p:txBody>
          <a:bodyPr xmlns:a="http://schemas.openxmlformats.org/drawingml/2006/main" lIns="0" tIns="0" rIns="0" bIns="0">
            <a:normAutofit fontScale="96809"/>
          </a:bodyPr>
          <a:lstStyle xmlns:a="http://schemas.openxmlformats.org/drawingml/2006/main"/>
          <a:p xmlns:a="http://schemas.openxmlformats.org/drawingml/2006/main">
            <a:pPr algn="ctr"/>
            <a:r>
              <a:rPr sz="1200" b="1">
                <a:solidFill>
                  <a:srgbClr val="1B1F2A"/>
                </a:solidFill>
              </a:rPr>
              <a:t>Snapshot verifiers and function root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D9052AE2-5AFE-4576-9C33-7928C168F6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3390900"/>
            <a:ext cx="438150" cy="1143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5C667A"/>
          </a:solidFill>
          <a:ln xmlns:a="http://schemas.openxmlformats.org/drawingml/2006/main">
            <a:solidFill>
              <a:srgbClr val="5C667A"/>
            </a:solidFill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3E33F2D7-59F3-4F0A-82E9-069FC78206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2876550"/>
            <a:ext cx="1619250" cy="11430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DE6"/>
            </a:solidFill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F0231C81-2ABF-43E1-A7F8-E7EC29F742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0" y="2343150"/>
            <a:ext cx="514350" cy="51435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6D5BD0"/>
          </a:solidFill>
          <a:ln xmlns:a="http://schemas.openxmlformats.org/drawingml/2006/main">
            <a:solidFill>
              <a:srgbClr val="6D5BD0"/>
            </a:solidFill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1411C8B1-A8AD-49CE-9500-92885F495D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0" y="2457450"/>
            <a:ext cx="514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solidFill>
              <a:srgbClr val="D8DDE6"/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/>
            <a:r>
              <a:rPr sz="1500" b="1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5A1B5575-3075-44B8-97D4-65741A95DF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91400" y="3143250"/>
            <a:ext cx="12763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solidFill>
              <a:srgbClr val="D8DDE6"/>
            </a:solidFill>
          </a:ln>
        </p:spPr>
        <p:txBody>
          <a:bodyPr xmlns:a="http://schemas.openxmlformats.org/drawingml/2006/main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 algn="ctr"/>
            <a:r>
              <a:rPr sz="1200" b="1">
                <a:solidFill>
                  <a:srgbClr val="1B1F2A"/>
                </a:solidFill>
              </a:rPr>
              <a:t>Deploy ChannelManager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8D70415C-D0ED-4322-BA5F-7CC211CA49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3390900"/>
            <a:ext cx="438150" cy="1143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5C667A"/>
          </a:solidFill>
          <a:ln xmlns:a="http://schemas.openxmlformats.org/drawingml/2006/main">
            <a:solidFill>
              <a:srgbClr val="5C667A"/>
            </a:solidFill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AD663DC2-4256-4D7D-9BE3-A0BCA2D47C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2876550"/>
            <a:ext cx="1619250" cy="11430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DE6"/>
            </a:solidFill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8541397B-1096-438D-83BF-42FDE30AEC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86950" y="2343150"/>
            <a:ext cx="514350" cy="51435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00A6B2"/>
          </a:solidFill>
          <a:ln xmlns:a="http://schemas.openxmlformats.org/drawingml/2006/main">
            <a:solidFill>
              <a:srgbClr val="00A6B2"/>
            </a:solidFill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581BC096-9AFC-40DF-8216-13B6BC38AF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86950" y="2457450"/>
            <a:ext cx="514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solidFill>
              <a:srgbClr val="D8DDE6"/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/>
            <a:r>
              <a:rPr sz="1500" b="1">
                <a:solidFill>
                  <a:srgbClr val="FFFFFF"/>
                </a:solidFill>
              </a:rPr>
              <a:t>5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7438396A-0C82-4147-9325-8DBD92DDF4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05950" y="3143250"/>
            <a:ext cx="12763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solidFill>
              <a:srgbClr val="D8DDE6"/>
            </a:solidFill>
          </a:ln>
        </p:spPr>
        <p:txBody>
          <a:bodyPr xmlns:a="http://schemas.openxmlformats.org/drawingml/2006/main" lIns="0" tIns="0" rIns="0" bIns="0">
            <a:normAutofit fontScale="92137"/>
          </a:bodyPr>
          <a:lstStyle xmlns:a="http://schemas.openxmlformats.org/drawingml/2006/main"/>
          <a:p xmlns:a="http://schemas.openxmlformats.org/drawingml/2006/main">
            <a:pPr algn="ctr"/>
            <a:r>
              <a:rPr sz="1200" b="1">
                <a:solidFill>
                  <a:srgbClr val="1B1F2A"/>
                </a:solidFill>
              </a:rPr>
              <a:t>Initialize commitment and proof context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F32A5FAA-F892-438E-ADFE-2B27694862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4762500"/>
            <a:ext cx="96012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solidFill>
              <a:srgbClr val="D8DDE6"/>
            </a:solidFill>
          </a:ln>
        </p:spPr>
        <p:txBody>
          <a:bodyPr xmlns:a="http://schemas.openxmlformats.org/drawingml/2006/main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 algn="ctr"/>
            <a:r>
              <a:rPr sz="1425">
                <a:solidFill>
                  <a:srgbClr val="5C667A"/>
                </a:solidFill>
              </a:rPr>
              <a:t>The creator chooses only channel-level parameters exposed by bridge and DApp policy. The execution grammar itself comes from registration metadata.</a:t>
            </a:r>
          </a:p>
        </p:txBody>
      </p:sp>
    </p:spTree>
    <p:extLst>
      <p:ext uri="{BB962C8B-B14F-4D97-AF65-F5344CB8AC3E}">
        <p14:creationId xmlns:p14="http://schemas.microsoft.com/office/powerpoint/2010/main" val="434399233"/>
      </p:ext>
    </p:extLst>
  </p:cSld>
</p:sld>
</file>

<file path=ppt/slides/slide1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70659316-B4BB-42AA-9EDF-4B27092320CB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1524000" y="1122363"/>
            <a:ext cx="9144000" cy="2387600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964F39B-C934-4922-A905-E4562E38F9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8FA"/>
          </a:solidFill>
          <a:ln xmlns:a="http://schemas.openxmlformats.org/drawingml/2006/main">
            <a:solidFill>
              <a:srgbClr val="F7F8FA"/>
            </a:solidFill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808787B-9866-4AF1-BF9C-F6F6E018C2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524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>
            <a:solidFill>
              <a:srgbClr val="2563EB"/>
            </a:solidFill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0ADCF05-D80C-44EF-BC4F-6EBE8CEAFB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00050"/>
            <a:ext cx="5334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solidFill>
              <a:srgbClr val="D8DDE6"/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r>
              <a:rPr sz="900" b="1">
                <a:solidFill>
                  <a:srgbClr val="2563EB"/>
                </a:solidFill>
              </a:rPr>
              <a:t>STATE TRANSITIONS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A3BC836-E1DC-4C5E-AF9B-6184485C37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723900"/>
            <a:ext cx="72390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solidFill>
              <a:srgbClr val="D8DDE6"/>
            </a:solidFill>
          </a:ln>
        </p:spPr>
        <p:txBody>
          <a:bodyPr xmlns:a="http://schemas.openxmlformats.org/drawingml/2006/main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r>
              <a:rPr sz="2925" b="1">
                <a:solidFill>
                  <a:srgbClr val="101828"/>
                </a:solidFill>
              </a:rPr>
              <a:t>Proof-Backed Bridge Execution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8AD92BD-E643-4647-A7FB-513AF7D2AD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466850"/>
            <a:ext cx="7429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solidFill>
              <a:srgbClr val="D8DDE6"/>
            </a:solidFill>
          </a:ln>
        </p:spPr>
        <p:txBody>
          <a:bodyPr xmlns:a="http://schemas.openxmlformats.org/drawingml/2006/main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r>
              <a:rPr sz="1350">
                <a:solidFill>
                  <a:srgbClr val="5C667A"/>
                </a:solidFill>
              </a:rPr>
              <a:t>The L1 bridge verifies proof meaning before accepting a new channel commitment.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B43D4F4-3E77-4008-8247-6296CAD3C8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362700"/>
            <a:ext cx="111252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DE6"/>
          </a:solidFill>
          <a:ln xmlns:a="http://schemas.openxmlformats.org/drawingml/2006/main">
            <a:solidFill>
              <a:srgbClr val="D8DD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FCB419E-C54B-4056-8962-AE41A9A6D3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77000"/>
            <a:ext cx="3048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solidFill>
              <a:srgbClr val="D8DDE6"/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r>
              <a:rPr sz="750">
                <a:solidFill>
                  <a:srgbClr val="5C667A"/>
                </a:solidFill>
              </a:rPr>
              <a:t>Tokamak Private App Channels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294AD79-DCD0-4DC4-9327-E8F661B989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53800" y="6477000"/>
            <a:ext cx="3048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solidFill>
              <a:srgbClr val="D8DDE6"/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r"/>
            <a:r>
              <a:rPr sz="750">
                <a:solidFill>
                  <a:srgbClr val="5C667A"/>
                </a:solidFill>
              </a:rPr>
              <a:t>10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F880295-8E71-4FEA-ADFB-DE5BB78511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781300"/>
            <a:ext cx="1714500" cy="74295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9F1FF"/>
          </a:solidFill>
          <a:ln xmlns:a="http://schemas.openxmlformats.org/drawingml/2006/main" w="9525">
            <a:solidFill>
              <a:srgbClr val="D8DDE6"/>
            </a:solidFill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/>
            <a:r>
              <a:rPr sz="1125" b="1">
                <a:solidFill>
                  <a:srgbClr val="1B1F2A"/>
                </a:solidFill>
              </a:rPr>
              <a:t>CLI builds proof input bundle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9C5762B-B8DB-4993-A843-CF6FD50859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3095625"/>
            <a:ext cx="438150" cy="1143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>
            <a:solidFill>
              <a:srgbClr val="2563EB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B98EECF-76DC-4FB6-87FD-A263D584A7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3700" y="2781300"/>
            <a:ext cx="1714500" cy="74295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8FBFF"/>
          </a:solidFill>
          <a:ln xmlns:a="http://schemas.openxmlformats.org/drawingml/2006/main" w="9525">
            <a:solidFill>
              <a:srgbClr val="D8DDE6"/>
            </a:solidFill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/>
            <a:r>
              <a:rPr sz="1125" b="1">
                <a:solidFill>
                  <a:srgbClr val="1B1F2A"/>
                </a:solidFill>
              </a:rPr>
              <a:t>Tokamak proof verifies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1FE060F-09B9-46E4-8E13-735B01B055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48200" y="3095625"/>
            <a:ext cx="438150" cy="1143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>
            <a:solidFill>
              <a:srgbClr val="2563EB"/>
            </a:solidFill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04F56A5-FC1B-4F86-ACF3-8B01E5588D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81600" y="2781300"/>
            <a:ext cx="1714500" cy="74295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8F7F0"/>
          </a:solidFill>
          <a:ln xmlns:a="http://schemas.openxmlformats.org/drawingml/2006/main" w="9525">
            <a:solidFill>
              <a:srgbClr val="D8DDE6"/>
            </a:solidFill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/>
            <a:r>
              <a:rPr sz="1125" b="1">
                <a:solidFill>
                  <a:srgbClr val="1B1F2A"/>
                </a:solidFill>
              </a:rPr>
              <a:t>Metadata checks decode public inputs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40CF443-8D7C-4759-A71B-F2A124488A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96100" y="3095625"/>
            <a:ext cx="438150" cy="1143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>
            <a:solidFill>
              <a:srgbClr val="2563EB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80A00EB-E304-4DE3-BDA7-FCE82BD98D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2781300"/>
            <a:ext cx="1714500" cy="74295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1EEFF"/>
          </a:solidFill>
          <a:ln xmlns:a="http://schemas.openxmlformats.org/drawingml/2006/main" w="9525">
            <a:solidFill>
              <a:srgbClr val="D8DDE6"/>
            </a:solidFill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/>
            <a:r>
              <a:rPr sz="1125" b="1">
                <a:solidFill>
                  <a:srgbClr val="1B1F2A"/>
                </a:solidFill>
              </a:rPr>
              <a:t>currentRootVectorHash advances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5597619-343F-48B5-9E86-10DA0A7661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3095625"/>
            <a:ext cx="438150" cy="1143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>
            <a:solidFill>
              <a:srgbClr val="2563EB"/>
            </a:solidFill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01D4D29-F470-4475-9876-E73D0CBF56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77400" y="2781300"/>
            <a:ext cx="1714500" cy="74295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4DE"/>
          </a:solidFill>
          <a:ln xmlns:a="http://schemas.openxmlformats.org/drawingml/2006/main" w="9525">
            <a:solidFill>
              <a:srgbClr val="D8DDE6"/>
            </a:solidFill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/>
            <a:r>
              <a:rPr sz="1125" b="1">
                <a:solidFill>
                  <a:srgbClr val="1B1F2A"/>
                </a:solidFill>
              </a:rPr>
              <a:t>Observed writes are emitted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5BEB5E4-8C73-4B45-87D7-1434B566FB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95450" y="4524375"/>
            <a:ext cx="8801100" cy="11049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52238"/>
          </a:solidFill>
          <a:ln xmlns:a="http://schemas.openxmlformats.org/drawingml/2006/main">
            <a:solidFill>
              <a:srgbClr val="152238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7EBC064-8945-46BF-BC94-4F38709677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85950" y="4695825"/>
            <a:ext cx="25527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solidFill>
              <a:srgbClr val="D8DDE6"/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/>
            <a:r>
              <a:rPr sz="900" b="1">
                <a:solidFill>
                  <a:srgbClr val="A9B7D0"/>
                </a:solidFill>
              </a:rPr>
              <a:t>current state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7B8BCAA-8CC4-4624-881F-C8BF4166A6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90700" y="4981575"/>
            <a:ext cx="27432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solidFill>
              <a:srgbClr val="D8DDE6"/>
            </a:solidFill>
          </a:ln>
        </p:spPr>
        <p:txBody>
          <a:bodyPr xmlns:a="http://schemas.openxmlformats.org/drawingml/2006/main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 algn="ctr"/>
            <a:r>
              <a:rPr sz="1500">
                <a:solidFill>
                  <a:srgbClr val="FFFFFF"/>
                </a:solidFill>
              </a:rPr>
              <a:t>H(R_current)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CA1613B-A56A-4DF5-8385-F94B926A9D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9650" y="4695825"/>
            <a:ext cx="25527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solidFill>
              <a:srgbClr val="D8DDE6"/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/>
            <a:r>
              <a:rPr sz="900" b="1">
                <a:solidFill>
                  <a:srgbClr val="A9B7D0"/>
                </a:solidFill>
              </a:rPr>
              <a:t>proof claim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FED54B0-DE99-4C5B-9A6C-CA5D35ABEC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24400" y="4981575"/>
            <a:ext cx="27432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solidFill>
              <a:srgbClr val="D8DDE6"/>
            </a:solidFill>
          </a:ln>
        </p:spPr>
        <p:txBody>
          <a:bodyPr xmlns:a="http://schemas.openxmlformats.org/drawingml/2006/main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 algn="ctr"/>
            <a:r>
              <a:rPr sz="1500">
                <a:solidFill>
                  <a:srgbClr val="FFFFFF"/>
                </a:solidFill>
              </a:rPr>
              <a:t>pi validates T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DE56D32B-62EC-4C84-8939-C4623137B9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9150" y="4657725"/>
            <a:ext cx="9525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1506A"/>
          </a:solidFill>
          <a:ln xmlns:a="http://schemas.openxmlformats.org/drawingml/2006/main">
            <a:solidFill>
              <a:srgbClr val="41506A"/>
            </a:solidFill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DC59394E-1FA8-4120-8A10-4E1B4E59C4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53350" y="4695825"/>
            <a:ext cx="25527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solidFill>
              <a:srgbClr val="D8DDE6"/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/>
            <a:r>
              <a:rPr sz="900" b="1">
                <a:solidFill>
                  <a:srgbClr val="A9B7D0"/>
                </a:solidFill>
              </a:rPr>
              <a:t>next state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9E1A6B05-37C8-4186-944A-6B05FF55A0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58100" y="4981575"/>
            <a:ext cx="27432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solidFill>
              <a:srgbClr val="D8DDE6"/>
            </a:solidFill>
          </a:ln>
        </p:spPr>
        <p:txBody>
          <a:bodyPr xmlns:a="http://schemas.openxmlformats.org/drawingml/2006/main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 algn="ctr"/>
            <a:r>
              <a:rPr sz="1500">
                <a:solidFill>
                  <a:srgbClr val="FFFFFF"/>
                </a:solidFill>
              </a:rPr>
              <a:t>H(R_updated)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31091260-C7F5-42AF-9BDF-DDA1CE250D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62850" y="4657725"/>
            <a:ext cx="9525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1506A"/>
          </a:solidFill>
          <a:ln xmlns:a="http://schemas.openxmlformats.org/drawingml/2006/main">
            <a:solidFill>
              <a:srgbClr val="41506A"/>
            </a:solidFill>
          </a:ln>
        </p:spPr>
      </p:sp>
    </p:spTree>
    <p:extLst>
      <p:ext uri="{BB962C8B-B14F-4D97-AF65-F5344CB8AC3E}">
        <p14:creationId xmlns:p14="http://schemas.microsoft.com/office/powerpoint/2010/main" val="515380222"/>
      </p:ext>
    </p:extLst>
  </p:cSld>
</p:sld>
</file>

<file path=ppt/slides/slide1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70659316-B4BB-42AA-9EDF-4B27092320CB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1524000" y="1122363"/>
            <a:ext cx="9144000" cy="2387600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7347597-E704-40E4-85A3-C0EEED3E8E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8FA"/>
          </a:solidFill>
          <a:ln xmlns:a="http://schemas.openxmlformats.org/drawingml/2006/main">
            <a:solidFill>
              <a:srgbClr val="F7F8FA"/>
            </a:solidFill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6538743-05C7-4C2B-BCC7-3A82D9AF8E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524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>
            <a:solidFill>
              <a:srgbClr val="2563EB"/>
            </a:solidFill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A303344-430E-4D75-885A-9ACEF49196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00050"/>
            <a:ext cx="5334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solidFill>
              <a:srgbClr val="D8DDE6"/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r>
              <a:rPr sz="900" b="1">
                <a:solidFill>
                  <a:srgbClr val="2563EB"/>
                </a:solidFill>
              </a:rPr>
              <a:t>TOKEN MOVEMENT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2B678A4-CC57-432D-8E31-FE9E0B6EA7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723900"/>
            <a:ext cx="72390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solidFill>
              <a:srgbClr val="D8DDE6"/>
            </a:solidFill>
          </a:ln>
        </p:spPr>
        <p:txBody>
          <a:bodyPr xmlns:a="http://schemas.openxmlformats.org/drawingml/2006/main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r>
              <a:rPr sz="2550" b="1">
                <a:solidFill>
                  <a:srgbClr val="101828"/>
                </a:solidFill>
              </a:rPr>
              <a:t>Custody and Accounting Are Deliberately Split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8D47209-DA96-4506-B6EB-E044553D99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466850"/>
            <a:ext cx="7429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solidFill>
              <a:srgbClr val="D8DDE6"/>
            </a:solidFill>
          </a:ln>
        </p:spPr>
        <p:txBody>
          <a:bodyPr xmlns:a="http://schemas.openxmlformats.org/drawingml/2006/main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r>
              <a:rPr sz="1350">
                <a:solidFill>
                  <a:srgbClr val="5C667A"/>
                </a:solidFill>
              </a:rPr>
              <a:t>Canonical tokens remain in the shared L1 vault; channel state records accounting and notes.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1ECEED4-FDF9-4DE6-9AB4-C1FF6AED38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362700"/>
            <a:ext cx="111252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DE6"/>
          </a:solidFill>
          <a:ln xmlns:a="http://schemas.openxmlformats.org/drawingml/2006/main">
            <a:solidFill>
              <a:srgbClr val="D8DD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B2A47B3-8F8D-4143-9562-7E292EEFFB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77000"/>
            <a:ext cx="3048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solidFill>
              <a:srgbClr val="D8DDE6"/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r>
              <a:rPr sz="750">
                <a:solidFill>
                  <a:srgbClr val="5C667A"/>
                </a:solidFill>
              </a:rPr>
              <a:t>Tokamak Private App Channels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9F76C93-0DB0-44F7-800C-F5493FB7E7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53800" y="6477000"/>
            <a:ext cx="3048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solidFill>
              <a:srgbClr val="D8DDE6"/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r"/>
            <a:r>
              <a:rPr sz="750">
                <a:solidFill>
                  <a:srgbClr val="5C667A"/>
                </a:solidFill>
              </a:rPr>
              <a:t>11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05624B3-FD0C-43E1-A793-61BFC1D3D0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028950"/>
            <a:ext cx="1524000" cy="55245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9F1FF"/>
          </a:solidFill>
          <a:ln xmlns:a="http://schemas.openxmlformats.org/drawingml/2006/main" w="9525">
            <a:solidFill>
              <a:srgbClr val="D8DDE6"/>
            </a:solidFill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/>
            <a:r>
              <a:rPr sz="1125" b="1">
                <a:solidFill>
                  <a:srgbClr val="1B1F2A"/>
                </a:solidFill>
              </a:rPr>
              <a:t>L1 wallet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B55AD0D-9CB0-49DF-AC2E-8132540201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2724150"/>
            <a:ext cx="2095500" cy="81915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4DE"/>
          </a:solidFill>
          <a:ln xmlns:a="http://schemas.openxmlformats.org/drawingml/2006/main" w="9525">
            <a:solidFill>
              <a:srgbClr val="D8DDE6"/>
            </a:solidFill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/>
            <a:r>
              <a:rPr sz="1125" b="1">
                <a:solidFill>
                  <a:srgbClr val="1B1F2A"/>
                </a:solidFill>
              </a:rPr>
              <a:t>L1TokenVault
canonical custody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A46739D-6B42-49A2-B086-9836DAF073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2724150"/>
            <a:ext cx="2171700" cy="81915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8F7F0"/>
          </a:solidFill>
          <a:ln xmlns:a="http://schemas.openxmlformats.org/drawingml/2006/main" w="9525">
            <a:solidFill>
              <a:srgbClr val="D8DDE6"/>
            </a:solidFill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/>
            <a:r>
              <a:rPr sz="1125" b="1">
                <a:solidFill>
                  <a:srgbClr val="1B1F2A"/>
                </a:solidFill>
              </a:rPr>
              <a:t>channelTokenVault
Merkle accounting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3EB8163-9559-4478-9B9B-17D931EA41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67800" y="2724150"/>
            <a:ext cx="2247900" cy="81915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1EEFF"/>
          </a:solidFill>
          <a:ln xmlns:a="http://schemas.openxmlformats.org/drawingml/2006/main" w="9525">
            <a:solidFill>
              <a:srgbClr val="D8DDE6"/>
            </a:solidFill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/>
            <a:r>
              <a:rPr sz="1125" b="1">
                <a:solidFill>
                  <a:srgbClr val="1B1F2A"/>
                </a:solidFill>
              </a:rPr>
              <a:t>Private-State DApp
liquid balance + notes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FF80A0A-A9DE-4C2B-9D2F-44E25A01F5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3248025"/>
            <a:ext cx="838200" cy="1143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F59E0B"/>
          </a:solidFill>
          <a:ln xmlns:a="http://schemas.openxmlformats.org/drawingml/2006/main">
            <a:solidFill>
              <a:srgbClr val="F59E0B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DAE6466-6D5A-4297-A0F1-94D17773FC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3076575"/>
            <a:ext cx="781050" cy="1143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21A67A"/>
          </a:solidFill>
          <a:ln xmlns:a="http://schemas.openxmlformats.org/drawingml/2006/main">
            <a:solidFill>
              <a:srgbClr val="21A67A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0A20E1A-66E2-43D2-BC46-71772C7B46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3076575"/>
            <a:ext cx="781050" cy="1143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6D5BD0"/>
          </a:solidFill>
          <a:ln xmlns:a="http://schemas.openxmlformats.org/drawingml/2006/main">
            <a:solidFill>
              <a:srgbClr val="6D5BD0"/>
            </a:solidFill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CEF142F-4C77-486F-93A5-4CBA58B9A5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" y="4533900"/>
            <a:ext cx="96393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solidFill>
              <a:srgbClr val="D8DDE6"/>
            </a:solidFill>
          </a:ln>
        </p:spPr>
        <p:txBody>
          <a:bodyPr xmlns:a="http://schemas.openxmlformats.org/drawingml/2006/main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 algn="ctr"/>
            <a:r>
              <a:rPr sz="1500">
                <a:solidFill>
                  <a:srgbClr val="5C667A"/>
                </a:solidFill>
              </a:rPr>
              <a:t>Deposit / withdraw accounting uses Groth16 updateTree proofs. Rich DApp execution uses Tokamak proofs over registered metadata.</a:t>
            </a:r>
          </a:p>
        </p:txBody>
      </p:sp>
    </p:spTree>
    <p:extLst>
      <p:ext uri="{BB962C8B-B14F-4D97-AF65-F5344CB8AC3E}">
        <p14:creationId xmlns:p14="http://schemas.microsoft.com/office/powerpoint/2010/main" val="380968483"/>
      </p:ext>
    </p:extLst>
  </p:cSld>
</p:sld>
</file>

<file path=ppt/slides/slide1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70659316-B4BB-42AA-9EDF-4B27092320CB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1524000" y="1122363"/>
            <a:ext cx="9144000" cy="2387600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46A3FD3-EDE3-4070-9B6B-1A1313DB91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8FA"/>
          </a:solidFill>
          <a:ln xmlns:a="http://schemas.openxmlformats.org/drawingml/2006/main">
            <a:solidFill>
              <a:srgbClr val="F7F8FA"/>
            </a:solidFill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95965E7-C89E-4476-A38A-8420F3474D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524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>
            <a:solidFill>
              <a:srgbClr val="2563EB"/>
            </a:solidFill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59311C2-C9EC-40F5-9C1C-4F766C3151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00050"/>
            <a:ext cx="5334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solidFill>
              <a:srgbClr val="D8DDE6"/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r>
              <a:rPr sz="900" b="1">
                <a:solidFill>
                  <a:srgbClr val="2563EB"/>
                </a:solidFill>
              </a:rPr>
              <a:t>PRIVATE-STATE EXAMPLE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AFE2577-AA9C-4DED-A83E-654D1496D6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723900"/>
            <a:ext cx="72390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solidFill>
              <a:srgbClr val="D8DDE6"/>
            </a:solidFill>
          </a:ln>
        </p:spPr>
        <p:txBody>
          <a:bodyPr xmlns:a="http://schemas.openxmlformats.org/drawingml/2006/main" lIns="0" tIns="0" rIns="0" bIns="0">
            <a:normAutofit fontScale="97629"/>
          </a:bodyPr>
          <a:lstStyle xmlns:a="http://schemas.openxmlformats.org/drawingml/2006/main"/>
          <a:p xmlns:a="http://schemas.openxmlformats.org/drawingml/2006/main">
            <a:r>
              <a:rPr sz="2925" b="1">
                <a:solidFill>
                  <a:srgbClr val="101828"/>
                </a:solidFill>
              </a:rPr>
              <a:t>A Bridge-Coupled zk-Note Payment DApp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EC1D04E-BC5B-41C5-B98B-EE2CCD2228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466850"/>
            <a:ext cx="7429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solidFill>
              <a:srgbClr val="D8DDE6"/>
            </a:solidFill>
          </a:ln>
        </p:spPr>
        <p:txBody>
          <a:bodyPr xmlns:a="http://schemas.openxmlformats.org/drawingml/2006/main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r>
              <a:rPr sz="1350">
                <a:solidFill>
                  <a:srgbClr val="5C667A"/>
                </a:solidFill>
              </a:rPr>
              <a:t>Private-state keeps TON custody on L1 while channel-local state records balances, commitments, and nullifiers.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72FA45D-A4C1-4060-A807-A5099EFE39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362700"/>
            <a:ext cx="111252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DE6"/>
          </a:solidFill>
          <a:ln xmlns:a="http://schemas.openxmlformats.org/drawingml/2006/main">
            <a:solidFill>
              <a:srgbClr val="D8DD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9C436F2-5375-40FE-9E0D-68B145F894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77000"/>
            <a:ext cx="3048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solidFill>
              <a:srgbClr val="D8DDE6"/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r>
              <a:rPr sz="750">
                <a:solidFill>
                  <a:srgbClr val="5C667A"/>
                </a:solidFill>
              </a:rPr>
              <a:t>Tokamak Private App Channels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A9C56FF-EFCF-47D9-A782-B105B0D21A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53800" y="6477000"/>
            <a:ext cx="3048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solidFill>
              <a:srgbClr val="D8DDE6"/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r"/>
            <a:r>
              <a:rPr sz="750">
                <a:solidFill>
                  <a:srgbClr val="5C667A"/>
                </a:solidFill>
              </a:rPr>
              <a:t>12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E1A4665-4F58-43D2-8CF6-DD12AC90EA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400300"/>
            <a:ext cx="4572000" cy="184785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DE6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BCD5637-DBB0-45FC-914E-B28DE2C7A2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400300"/>
            <a:ext cx="47625" cy="1847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1A67A"/>
          </a:solidFill>
          <a:ln xmlns:a="http://schemas.openxmlformats.org/drawingml/2006/main">
            <a:solidFill>
              <a:srgbClr val="21A67A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2536D06-E0AD-4EA4-B762-3C711C9534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571750"/>
            <a:ext cx="41529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solidFill>
              <a:srgbClr val="D8DDE6"/>
            </a:solidFill>
          </a:ln>
        </p:spPr>
        <p:txBody>
          <a:bodyPr xmlns:a="http://schemas.openxmlformats.org/drawingml/2006/main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r>
              <a:rPr sz="1350" b="1">
                <a:solidFill>
                  <a:srgbClr val="1B1F2A"/>
                </a:solidFill>
              </a:rPr>
              <a:t>L2AccountingVault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BA929EF-85DB-45D8-B944-1BFAFFA6E9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933700"/>
            <a:ext cx="4152900" cy="1181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solidFill>
              <a:srgbClr val="D8DDE6"/>
            </a:solidFill>
          </a:ln>
        </p:spPr>
        <p:txBody>
          <a:bodyPr xmlns:a="http://schemas.openxmlformats.org/drawingml/2006/main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r>
              <a:rPr sz="1050">
                <a:solidFill>
                  <a:srgbClr val="5C667A"/>
                </a:solidFill>
              </a:rPr>
              <a:t>Accounting-only liquid balances. The controller mutates balances; the vault is not canonical custody.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1580ED3-DD1C-4B3F-A35D-16A4E613EC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2400300"/>
            <a:ext cx="4572000" cy="184785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DE6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5FF7A75-71CF-4463-88FF-F861F3C81E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2400300"/>
            <a:ext cx="47625" cy="1847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D5BD0"/>
          </a:solidFill>
          <a:ln xmlns:a="http://schemas.openxmlformats.org/drawingml/2006/main">
            <a:solidFill>
              <a:srgbClr val="6D5BD0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E117F22-C073-40D0-B484-4C883CD584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72300" y="2571750"/>
            <a:ext cx="41529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solidFill>
              <a:srgbClr val="D8DDE6"/>
            </a:solidFill>
          </a:ln>
        </p:spPr>
        <p:txBody>
          <a:bodyPr xmlns:a="http://schemas.openxmlformats.org/drawingml/2006/main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r>
              <a:rPr sz="1350" b="1">
                <a:solidFill>
                  <a:srgbClr val="1B1F2A"/>
                </a:solidFill>
              </a:rPr>
              <a:t>PrivateStateController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5D0848F-590C-493D-B653-FFE7C1D08C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72300" y="2933700"/>
            <a:ext cx="4152900" cy="1181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solidFill>
              <a:srgbClr val="D8DDE6"/>
            </a:solidFill>
          </a:ln>
        </p:spPr>
        <p:txBody>
          <a:bodyPr xmlns:a="http://schemas.openxmlformats.org/drawingml/2006/main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r>
              <a:rPr sz="1050">
                <a:solidFill>
                  <a:srgbClr val="5C667A"/>
                </a:solidFill>
              </a:rPr>
              <a:t>User-facing note lifecycle: mint from liquid balance, transfer notes, redeem notes back to liquid balance.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9054AEC-F21C-4F32-B730-8BB65AB20E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0" y="3257550"/>
            <a:ext cx="1143000" cy="1143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>
            <a:solidFill>
              <a:srgbClr val="2563EB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BE45452-BB72-4FDC-AA3F-31C2A26AC9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3550" y="4876800"/>
            <a:ext cx="87249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solidFill>
              <a:srgbClr val="D8DDE6"/>
            </a:solidFill>
          </a:ln>
        </p:spPr>
        <p:txBody>
          <a:bodyPr xmlns:a="http://schemas.openxmlformats.org/drawingml/2006/main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 algn="ctr"/>
            <a:r>
              <a:rPr sz="1575" b="1">
                <a:solidFill>
                  <a:srgbClr val="2563EB"/>
                </a:solidFill>
              </a:rPr>
              <a:t>Managed storage vector: [PrivateStateController, L2AccountingVault]</a:t>
            </a:r>
          </a:p>
        </p:txBody>
      </p:sp>
    </p:spTree>
    <p:extLst>
      <p:ext uri="{BB962C8B-B14F-4D97-AF65-F5344CB8AC3E}">
        <p14:creationId xmlns:p14="http://schemas.microsoft.com/office/powerpoint/2010/main" val="1560620457"/>
      </p:ext>
    </p:extLst>
  </p:cSld>
</p:sld>
</file>

<file path=ppt/slides/slide1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70659316-B4BB-42AA-9EDF-4B27092320CB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1524000" y="1122363"/>
            <a:ext cx="9144000" cy="2387600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F3F3AE5-02C5-4EA7-8B47-9BC368E189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8FA"/>
          </a:solidFill>
          <a:ln xmlns:a="http://schemas.openxmlformats.org/drawingml/2006/main">
            <a:solidFill>
              <a:srgbClr val="F7F8FA"/>
            </a:solidFill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5E469A0-368A-4BE7-97EB-B42451F4FE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524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>
            <a:solidFill>
              <a:srgbClr val="2563EB"/>
            </a:solidFill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36CE175-6D94-4AA4-A7C1-D3542C4560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00050"/>
            <a:ext cx="5334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solidFill>
              <a:srgbClr val="D8DDE6"/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r>
              <a:rPr sz="900" b="1">
                <a:solidFill>
                  <a:srgbClr val="2563EB"/>
                </a:solidFill>
              </a:rPr>
              <a:t>NOTE LIFECYCLE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41832DD-B2F0-48D1-B8CF-B5DC6B0985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723900"/>
            <a:ext cx="72390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solidFill>
              <a:srgbClr val="D8DDE6"/>
            </a:solidFill>
          </a:ln>
        </p:spPr>
        <p:txBody>
          <a:bodyPr xmlns:a="http://schemas.openxmlformats.org/drawingml/2006/main" lIns="0" tIns="0" rIns="0" bIns="0">
            <a:normAutofit fontScale="91171"/>
          </a:bodyPr>
          <a:lstStyle xmlns:a="http://schemas.openxmlformats.org/drawingml/2006/main"/>
          <a:p xmlns:a="http://schemas.openxmlformats.org/drawingml/2006/main">
            <a:r>
              <a:rPr sz="2925" b="1">
                <a:solidFill>
                  <a:srgbClr val="101828"/>
                </a:solidFill>
              </a:rPr>
              <a:t>Value Moves Through Three Representations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8380DBE-4DF7-47F5-94A5-BDBD1E2ABF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466850"/>
            <a:ext cx="7429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solidFill>
              <a:srgbClr val="D8DDE6"/>
            </a:solidFill>
          </a:ln>
        </p:spPr>
        <p:txBody>
          <a:bodyPr xmlns:a="http://schemas.openxmlformats.org/drawingml/2006/main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r>
              <a:rPr sz="1350">
                <a:solidFill>
                  <a:srgbClr val="5C667A"/>
                </a:solidFill>
              </a:rPr>
              <a:t>Bridge liquidity, L2 accounting, and private notes are separate protocol objects.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EFE3B3E-27D3-4955-9DB7-61BB5E3BD3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362700"/>
            <a:ext cx="111252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DE6"/>
          </a:solidFill>
          <a:ln xmlns:a="http://schemas.openxmlformats.org/drawingml/2006/main">
            <a:solidFill>
              <a:srgbClr val="D8DD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A7507B9-3577-436D-81EF-31F183EF8C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77000"/>
            <a:ext cx="3048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solidFill>
              <a:srgbClr val="D8DDE6"/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r>
              <a:rPr sz="750">
                <a:solidFill>
                  <a:srgbClr val="5C667A"/>
                </a:solidFill>
              </a:rPr>
              <a:t>Tokamak Private App Channels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717AA2F-6183-482F-9AC4-4780AE72B7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53800" y="6477000"/>
            <a:ext cx="3048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solidFill>
              <a:srgbClr val="D8DDE6"/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r"/>
            <a:r>
              <a:rPr sz="750">
                <a:solidFill>
                  <a:srgbClr val="5C667A"/>
                </a:solidFill>
              </a:rPr>
              <a:t>13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C8A1444-6BDF-4027-A10E-EEA0004C6D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933700"/>
            <a:ext cx="1200150" cy="55245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4DE"/>
          </a:solidFill>
          <a:ln xmlns:a="http://schemas.openxmlformats.org/drawingml/2006/main" w="9525">
            <a:solidFill>
              <a:srgbClr val="D8DDE6"/>
            </a:solidFill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/>
            <a:r>
              <a:rPr sz="1125" b="1">
                <a:solidFill>
                  <a:srgbClr val="1B1F2A"/>
                </a:solidFill>
              </a:rPr>
              <a:t>deposit bridge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E7429C8-9D06-4844-B65A-C274982AD1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85950" y="3152775"/>
            <a:ext cx="266700" cy="1143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>
            <a:solidFill>
              <a:srgbClr val="2563EB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39A707F-3559-49D9-9D39-590BBAE44D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7900" y="2933700"/>
            <a:ext cx="1200150" cy="55245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4DE"/>
          </a:solidFill>
          <a:ln xmlns:a="http://schemas.openxmlformats.org/drawingml/2006/main" w="9525">
            <a:solidFill>
              <a:srgbClr val="D8DDE6"/>
            </a:solidFill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/>
            <a:r>
              <a:rPr sz="1125" b="1">
                <a:solidFill>
                  <a:srgbClr val="1B1F2A"/>
                </a:solidFill>
              </a:rPr>
              <a:t>deposit channel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597AA8D-90DD-4B0B-9B9E-E57436FD04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8050" y="3152775"/>
            <a:ext cx="266700" cy="1143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>
            <a:solidFill>
              <a:srgbClr val="2563EB"/>
            </a:solidFill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7E96E16-78DC-45A4-A162-F07096A33C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0" y="2933700"/>
            <a:ext cx="1200150" cy="55245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1EEFF"/>
          </a:solidFill>
          <a:ln xmlns:a="http://schemas.openxmlformats.org/drawingml/2006/main" w="9525">
            <a:solidFill>
              <a:srgbClr val="D8DDE6"/>
            </a:solidFill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/>
            <a:r>
              <a:rPr sz="1125" b="1">
                <a:solidFill>
                  <a:srgbClr val="1B1F2A"/>
                </a:solidFill>
              </a:rPr>
              <a:t>mint notes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B2B2798-8587-4848-985D-67FCD36EFC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10150" y="3152775"/>
            <a:ext cx="266700" cy="1143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>
            <a:solidFill>
              <a:srgbClr val="2563EB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55F3721-FF72-4955-A042-B8F13F2CC2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72100" y="2933700"/>
            <a:ext cx="1200150" cy="55245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1EEFF"/>
          </a:solidFill>
          <a:ln xmlns:a="http://schemas.openxmlformats.org/drawingml/2006/main" w="9525">
            <a:solidFill>
              <a:srgbClr val="D8DDE6"/>
            </a:solidFill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/>
            <a:r>
              <a:rPr sz="1125" b="1">
                <a:solidFill>
                  <a:srgbClr val="1B1F2A"/>
                </a:solidFill>
              </a:rPr>
              <a:t>transfer notes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71CCE4E-631B-4C7D-BD8B-BBADC97F9D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3152775"/>
            <a:ext cx="266700" cy="1143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>
            <a:solidFill>
              <a:srgbClr val="2563EB"/>
            </a:solidFill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47F62E2-EE37-4447-AFF3-CB86C4EB0C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4200" y="2933700"/>
            <a:ext cx="1200150" cy="55245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1EEFF"/>
          </a:solidFill>
          <a:ln xmlns:a="http://schemas.openxmlformats.org/drawingml/2006/main" w="9525">
            <a:solidFill>
              <a:srgbClr val="D8DDE6"/>
            </a:solidFill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/>
            <a:r>
              <a:rPr sz="1125" b="1">
                <a:solidFill>
                  <a:srgbClr val="1B1F2A"/>
                </a:solidFill>
              </a:rPr>
              <a:t>redeem notes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2DDF870-F95D-453E-AD75-F6E5CADEB9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4350" y="3152775"/>
            <a:ext cx="266700" cy="1143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>
            <a:solidFill>
              <a:srgbClr val="2563EB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3EE8F69-8625-4186-8768-4B84A55534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2933700"/>
            <a:ext cx="1200150" cy="55245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8F7F0"/>
          </a:solidFill>
          <a:ln xmlns:a="http://schemas.openxmlformats.org/drawingml/2006/main" w="9525">
            <a:solidFill>
              <a:srgbClr val="D8DDE6"/>
            </a:solidFill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/>
            <a:r>
              <a:rPr sz="1125" b="1">
                <a:solidFill>
                  <a:srgbClr val="1B1F2A"/>
                </a:solidFill>
              </a:rPr>
              <a:t>withdraw channel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BB87CD9-05A3-42C5-8F2B-17A3B50B26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96450" y="3152775"/>
            <a:ext cx="266700" cy="1143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>
            <a:solidFill>
              <a:srgbClr val="2563EB"/>
            </a:solidFill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661BBCA-5495-4E26-8EA2-FDA5A8750A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0" y="2933700"/>
            <a:ext cx="1200150" cy="55245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8F7F0"/>
          </a:solidFill>
          <a:ln xmlns:a="http://schemas.openxmlformats.org/drawingml/2006/main" w="9525">
            <a:solidFill>
              <a:srgbClr val="D8DDE6"/>
            </a:solidFill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/>
            <a:r>
              <a:rPr sz="1125" b="1">
                <a:solidFill>
                  <a:srgbClr val="1B1F2A"/>
                </a:solidFill>
              </a:rPr>
              <a:t>withdraw bridge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C1A8BAE4-278E-45B0-8515-43F16F6F41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4229100"/>
            <a:ext cx="3009900" cy="74295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4DE"/>
          </a:solidFill>
          <a:ln xmlns:a="http://schemas.openxmlformats.org/drawingml/2006/main" w="9525">
            <a:solidFill>
              <a:srgbClr val="D8DDE6"/>
            </a:solidFill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B28EED4A-F719-419B-9855-BF8C39C627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4457700"/>
            <a:ext cx="247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solidFill>
              <a:srgbClr val="D8DDE6"/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/>
            <a:r>
              <a:rPr sz="1425" b="1">
                <a:solidFill>
                  <a:srgbClr val="1B1F2A"/>
                </a:solidFill>
              </a:rPr>
              <a:t>L1 custody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0FEDDE43-50B4-47FA-AE32-806BE9A858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1050" y="4229100"/>
            <a:ext cx="3009900" cy="74295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8F7F0"/>
          </a:solidFill>
          <a:ln xmlns:a="http://schemas.openxmlformats.org/drawingml/2006/main" w="9525">
            <a:solidFill>
              <a:srgbClr val="D8DDE6"/>
            </a:solidFill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79CE50BC-92E6-4013-8646-9BBD614090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0" y="4457700"/>
            <a:ext cx="247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solidFill>
              <a:srgbClr val="D8DDE6"/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/>
            <a:r>
              <a:rPr sz="1425" b="1">
                <a:solidFill>
                  <a:srgbClr val="1B1F2A"/>
                </a:solidFill>
              </a:rPr>
              <a:t>liquid L2 accounting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3DB871D2-B9CB-4095-89C9-3C0CC200F7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4229100"/>
            <a:ext cx="3009900" cy="74295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1EEFF"/>
          </a:solidFill>
          <a:ln xmlns:a="http://schemas.openxmlformats.org/drawingml/2006/main" w="9525">
            <a:solidFill>
              <a:srgbClr val="D8DDE6"/>
            </a:solidFill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1114F4FD-C0CB-4F6D-9185-ADA49E7E1B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8200" y="4457700"/>
            <a:ext cx="247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solidFill>
              <a:srgbClr val="D8DDE6"/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/>
            <a:r>
              <a:rPr sz="1425" b="1">
                <a:solidFill>
                  <a:srgbClr val="1B1F2A"/>
                </a:solidFill>
              </a:rPr>
              <a:t>private notes</a:t>
            </a:r>
          </a:p>
        </p:txBody>
      </p:sp>
    </p:spTree>
    <p:extLst>
      <p:ext uri="{BB962C8B-B14F-4D97-AF65-F5344CB8AC3E}">
        <p14:creationId xmlns:p14="http://schemas.microsoft.com/office/powerpoint/2010/main" val="1675100240"/>
      </p:ext>
    </p:extLst>
  </p:cSld>
</p:sld>
</file>

<file path=ppt/slides/slide1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70659316-B4BB-42AA-9EDF-4B27092320CB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1524000" y="1122363"/>
            <a:ext cx="9144000" cy="2387600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11E65B7-866C-4D43-8ECB-414420DEC2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8FA"/>
          </a:solidFill>
          <a:ln xmlns:a="http://schemas.openxmlformats.org/drawingml/2006/main">
            <a:solidFill>
              <a:srgbClr val="F7F8FA"/>
            </a:solidFill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C0E8B28-E0EB-4704-8B7A-6E89F551BC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524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>
            <a:solidFill>
              <a:srgbClr val="2563EB"/>
            </a:solidFill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4BC4F10-DCD0-4C3B-9CEA-73A2504D4D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00050"/>
            <a:ext cx="5334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solidFill>
              <a:srgbClr val="D8DDE6"/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r>
              <a:rPr sz="900" b="1">
                <a:solidFill>
                  <a:srgbClr val="2563EB"/>
                </a:solidFill>
              </a:rPr>
              <a:t>PRIVACY BOUNDARY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C41C3BF-7268-45A6-9FFD-1DA7289310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723900"/>
            <a:ext cx="72390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solidFill>
              <a:srgbClr val="D8DDE6"/>
            </a:solidFill>
          </a:ln>
        </p:spPr>
        <p:txBody>
          <a:bodyPr xmlns:a="http://schemas.openxmlformats.org/drawingml/2006/main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r>
              <a:rPr sz="2550" b="1">
                <a:solidFill>
                  <a:srgbClr val="101828"/>
                </a:solidFill>
              </a:rPr>
              <a:t>Programmed Disclosure, Not Invisible Activity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421988F-9CBC-4180-9A19-60D755341F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466850"/>
            <a:ext cx="7429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solidFill>
              <a:srgbClr val="D8DDE6"/>
            </a:solidFill>
          </a:ln>
        </p:spPr>
        <p:txBody>
          <a:bodyPr xmlns:a="http://schemas.openxmlformats.org/drawingml/2006/main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r>
              <a:rPr sz="1350">
                <a:solidFill>
                  <a:srgbClr val="5C667A"/>
                </a:solidFill>
              </a:rPr>
              <a:t>The DApp decides which public observations exist after proof acceptance.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89FCA28-26DE-4B99-A5C3-C8ECE6BA82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362700"/>
            <a:ext cx="111252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DE6"/>
          </a:solidFill>
          <a:ln xmlns:a="http://schemas.openxmlformats.org/drawingml/2006/main">
            <a:solidFill>
              <a:srgbClr val="D8DD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28D5F8B-D9DF-49F0-9910-4729105D67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77000"/>
            <a:ext cx="3048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solidFill>
              <a:srgbClr val="D8DDE6"/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r>
              <a:rPr sz="750">
                <a:solidFill>
                  <a:srgbClr val="5C667A"/>
                </a:solidFill>
              </a:rPr>
              <a:t>Tokamak Private App Channels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72D4A9D-BC25-420E-A4EC-80FB2D43E3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53800" y="6477000"/>
            <a:ext cx="3048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solidFill>
              <a:srgbClr val="D8DDE6"/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r"/>
            <a:r>
              <a:rPr sz="750">
                <a:solidFill>
                  <a:srgbClr val="5C667A"/>
                </a:solidFill>
              </a:rPr>
              <a:t>14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DCE8172-83D7-4FF0-9D25-7EFEB1B651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43150"/>
            <a:ext cx="4762500" cy="272415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DE6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9C28A6C-43D2-414B-B4E0-627542C101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2609850"/>
            <a:ext cx="4000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solidFill>
              <a:srgbClr val="D8DDE6"/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r>
              <a:rPr sz="1575" b="1">
                <a:solidFill>
                  <a:srgbClr val="21A67A"/>
                </a:solidFill>
              </a:rPr>
              <a:t>Hidden from public contract state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9369DD6-64CC-4BE7-9730-73BF9FF7A7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3181350"/>
            <a:ext cx="76200" cy="762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21A67A"/>
          </a:solidFill>
          <a:ln xmlns:a="http://schemas.openxmlformats.org/drawingml/2006/main">
            <a:solidFill>
              <a:srgbClr val="21A67A"/>
            </a:solidFill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CE552E4-230B-4E12-B5DB-A5EDB938C0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6850" y="3105150"/>
            <a:ext cx="34099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solidFill>
              <a:srgbClr val="D8DDE6"/>
            </a:solidFill>
          </a:ln>
        </p:spPr>
        <p:txBody>
          <a:bodyPr xmlns:a="http://schemas.openxmlformats.org/drawingml/2006/main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r>
              <a:rPr sz="1350">
                <a:solidFill>
                  <a:srgbClr val="1B1F2A"/>
                </a:solidFill>
              </a:rPr>
              <a:t>note plaintext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F6C74A6-B2BE-4379-9707-341570B2A8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3600450"/>
            <a:ext cx="76200" cy="762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21A67A"/>
          </a:solidFill>
          <a:ln xmlns:a="http://schemas.openxmlformats.org/drawingml/2006/main">
            <a:solidFill>
              <a:srgbClr val="21A67A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DFCA090-0D0D-43A3-B7B8-4A118151A2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6850" y="3524250"/>
            <a:ext cx="34099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solidFill>
              <a:srgbClr val="D8DDE6"/>
            </a:solidFill>
          </a:ln>
        </p:spPr>
        <p:txBody>
          <a:bodyPr xmlns:a="http://schemas.openxmlformats.org/drawingml/2006/main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r>
              <a:rPr sz="1350">
                <a:solidFill>
                  <a:srgbClr val="1B1F2A"/>
                </a:solidFill>
              </a:rPr>
              <a:t>note ownership meaning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AFE2ABE-F670-45ED-B1D9-23C4A2F240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4019550"/>
            <a:ext cx="76200" cy="762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21A67A"/>
          </a:solidFill>
          <a:ln xmlns:a="http://schemas.openxmlformats.org/drawingml/2006/main">
            <a:solidFill>
              <a:srgbClr val="21A67A"/>
            </a:solidFill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5A0BB87-98D1-4BFE-A89C-212ADA1C5A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6850" y="3943350"/>
            <a:ext cx="34099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solidFill>
              <a:srgbClr val="D8DDE6"/>
            </a:solidFill>
          </a:ln>
        </p:spPr>
        <p:txBody>
          <a:bodyPr xmlns:a="http://schemas.openxmlformats.org/drawingml/2006/main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r>
              <a:rPr sz="1350">
                <a:solidFill>
                  <a:srgbClr val="1B1F2A"/>
                </a:solidFill>
              </a:rPr>
              <a:t>sender-recipient provenance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DC2A8B2-3FD7-4F3E-86A6-98BE4B2AC6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4438650"/>
            <a:ext cx="76200" cy="762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21A67A"/>
          </a:solidFill>
          <a:ln xmlns:a="http://schemas.openxmlformats.org/drawingml/2006/main">
            <a:solidFill>
              <a:srgbClr val="21A67A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5E98059-9DD9-4FD2-BB07-E67FF18CB3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6850" y="4362450"/>
            <a:ext cx="34099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solidFill>
              <a:srgbClr val="D8DDE6"/>
            </a:solidFill>
          </a:ln>
        </p:spPr>
        <p:txBody>
          <a:bodyPr xmlns:a="http://schemas.openxmlformats.org/drawingml/2006/main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r>
              <a:rPr sz="1350">
                <a:solidFill>
                  <a:srgbClr val="1B1F2A"/>
                </a:solidFill>
              </a:rPr>
              <a:t>complete private note history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DF6A68F-4072-42CD-A228-89BF469C98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2343150"/>
            <a:ext cx="4762500" cy="272415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DE6"/>
            </a:solidFill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F164FD1-437A-4774-99F0-AEBA19F92A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2609850"/>
            <a:ext cx="4000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solidFill>
              <a:srgbClr val="D8DDE6"/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r>
              <a:rPr sz="1575" b="1">
                <a:solidFill>
                  <a:srgbClr val="F59E0B"/>
                </a:solidFill>
              </a:rPr>
              <a:t>Visible monitoring surface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6578827-6838-42D4-865B-005410D391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4200" y="3181350"/>
            <a:ext cx="76200" cy="762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59E0B"/>
          </a:solidFill>
          <a:ln xmlns:a="http://schemas.openxmlformats.org/drawingml/2006/main">
            <a:solidFill>
              <a:srgbClr val="F59E0B"/>
            </a:solidFill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F07EAAC7-50FA-4C3A-A370-EED9B72DDF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3105150"/>
            <a:ext cx="34099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solidFill>
              <a:srgbClr val="D8DDE6"/>
            </a:solidFill>
          </a:ln>
        </p:spPr>
        <p:txBody>
          <a:bodyPr xmlns:a="http://schemas.openxmlformats.org/drawingml/2006/main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r>
              <a:rPr sz="1350">
                <a:solidFill>
                  <a:srgbClr val="1B1F2A"/>
                </a:solidFill>
              </a:rPr>
              <a:t>joins, deposits, withdrawals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6BBC7541-339C-4D1F-B4DA-773808D4C1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4200" y="3600450"/>
            <a:ext cx="76200" cy="762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59E0B"/>
          </a:solidFill>
          <a:ln xmlns:a="http://schemas.openxmlformats.org/drawingml/2006/main">
            <a:solidFill>
              <a:srgbClr val="F59E0B"/>
            </a:solidFill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AB9A24C1-DABE-4E86-855A-DE00C7BA68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3524250"/>
            <a:ext cx="34099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solidFill>
              <a:srgbClr val="D8DDE6"/>
            </a:solidFill>
          </a:ln>
        </p:spPr>
        <p:txBody>
          <a:bodyPr xmlns:a="http://schemas.openxmlformats.org/drawingml/2006/main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r>
              <a:rPr sz="1350">
                <a:solidFill>
                  <a:srgbClr val="1B1F2A"/>
                </a:solidFill>
              </a:rPr>
              <a:t>accepted transitions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97C0DA07-82AF-4A21-A9EA-5353BD5CE7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4200" y="4019550"/>
            <a:ext cx="76200" cy="762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59E0B"/>
          </a:solidFill>
          <a:ln xmlns:a="http://schemas.openxmlformats.org/drawingml/2006/main">
            <a:solidFill>
              <a:srgbClr val="F59E0B"/>
            </a:solidFill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ED1DCD60-0DD4-4B84-9BF0-4EBC02FE10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3943350"/>
            <a:ext cx="34099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solidFill>
              <a:srgbClr val="D8DDE6"/>
            </a:solidFill>
          </a:ln>
        </p:spPr>
        <p:txBody>
          <a:bodyPr xmlns:a="http://schemas.openxmlformats.org/drawingml/2006/main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r>
              <a:rPr sz="1350">
                <a:solidFill>
                  <a:srgbClr val="1B1F2A"/>
                </a:solidFill>
              </a:rPr>
              <a:t>commitments and nullifiers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754D28B8-8B8B-48BA-9AB4-CB5443F486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4200" y="4438650"/>
            <a:ext cx="76200" cy="762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59E0B"/>
          </a:solidFill>
          <a:ln xmlns:a="http://schemas.openxmlformats.org/drawingml/2006/main">
            <a:solidFill>
              <a:srgbClr val="F59E0B"/>
            </a:solidFill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DB722501-18BD-49CB-8749-852858A2D6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4362450"/>
            <a:ext cx="34099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solidFill>
              <a:srgbClr val="D8DDE6"/>
            </a:solidFill>
          </a:ln>
        </p:spPr>
        <p:txBody>
          <a:bodyPr xmlns:a="http://schemas.openxmlformats.org/drawingml/2006/main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r>
              <a:rPr sz="1350">
                <a:solidFill>
                  <a:srgbClr val="1B1F2A"/>
                </a:solidFill>
              </a:rPr>
              <a:t>encrypted note-delivery events</a:t>
            </a:r>
          </a:p>
        </p:txBody>
      </p:sp>
    </p:spTree>
    <p:extLst>
      <p:ext uri="{BB962C8B-B14F-4D97-AF65-F5344CB8AC3E}">
        <p14:creationId xmlns:p14="http://schemas.microsoft.com/office/powerpoint/2010/main" val="1494016974"/>
      </p:ext>
    </p:extLst>
  </p:cSld>
</p:sld>
</file>

<file path=ppt/slides/slide1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70659316-B4BB-42AA-9EDF-4B27092320CB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1524000" y="1122363"/>
            <a:ext cx="9144000" cy="2387600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59B4E16-F54C-4816-9F5A-CA4A146232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8FA"/>
          </a:solidFill>
          <a:ln xmlns:a="http://schemas.openxmlformats.org/drawingml/2006/main">
            <a:solidFill>
              <a:srgbClr val="F7F8FA"/>
            </a:solidFill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62DE88E-A33E-4947-8A25-2EA4955C73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524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>
            <a:solidFill>
              <a:srgbClr val="2563EB"/>
            </a:solidFill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DA00936-FC43-400E-8A59-7693C479DA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00050"/>
            <a:ext cx="5334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solidFill>
              <a:srgbClr val="D8DDE6"/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r>
              <a:rPr sz="900" b="1">
                <a:solidFill>
                  <a:srgbClr val="2563EB"/>
                </a:solidFill>
              </a:rPr>
              <a:t>SECURITY INVARIANTS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65CC9CF-F7F3-4325-B6A3-0805FD7253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723900"/>
            <a:ext cx="72390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solidFill>
              <a:srgbClr val="D8DDE6"/>
            </a:solidFill>
          </a:ln>
        </p:spPr>
        <p:txBody>
          <a:bodyPr xmlns:a="http://schemas.openxmlformats.org/drawingml/2006/main" lIns="0" tIns="0" rIns="0" bIns="0">
            <a:normAutofit fontScale="88809"/>
          </a:bodyPr>
          <a:lstStyle xmlns:a="http://schemas.openxmlformats.org/drawingml/2006/main"/>
          <a:p xmlns:a="http://schemas.openxmlformats.org/drawingml/2006/main">
            <a:r>
              <a:rPr sz="2925" b="1">
                <a:solidFill>
                  <a:srgbClr val="101828"/>
                </a:solidFill>
              </a:rPr>
              <a:t>The Bridge Rejects Ambiguous State Meaning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259E28D-D520-423B-9EC4-D2CC240307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466850"/>
            <a:ext cx="7429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solidFill>
              <a:srgbClr val="D8DDE6"/>
            </a:solidFill>
          </a:ln>
        </p:spPr>
        <p:txBody>
          <a:bodyPr xmlns:a="http://schemas.openxmlformats.org/drawingml/2006/main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r>
              <a:rPr sz="1350">
                <a:solidFill>
                  <a:srgbClr val="5C667A"/>
                </a:solidFill>
              </a:rPr>
              <a:t>The abstract spec turns implementation assumptions into explicit admissibility constraints.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0415114-DE78-423A-8277-1C658102EF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362700"/>
            <a:ext cx="111252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DE6"/>
          </a:solidFill>
          <a:ln xmlns:a="http://schemas.openxmlformats.org/drawingml/2006/main">
            <a:solidFill>
              <a:srgbClr val="D8DD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74CB6E2-E714-472B-9CA7-3509EDDF6B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77000"/>
            <a:ext cx="3048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solidFill>
              <a:srgbClr val="D8DDE6"/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r>
              <a:rPr sz="750">
                <a:solidFill>
                  <a:srgbClr val="5C667A"/>
                </a:solidFill>
              </a:rPr>
              <a:t>Tokamak Private App Channels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AA92934-D02F-4EE6-B604-193CF4D983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53800" y="6477000"/>
            <a:ext cx="3048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solidFill>
              <a:srgbClr val="D8DDE6"/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r"/>
            <a:r>
              <a:rPr sz="750">
                <a:solidFill>
                  <a:srgbClr val="5C667A"/>
                </a:solidFill>
              </a:rPr>
              <a:t>15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53D713C-0BE7-46A5-8D72-B320F8D6DF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24100"/>
            <a:ext cx="10439400" cy="11049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52238"/>
          </a:solidFill>
          <a:ln xmlns:a="http://schemas.openxmlformats.org/drawingml/2006/main">
            <a:solidFill>
              <a:srgbClr val="152238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96F9377-F5D9-4C05-8E47-F840CFFF6E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495550"/>
            <a:ext cx="22288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solidFill>
              <a:srgbClr val="D8DDE6"/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/>
            <a:r>
              <a:rPr sz="900" b="1">
                <a:solidFill>
                  <a:srgbClr val="A9B7D0"/>
                </a:solidFill>
              </a:rPr>
              <a:t>DApp storage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90AE978-8F8F-4FB7-93FE-02500DDCFE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781300"/>
            <a:ext cx="24193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solidFill>
              <a:srgbClr val="D8DDE6"/>
            </a:solidFill>
          </a:ln>
        </p:spPr>
        <p:txBody>
          <a:bodyPr xmlns:a="http://schemas.openxmlformats.org/drawingml/2006/main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 algn="ctr"/>
            <a:r>
              <a:rPr sz="1500">
                <a:solidFill>
                  <a:srgbClr val="FFFFFF"/>
                </a:solidFill>
              </a:rPr>
              <a:t>exists! S_d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280AA74-7A38-4D96-BC3C-EBFFAE09B1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6650" y="2495550"/>
            <a:ext cx="22288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solidFill>
              <a:srgbClr val="D8DDE6"/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/>
            <a:r>
              <a:rPr sz="900" b="1">
                <a:solidFill>
                  <a:srgbClr val="A9B7D0"/>
                </a:solidFill>
              </a:rPr>
              <a:t>function uniqueness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2F1E93C-8874-4115-B739-1730D3E1BE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81400" y="2781300"/>
            <a:ext cx="24193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solidFill>
              <a:srgbClr val="D8DDE6"/>
            </a:solidFill>
          </a:ln>
        </p:spPr>
        <p:txBody>
          <a:bodyPr xmlns:a="http://schemas.openxmlformats.org/drawingml/2006/main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 algn="ctr"/>
            <a:r>
              <a:rPr sz="1500">
                <a:solidFill>
                  <a:srgbClr val="FFFFFF"/>
                </a:solidFill>
              </a:rPr>
              <a:t>(d,f) -&gt; (p,L)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E9D3B2B-81E5-4A5A-8D73-804BE89C71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6150" y="2457450"/>
            <a:ext cx="9525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1506A"/>
          </a:solidFill>
          <a:ln xmlns:a="http://schemas.openxmlformats.org/drawingml/2006/main">
            <a:solidFill>
              <a:srgbClr val="41506A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7A5F767-4680-485E-B380-77BD684459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2495550"/>
            <a:ext cx="22288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solidFill>
              <a:srgbClr val="D8DDE6"/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/>
            <a:r>
              <a:rPr sz="900" b="1">
                <a:solidFill>
                  <a:srgbClr val="A9B7D0"/>
                </a:solidFill>
              </a:rPr>
              <a:t>channel uniqueness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905CC9A-DEEB-4639-9886-3B71505F5C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781300"/>
            <a:ext cx="24193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solidFill>
              <a:srgbClr val="D8DDE6"/>
            </a:solidFill>
          </a:ln>
        </p:spPr>
        <p:txBody>
          <a:bodyPr xmlns:a="http://schemas.openxmlformats.org/drawingml/2006/main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 algn="ctr"/>
            <a:r>
              <a:rPr sz="1500">
                <a:solidFill>
                  <a:srgbClr val="FFFFFF"/>
                </a:solidFill>
              </a:rPr>
              <a:t>exists! C_c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24DC742-3D3E-4A8D-80C8-BE2B0EB1B8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2457450"/>
            <a:ext cx="9525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1506A"/>
          </a:solidFill>
          <a:ln xmlns:a="http://schemas.openxmlformats.org/drawingml/2006/main">
            <a:solidFill>
              <a:srgbClr val="41506A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326D078-CC34-465C-8D2F-6D4FB40E96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96350" y="2495550"/>
            <a:ext cx="22288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solidFill>
              <a:srgbClr val="D8DDE6"/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/>
            <a:r>
              <a:rPr sz="900" b="1">
                <a:solidFill>
                  <a:srgbClr val="A9B7D0"/>
                </a:solidFill>
              </a:rPr>
              <a:t>leaf index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3EB3947-B4A8-4F33-BF51-419816475F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01100" y="2781300"/>
            <a:ext cx="24193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solidFill>
              <a:srgbClr val="D8DDE6"/>
            </a:solidFill>
          </a:ln>
        </p:spPr>
        <p:txBody>
          <a:bodyPr xmlns:a="http://schemas.openxmlformats.org/drawingml/2006/main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 algn="ctr"/>
            <a:r>
              <a:rPr sz="1500">
                <a:solidFill>
                  <a:srgbClr val="FFFFFF"/>
                </a:solidFill>
              </a:rPr>
              <a:t>LeafIndex(k)=k mod N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4948277-495F-4234-B53B-B865B270EB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05850" y="2457450"/>
            <a:ext cx="9525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1506A"/>
          </a:solidFill>
          <a:ln xmlns:a="http://schemas.openxmlformats.org/drawingml/2006/main">
            <a:solidFill>
              <a:srgbClr val="41506A"/>
            </a:solidFill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7ED9812-76E9-4570-92E0-9466CCB44F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000500"/>
            <a:ext cx="3181350" cy="123825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DE6"/>
            </a:solidFill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9C7BA835-9FFC-4EE8-96CA-6C0D0DEB16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000500"/>
            <a:ext cx="47625" cy="1238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>
            <a:solidFill>
              <a:srgbClr val="2563EB"/>
            </a:solidFill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1E086080-A26E-478F-9D93-59FF71F6AC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4171950"/>
            <a:ext cx="2762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solidFill>
              <a:srgbClr val="D8DDE6"/>
            </a:solidFill>
          </a:ln>
        </p:spPr>
        <p:txBody>
          <a:bodyPr xmlns:a="http://schemas.openxmlformats.org/drawingml/2006/main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r>
              <a:rPr sz="1350" b="1">
                <a:solidFill>
                  <a:srgbClr val="1B1F2A"/>
                </a:solidFill>
              </a:rPr>
              <a:t>Storage-vector ordering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767CA6F4-0395-4002-8CD5-67F8115DDF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4533900"/>
            <a:ext cx="27622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solidFill>
              <a:srgbClr val="D8DDE6"/>
            </a:solidFill>
          </a:ln>
        </p:spPr>
        <p:txBody>
          <a:bodyPr xmlns:a="http://schemas.openxmlformats.org/drawingml/2006/main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r>
              <a:rPr sz="1050">
                <a:solidFill>
                  <a:srgbClr val="5C667A"/>
                </a:solidFill>
              </a:rPr>
              <a:t>Every root vector, storage-write descriptor, snapshot, and proof input must use the same DApp-wide storage order.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053CE478-2257-4F37-B5B1-D65856EDF7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4000500"/>
            <a:ext cx="3181350" cy="123825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DE6"/>
            </a:solidFill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108C0460-09E0-4740-A8E9-07D2AE497D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4000500"/>
            <a:ext cx="47625" cy="1238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1A67A"/>
          </a:solidFill>
          <a:ln xmlns:a="http://schemas.openxmlformats.org/drawingml/2006/main">
            <a:solidFill>
              <a:srgbClr val="21A67A"/>
            </a:solidFill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85A7AC86-DD2A-42E2-8930-5D6C12418C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24400" y="4171950"/>
            <a:ext cx="2762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solidFill>
              <a:srgbClr val="D8DDE6"/>
            </a:solidFill>
          </a:ln>
        </p:spPr>
        <p:txBody>
          <a:bodyPr xmlns:a="http://schemas.openxmlformats.org/drawingml/2006/main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r>
              <a:rPr sz="1350" b="1">
                <a:solidFill>
                  <a:srgbClr val="1B1F2A"/>
                </a:solidFill>
              </a:rPr>
              <a:t>Proof-gated transition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BEFDDB94-D9D3-4866-9E4E-EB444B7988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24400" y="4533900"/>
            <a:ext cx="27622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solidFill>
              <a:srgbClr val="D8DDE6"/>
            </a:solidFill>
          </a:ln>
        </p:spPr>
        <p:txBody>
          <a:bodyPr xmlns:a="http://schemas.openxmlformats.org/drawingml/2006/main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r>
              <a:rPr sz="1050">
                <a:solidFill>
                  <a:srgbClr val="5C667A"/>
                </a:solidFill>
              </a:rPr>
              <a:t>A state update becomes meaningful only when proof verification and bridge metadata checks both succeed.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A190BAD2-445E-46D0-91D8-4C80E462C7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4000500"/>
            <a:ext cx="3181350" cy="123825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DE6"/>
            </a:solidFill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B2E4B0FC-C882-4191-8B13-5245296B91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4000500"/>
            <a:ext cx="47625" cy="1238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4A4A"/>
          </a:solidFill>
          <a:ln xmlns:a="http://schemas.openxmlformats.org/drawingml/2006/main">
            <a:solidFill>
              <a:srgbClr val="D94A4A"/>
            </a:solidFill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B40B64D2-75A4-464C-9A42-0A019E69AB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4171950"/>
            <a:ext cx="2762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solidFill>
              <a:srgbClr val="D8DDE6"/>
            </a:solidFill>
          </a:ln>
        </p:spPr>
        <p:txBody>
          <a:bodyPr xmlns:a="http://schemas.openxmlformats.org/drawingml/2006/main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r>
              <a:rPr sz="1350" b="1">
                <a:solidFill>
                  <a:srgbClr val="1B1F2A"/>
                </a:solidFill>
              </a:rPr>
              <a:t>No arbitrary ABI execution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3B4794BD-635E-43BD-85EA-981190328A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4533900"/>
            <a:ext cx="27622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solidFill>
              <a:srgbClr val="D8DDE6"/>
            </a:solidFill>
          </a:ln>
        </p:spPr>
        <p:txBody>
          <a:bodyPr xmlns:a="http://schemas.openxmlformats.org/drawingml/2006/main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r>
              <a:rPr sz="1050">
                <a:solidFill>
                  <a:srgbClr val="5C667A"/>
                </a:solidFill>
              </a:rPr>
              <a:t>The bridge does not accept a selector merely because it exists in deployed bytecode.</a:t>
            </a:r>
          </a:p>
        </p:txBody>
      </p:sp>
    </p:spTree>
    <p:extLst>
      <p:ext uri="{BB962C8B-B14F-4D97-AF65-F5344CB8AC3E}">
        <p14:creationId xmlns:p14="http://schemas.microsoft.com/office/powerpoint/2010/main" val="886832411"/>
      </p:ext>
    </p:extLst>
  </p:cSld>
</p:sld>
</file>

<file path=ppt/slides/slide1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70659316-B4BB-42AA-9EDF-4B27092320CB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1524000" y="1122363"/>
            <a:ext cx="9144000" cy="2387600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38CD2D2-B5DC-481D-8D8F-F712F67BBE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8FA"/>
          </a:solidFill>
          <a:ln xmlns:a="http://schemas.openxmlformats.org/drawingml/2006/main">
            <a:solidFill>
              <a:srgbClr val="F7F8FA"/>
            </a:solidFill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EE3FF8F-D3B8-4D12-A271-0C9E4EA24D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524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>
            <a:solidFill>
              <a:srgbClr val="2563EB"/>
            </a:solidFill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93540C6-8990-432C-B313-17EBB46E22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00050"/>
            <a:ext cx="5334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solidFill>
              <a:srgbClr val="D8DDE6"/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r>
              <a:rPr sz="900" b="1">
                <a:solidFill>
                  <a:srgbClr val="2563EB"/>
                </a:solidFill>
              </a:rPr>
              <a:t>IMPLEMENTATION MAPPING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020B5D1-C521-4330-923A-7B9186C813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723900"/>
            <a:ext cx="72390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solidFill>
              <a:srgbClr val="D8DDE6"/>
            </a:solidFill>
          </a:ln>
        </p:spPr>
        <p:txBody>
          <a:bodyPr xmlns:a="http://schemas.openxmlformats.org/drawingml/2006/main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r>
              <a:rPr sz="2925" b="1">
                <a:solidFill>
                  <a:srgbClr val="101828"/>
                </a:solidFill>
              </a:rPr>
              <a:t>Concepts to Contracts and Scripts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DB59CA3-55ED-41A8-B04C-77F2ABB15D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466850"/>
            <a:ext cx="7429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solidFill>
              <a:srgbClr val="D8DDE6"/>
            </a:solidFill>
          </a:ln>
        </p:spPr>
        <p:txBody>
          <a:bodyPr xmlns:a="http://schemas.openxmlformats.org/drawingml/2006/main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r>
              <a:rPr sz="1350">
                <a:solidFill>
                  <a:srgbClr val="5C667A"/>
                </a:solidFill>
              </a:rPr>
              <a:t>The current codebase separates stable protocol roles from volatile deployment details.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76893A5-04A0-46EE-92C5-59A8636421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362700"/>
            <a:ext cx="111252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DE6"/>
          </a:solidFill>
          <a:ln xmlns:a="http://schemas.openxmlformats.org/drawingml/2006/main">
            <a:solidFill>
              <a:srgbClr val="D8DD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97C3B7F-1B67-4896-B7B7-41FB4BCB55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77000"/>
            <a:ext cx="3048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solidFill>
              <a:srgbClr val="D8DDE6"/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r>
              <a:rPr sz="750">
                <a:solidFill>
                  <a:srgbClr val="5C667A"/>
                </a:solidFill>
              </a:rPr>
              <a:t>Tokamak Private App Channels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ECBA466-A6AA-4AF3-8696-594C188E92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53800" y="6477000"/>
            <a:ext cx="3048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solidFill>
              <a:srgbClr val="D8DDE6"/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r"/>
            <a:r>
              <a:rPr sz="750">
                <a:solidFill>
                  <a:srgbClr val="5C667A"/>
                </a:solidFill>
              </a:rPr>
              <a:t>16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E582314-0DE1-4F4D-AB37-F49F6FB3E3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133600"/>
            <a:ext cx="10553700" cy="33909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DE6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7E38DFF-1D85-44CF-AC90-3FD5FADB94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2343150"/>
            <a:ext cx="342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solidFill>
              <a:srgbClr val="D8DDE6"/>
            </a:solidFill>
          </a:ln>
        </p:spPr>
        <p:txBody>
          <a:bodyPr xmlns:a="http://schemas.openxmlformats.org/drawingml/2006/main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r>
              <a:rPr sz="1200" b="1">
                <a:solidFill>
                  <a:srgbClr val="1B1F2A"/>
                </a:solidFill>
              </a:rPr>
              <a:t>Shared control plane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2BC7BE0-2589-42D1-B434-5886B17BAB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38700" y="2343150"/>
            <a:ext cx="5905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solidFill>
              <a:srgbClr val="D8DDE6"/>
            </a:solidFill>
          </a:ln>
        </p:spPr>
        <p:txBody>
          <a:bodyPr xmlns:a="http://schemas.openxmlformats.org/drawingml/2006/main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r>
              <a:rPr sz="1125">
                <a:solidFill>
                  <a:srgbClr val="5C667A"/>
                </a:solidFill>
              </a:rPr>
              <a:t>BridgeCore, DAppManager, L1TokenVault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A7A56C2-891F-484F-AA2B-FACD5E721D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667000"/>
            <a:ext cx="100774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DE6"/>
          </a:solidFill>
          <a:ln xmlns:a="http://schemas.openxmlformats.org/drawingml/2006/main">
            <a:solidFill>
              <a:srgbClr val="D8DDE6"/>
            </a:solidFill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0BEA6EE-E345-411F-B03F-0A35A5BEF8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2771775"/>
            <a:ext cx="342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solidFill>
              <a:srgbClr val="D8DDE6"/>
            </a:solidFill>
          </a:ln>
        </p:spPr>
        <p:txBody>
          <a:bodyPr xmlns:a="http://schemas.openxmlformats.org/drawingml/2006/main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r>
              <a:rPr sz="1200" b="1">
                <a:solidFill>
                  <a:srgbClr val="1B1F2A"/>
                </a:solidFill>
              </a:rPr>
              <a:t>Per-channel state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D19C1DD-BB66-497C-BCB1-F0C3F50CDE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38700" y="2771775"/>
            <a:ext cx="5905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solidFill>
              <a:srgbClr val="D8DDE6"/>
            </a:solidFill>
          </a:ln>
        </p:spPr>
        <p:txBody>
          <a:bodyPr xmlns:a="http://schemas.openxmlformats.org/drawingml/2006/main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r>
              <a:rPr sz="1125">
                <a:solidFill>
                  <a:srgbClr val="5C667A"/>
                </a:solidFill>
              </a:rPr>
              <a:t>ChannelManager, ChannelDeployer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4183E30-8A0F-43D4-B0F6-41839B6579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095625"/>
            <a:ext cx="100774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DE6"/>
          </a:solidFill>
          <a:ln xmlns:a="http://schemas.openxmlformats.org/drawingml/2006/main">
            <a:solidFill>
              <a:srgbClr val="D8DDE6"/>
            </a:solidFill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3349744-AEC6-4968-82A6-07EF30C38E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200400"/>
            <a:ext cx="342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solidFill>
              <a:srgbClr val="D8DDE6"/>
            </a:solidFill>
          </a:ln>
        </p:spPr>
        <p:txBody>
          <a:bodyPr xmlns:a="http://schemas.openxmlformats.org/drawingml/2006/main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r>
              <a:rPr sz="1200" b="1">
                <a:solidFill>
                  <a:srgbClr val="1B1F2A"/>
                </a:solidFill>
              </a:rPr>
              <a:t>General execution proof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3012001-00E9-4C83-A6D2-C45376B8D6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38700" y="3200400"/>
            <a:ext cx="5905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solidFill>
              <a:srgbClr val="D8DDE6"/>
            </a:solidFill>
          </a:ln>
        </p:spPr>
        <p:txBody>
          <a:bodyPr xmlns:a="http://schemas.openxmlformats.org/drawingml/2006/main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r>
              <a:rPr sz="1125">
                <a:solidFill>
                  <a:srgbClr val="5C667A"/>
                </a:solidFill>
              </a:rPr>
              <a:t>TokamakVerifier and generated setup parameters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95DFBDE-1D00-4F64-BB62-73CDFEF9AF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524250"/>
            <a:ext cx="100774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DE6"/>
          </a:solidFill>
          <a:ln xmlns:a="http://schemas.openxmlformats.org/drawingml/2006/main">
            <a:solidFill>
              <a:srgbClr val="D8DDE6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E493463-2908-41F4-858A-28BB0635CF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629025"/>
            <a:ext cx="342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solidFill>
              <a:srgbClr val="D8DDE6"/>
            </a:solidFill>
          </a:ln>
        </p:spPr>
        <p:txBody>
          <a:bodyPr xmlns:a="http://schemas.openxmlformats.org/drawingml/2006/main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r>
              <a:rPr sz="1200" b="1">
                <a:solidFill>
                  <a:srgbClr val="1B1F2A"/>
                </a:solidFill>
              </a:rPr>
              <a:t>Vault accounting proof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32AF0E8-F9C5-4E8A-A456-05AE696F55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38700" y="3629025"/>
            <a:ext cx="5905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solidFill>
              <a:srgbClr val="D8DDE6"/>
            </a:solidFill>
          </a:ln>
        </p:spPr>
        <p:txBody>
          <a:bodyPr xmlns:a="http://schemas.openxmlformats.org/drawingml/2006/main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r>
              <a:rPr sz="1125">
                <a:solidFill>
                  <a:srgbClr val="5C667A"/>
                </a:solidFill>
              </a:rPr>
              <a:t>Groth16Verifier and updateTree verifier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6F7EDCB-D344-437D-999A-8FA3D63F00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952875"/>
            <a:ext cx="100774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DE6"/>
          </a:solidFill>
          <a:ln xmlns:a="http://schemas.openxmlformats.org/drawingml/2006/main">
            <a:solidFill>
              <a:srgbClr val="D8DDE6"/>
            </a:solidFill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344FC26-7BAA-483B-9D47-BB40131D34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057650"/>
            <a:ext cx="342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solidFill>
              <a:srgbClr val="D8DDE6"/>
            </a:solidFill>
          </a:ln>
        </p:spPr>
        <p:txBody>
          <a:bodyPr xmlns:a="http://schemas.openxmlformats.org/drawingml/2006/main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r>
              <a:rPr sz="1200" b="1">
                <a:solidFill>
                  <a:srgbClr val="1B1F2A"/>
                </a:solidFill>
              </a:rPr>
              <a:t>DApp registration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4586902E-70AB-4931-BB02-3085A7A652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38700" y="4057650"/>
            <a:ext cx="5905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solidFill>
              <a:srgbClr val="D8DDE6"/>
            </a:solidFill>
          </a:ln>
        </p:spPr>
        <p:txBody>
          <a:bodyPr xmlns:a="http://schemas.openxmlformats.org/drawingml/2006/main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r>
              <a:rPr sz="1125">
                <a:solidFill>
                  <a:srgbClr val="5C667A"/>
                </a:solidFill>
              </a:rPr>
              <a:t>bridge/scripts/admin-add-dapp.mjs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2539E539-A968-4EDA-AAC1-375AD145C1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4381500"/>
            <a:ext cx="100774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DE6"/>
          </a:solidFill>
          <a:ln xmlns:a="http://schemas.openxmlformats.org/drawingml/2006/main">
            <a:solidFill>
              <a:srgbClr val="D8DDE6"/>
            </a:solidFill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30095419-7B54-4C80-818F-0780F1268A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486275"/>
            <a:ext cx="342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solidFill>
              <a:srgbClr val="D8DDE6"/>
            </a:solidFill>
          </a:ln>
        </p:spPr>
        <p:txBody>
          <a:bodyPr xmlns:a="http://schemas.openxmlformats.org/drawingml/2006/main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r>
              <a:rPr sz="1200" b="1">
                <a:solidFill>
                  <a:srgbClr val="1B1F2A"/>
                </a:solidFill>
              </a:rPr>
              <a:t>Bridge deployment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09E9917D-F8FE-4926-8EE2-2E0B2CA5DA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38700" y="4486275"/>
            <a:ext cx="5905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solidFill>
              <a:srgbClr val="D8DDE6"/>
            </a:solidFill>
          </a:ln>
        </p:spPr>
        <p:txBody>
          <a:bodyPr xmlns:a="http://schemas.openxmlformats.org/drawingml/2006/main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r>
              <a:rPr sz="1125">
                <a:solidFill>
                  <a:srgbClr val="5C667A"/>
                </a:solidFill>
              </a:rPr>
              <a:t>bridge/scripts/deploy-bridge.mjs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8E976CF9-AB91-4D28-91E6-4FAD895B59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4810125"/>
            <a:ext cx="100774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DE6"/>
          </a:solidFill>
          <a:ln xmlns:a="http://schemas.openxmlformats.org/drawingml/2006/main">
            <a:solidFill>
              <a:srgbClr val="D8DDE6"/>
            </a:solidFill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6A63C0E9-3F0C-4115-9411-181E078FB6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914900"/>
            <a:ext cx="342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solidFill>
              <a:srgbClr val="D8DDE6"/>
            </a:solidFill>
          </a:ln>
        </p:spPr>
        <p:txBody>
          <a:bodyPr xmlns:a="http://schemas.openxmlformats.org/drawingml/2006/main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r>
              <a:rPr sz="1200" b="1">
                <a:solidFill>
                  <a:srgbClr val="1B1F2A"/>
                </a:solidFill>
              </a:rPr>
              <a:t>Private-state CLI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1398968F-680E-4EE8-9617-B83A8DF31A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38700" y="4914900"/>
            <a:ext cx="5905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solidFill>
              <a:srgbClr val="D8DDE6"/>
            </a:solidFill>
          </a:ln>
        </p:spPr>
        <p:txBody>
          <a:bodyPr xmlns:a="http://schemas.openxmlformats.org/drawingml/2006/main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r>
              <a:rPr sz="1125">
                <a:solidFill>
                  <a:srgbClr val="5C667A"/>
                </a:solidFill>
              </a:rPr>
              <a:t>packages/apps/private-state/cli</a:t>
            </a:r>
          </a:p>
        </p:txBody>
      </p:sp>
    </p:spTree>
    <p:extLst>
      <p:ext uri="{BB962C8B-B14F-4D97-AF65-F5344CB8AC3E}">
        <p14:creationId xmlns:p14="http://schemas.microsoft.com/office/powerpoint/2010/main" val="167046767"/>
      </p:ext>
    </p:extLst>
  </p:cSld>
</p:sld>
</file>

<file path=ppt/slides/slide1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70659316-B4BB-42AA-9EDF-4B27092320CB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1524000" y="1122363"/>
            <a:ext cx="9144000" cy="2387600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4C7A573-78FD-40BC-B5F4-C1AC60AF11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8FA"/>
          </a:solidFill>
          <a:ln xmlns:a="http://schemas.openxmlformats.org/drawingml/2006/main">
            <a:solidFill>
              <a:srgbClr val="F7F8FA"/>
            </a:solidFill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FF3341D-00B7-4735-A554-F6CBB78FB0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524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>
            <a:solidFill>
              <a:srgbClr val="2563EB"/>
            </a:solidFill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360831C-7AB1-4C80-A8EF-75C6D03E76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00050"/>
            <a:ext cx="5334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solidFill>
              <a:srgbClr val="D8DDE6"/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r>
              <a:rPr sz="900" b="1">
                <a:solidFill>
                  <a:srgbClr val="2563EB"/>
                </a:solidFill>
              </a:rPr>
              <a:t>DEVELOPER WORKFLOW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5860B44-E88D-40BA-9B22-FDF9334321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723900"/>
            <a:ext cx="72390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solidFill>
              <a:srgbClr val="D8DDE6"/>
            </a:solidFill>
          </a:ln>
        </p:spPr>
        <p:txBody>
          <a:bodyPr xmlns:a="http://schemas.openxmlformats.org/drawingml/2006/main" lIns="0" tIns="0" rIns="0" bIns="0">
            <a:normAutofit fontScale="97455"/>
          </a:bodyPr>
          <a:lstStyle xmlns:a="http://schemas.openxmlformats.org/drawingml/2006/main"/>
          <a:p xmlns:a="http://schemas.openxmlformats.org/drawingml/2006/main">
            <a:r>
              <a:rPr sz="2925" b="1">
                <a:solidFill>
                  <a:srgbClr val="101828"/>
                </a:solidFill>
              </a:rPr>
              <a:t>How to Implement and Operate a Channel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D646174-158C-424B-9944-44A931F75B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466850"/>
            <a:ext cx="7429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solidFill>
              <a:srgbClr val="D8DDE6"/>
            </a:solidFill>
          </a:ln>
        </p:spPr>
        <p:txBody>
          <a:bodyPr xmlns:a="http://schemas.openxmlformats.org/drawingml/2006/main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r>
              <a:rPr sz="1350">
                <a:solidFill>
                  <a:srgbClr val="5C667A"/>
                </a:solidFill>
              </a:rPr>
              <a:t>The workflow turns contracts, synthesizer metadata, and CLI proof generation into one bridge-coupled path.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55E878C-11B4-4555-AF1E-EE1F90764F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362700"/>
            <a:ext cx="111252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DE6"/>
          </a:solidFill>
          <a:ln xmlns:a="http://schemas.openxmlformats.org/drawingml/2006/main">
            <a:solidFill>
              <a:srgbClr val="D8DD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52828AE-27CE-4F72-B280-83D6DC0DC0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77000"/>
            <a:ext cx="3048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solidFill>
              <a:srgbClr val="D8DDE6"/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r>
              <a:rPr sz="750">
                <a:solidFill>
                  <a:srgbClr val="5C667A"/>
                </a:solidFill>
              </a:rPr>
              <a:t>Tokamak Private App Channels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A90389F-CA69-4CBE-A9C6-AEFF1A8AB4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53800" y="6477000"/>
            <a:ext cx="3048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solidFill>
              <a:srgbClr val="D8DDE6"/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r"/>
            <a:r>
              <a:rPr sz="750">
                <a:solidFill>
                  <a:srgbClr val="5C667A"/>
                </a:solidFill>
              </a:rPr>
              <a:t>17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4987F8A-AF95-4E2E-B7E8-FB89375921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2495550"/>
            <a:ext cx="2667000" cy="78105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DE6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2F630CC-628B-4626-83D4-A3EBEDD21D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2686050"/>
            <a:ext cx="381000" cy="3810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>
            <a:solidFill>
              <a:srgbClr val="2563EB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EAC4851-6455-4E44-B479-EEB5DD89B0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2771775"/>
            <a:ext cx="381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solidFill>
              <a:srgbClr val="D8DDE6"/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/>
            <a:r>
              <a:rPr sz="1275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9E3AAC7-C085-4D2F-A2DE-EAA97DF61C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667000"/>
            <a:ext cx="17526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solidFill>
              <a:srgbClr val="D8DDE6"/>
            </a:solidFill>
          </a:ln>
        </p:spPr>
        <p:txBody>
          <a:bodyPr xmlns:a="http://schemas.openxmlformats.org/drawingml/2006/main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r>
              <a:rPr sz="1200" b="1">
                <a:solidFill>
                  <a:srgbClr val="1B1F2A"/>
                </a:solidFill>
              </a:rPr>
              <a:t>Deploy bridge stack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7570872-65E0-4D78-ADCF-EB6EEB98D1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2828925"/>
            <a:ext cx="514350" cy="1143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>
            <a:solidFill>
              <a:srgbClr val="2563EB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15D2C47-DE26-4D4E-93BE-61FACDAE8C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2495550"/>
            <a:ext cx="2667000" cy="78105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DE6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40FD408-9003-4C3B-821A-08436D3BD8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1050" y="2686050"/>
            <a:ext cx="381000" cy="3810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>
            <a:solidFill>
              <a:srgbClr val="2563EB"/>
            </a:solidFill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B4A2A51-14FD-4C5A-8AA2-282C6725AF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1050" y="2771775"/>
            <a:ext cx="381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solidFill>
              <a:srgbClr val="D8DDE6"/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/>
            <a:r>
              <a:rPr sz="1275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5BC62D0-CF9F-46BE-A14A-6C3B203AFF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05400" y="2667000"/>
            <a:ext cx="17526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solidFill>
              <a:srgbClr val="D8DDE6"/>
            </a:solidFill>
          </a:ln>
        </p:spPr>
        <p:txBody>
          <a:bodyPr xmlns:a="http://schemas.openxmlformats.org/drawingml/2006/main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r>
              <a:rPr sz="1200" b="1">
                <a:solidFill>
                  <a:srgbClr val="1B1F2A"/>
                </a:solidFill>
              </a:rPr>
              <a:t>Deploy private-state DApp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DAB98B2-5566-4D80-9BB4-9E206D73CD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86600" y="2828925"/>
            <a:ext cx="514350" cy="1143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>
            <a:solidFill>
              <a:srgbClr val="2563EB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5906C40-8DEF-4806-B4EB-0BEFE91D5D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53350" y="2495550"/>
            <a:ext cx="2667000" cy="78105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DE6"/>
            </a:solidFill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EDB294D-686D-4169-B86A-9254429CE6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2686050"/>
            <a:ext cx="381000" cy="3810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>
            <a:solidFill>
              <a:srgbClr val="2563EB"/>
            </a:solidFill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DE1A0C9-AF3D-4483-986B-D85BB8C040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2771775"/>
            <a:ext cx="381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solidFill>
              <a:srgbClr val="D8DDE6"/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/>
            <a:r>
              <a:rPr sz="1275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F85EF030-5CB5-4484-B0EF-532535F655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39150" y="2667000"/>
            <a:ext cx="17526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solidFill>
              <a:srgbClr val="D8DDE6"/>
            </a:solidFill>
          </a:ln>
        </p:spPr>
        <p:txBody>
          <a:bodyPr xmlns:a="http://schemas.openxmlformats.org/drawingml/2006/main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r>
              <a:rPr sz="1200" b="1">
                <a:solidFill>
                  <a:srgbClr val="1B1F2A"/>
                </a:solidFill>
              </a:rPr>
              <a:t>Synthesize and preprocess examples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B06F4713-A91A-492B-A07F-822CDF71FD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15400" y="3276600"/>
            <a:ext cx="114300" cy="895350"/>
          </a:xfrm>
          <a:prstGeom xmlns:a="http://schemas.openxmlformats.org/drawingml/2006/main" prst="downArrow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>
            <a:solidFill>
              <a:srgbClr val="2563EB"/>
            </a:solidFill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55D9EEDC-412B-49B4-9EFC-5606921CC9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4171950"/>
            <a:ext cx="2667000" cy="78105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DE6"/>
            </a:solidFill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16B23F21-4D2C-4176-A001-E740BFF424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4362450"/>
            <a:ext cx="381000" cy="3810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21A67A"/>
          </a:solidFill>
          <a:ln xmlns:a="http://schemas.openxmlformats.org/drawingml/2006/main">
            <a:solidFill>
              <a:srgbClr val="21A67A"/>
            </a:solidFill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E07A86DF-7D86-43BC-86DB-006A388B50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4448175"/>
            <a:ext cx="381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solidFill>
              <a:srgbClr val="D8DDE6"/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/>
            <a:r>
              <a:rPr sz="1275" b="1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C353298F-B13E-4BA9-A9C3-C7D5CE7103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343400"/>
            <a:ext cx="17526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solidFill>
              <a:srgbClr val="D8DDE6"/>
            </a:solidFill>
          </a:ln>
        </p:spPr>
        <p:txBody>
          <a:bodyPr xmlns:a="http://schemas.openxmlformats.org/drawingml/2006/main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r>
              <a:rPr sz="1200" b="1">
                <a:solidFill>
                  <a:srgbClr val="1B1F2A"/>
                </a:solidFill>
              </a:rPr>
              <a:t>Register DApp metadata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B21C5200-F3E1-42F7-A329-CEE598BAFC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4505325"/>
            <a:ext cx="514350" cy="1143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>
            <a:solidFill>
              <a:srgbClr val="2563EB"/>
            </a:solidFill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F1B29D8F-5718-4B32-B6A2-80D39B2173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4171950"/>
            <a:ext cx="2667000" cy="78105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DE6"/>
            </a:solidFill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9C4077F8-FB8F-443F-AECF-8F925F4895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1050" y="4362450"/>
            <a:ext cx="381000" cy="3810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21A67A"/>
          </a:solidFill>
          <a:ln xmlns:a="http://schemas.openxmlformats.org/drawingml/2006/main">
            <a:solidFill>
              <a:srgbClr val="21A67A"/>
            </a:solidFill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4EFD2311-F6E5-43A8-A084-29624A2D09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1050" y="4448175"/>
            <a:ext cx="381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solidFill>
              <a:srgbClr val="D8DDE6"/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/>
            <a:r>
              <a:rPr sz="1275" b="1">
                <a:solidFill>
                  <a:srgbClr val="FFFFFF"/>
                </a:solidFill>
              </a:rPr>
              <a:t>5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9A338CF7-6D5E-4ED6-B4F1-2EC45FC6B7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05400" y="4343400"/>
            <a:ext cx="17526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solidFill>
              <a:srgbClr val="D8DDE6"/>
            </a:solidFill>
          </a:ln>
        </p:spPr>
        <p:txBody>
          <a:bodyPr xmlns:a="http://schemas.openxmlformats.org/drawingml/2006/main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r>
              <a:rPr sz="1200" b="1">
                <a:solidFill>
                  <a:srgbClr val="1B1F2A"/>
                </a:solidFill>
              </a:rPr>
              <a:t>Create or join a channel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EA887FBD-1985-4A6F-ACD5-48A6FC9200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86600" y="4505325"/>
            <a:ext cx="514350" cy="1143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>
            <a:solidFill>
              <a:srgbClr val="2563EB"/>
            </a:solidFill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03BDE4EE-4C5C-4A47-B51E-37865A5C6E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53350" y="4171950"/>
            <a:ext cx="2667000" cy="78105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DE6"/>
            </a:solidFill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2AFEB79A-0D2D-4914-8366-FF25EA6EA5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4362450"/>
            <a:ext cx="381000" cy="3810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21A67A"/>
          </a:solidFill>
          <a:ln xmlns:a="http://schemas.openxmlformats.org/drawingml/2006/main">
            <a:solidFill>
              <a:srgbClr val="21A67A"/>
            </a:solidFill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00C633E2-7FD0-4C8A-9ABC-D21AE2BD68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4448175"/>
            <a:ext cx="381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solidFill>
              <a:srgbClr val="D8DDE6"/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/>
            <a:r>
              <a:rPr sz="1275" b="1">
                <a:solidFill>
                  <a:srgbClr val="FFFFFF"/>
                </a:solidFill>
              </a:rPr>
              <a:t>6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B3312A7B-14B9-4FE2-865C-C6B12CDA1A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39150" y="4343400"/>
            <a:ext cx="17526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solidFill>
              <a:srgbClr val="D8DDE6"/>
            </a:solidFill>
          </a:ln>
        </p:spPr>
        <p:txBody>
          <a:bodyPr xmlns:a="http://schemas.openxmlformats.org/drawingml/2006/main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r>
              <a:rPr sz="1200" b="1">
                <a:solidFill>
                  <a:srgbClr val="1B1F2A"/>
                </a:solidFill>
              </a:rPr>
              <a:t>Submit proof-backed wallet operations</a:t>
            </a:r>
          </a:p>
        </p:txBody>
      </p:sp>
    </p:spTree>
    <p:extLst>
      <p:ext uri="{BB962C8B-B14F-4D97-AF65-F5344CB8AC3E}">
        <p14:creationId xmlns:p14="http://schemas.microsoft.com/office/powerpoint/2010/main" val="2045247608"/>
      </p:ext>
    </p:extLst>
  </p:cSld>
</p:sld>
</file>

<file path=ppt/slides/slide1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70659316-B4BB-42AA-9EDF-4B27092320CB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1524000" y="1122363"/>
            <a:ext cx="9144000" cy="2387600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43CEEB3-2022-4800-956C-D9DBAFDAA5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8FA"/>
          </a:solidFill>
          <a:ln xmlns:a="http://schemas.openxmlformats.org/drawingml/2006/main">
            <a:solidFill>
              <a:srgbClr val="F7F8FA"/>
            </a:solidFill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51D5334-B594-41B7-9D6A-1EF82D0DCA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524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>
            <a:solidFill>
              <a:srgbClr val="2563EB"/>
            </a:solidFill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9592A1D-784E-46AE-828E-DD28929C88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00050"/>
            <a:ext cx="5334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solidFill>
              <a:srgbClr val="D8DDE6"/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r>
              <a:rPr sz="900" b="1">
                <a:solidFill>
                  <a:srgbClr val="2563EB"/>
                </a:solidFill>
              </a:rPr>
              <a:t>TRADEOFFS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3B15A80-7969-46E4-96E9-E17F41DA85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723900"/>
            <a:ext cx="72390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solidFill>
              <a:srgbClr val="D8DDE6"/>
            </a:solidFill>
          </a:ln>
        </p:spPr>
        <p:txBody>
          <a:bodyPr xmlns:a="http://schemas.openxmlformats.org/drawingml/2006/main" lIns="0" tIns="0" rIns="0" bIns="0">
            <a:normAutofit fontScale="95058"/>
          </a:bodyPr>
          <a:lstStyle xmlns:a="http://schemas.openxmlformats.org/drawingml/2006/main"/>
          <a:p xmlns:a="http://schemas.openxmlformats.org/drawingml/2006/main">
            <a:r>
              <a:rPr sz="2925" b="1">
                <a:solidFill>
                  <a:srgbClr val="101828"/>
                </a:solidFill>
              </a:rPr>
              <a:t>Open Research and Engineering Questions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31E771E-DE0C-4701-80C8-8431436C80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466850"/>
            <a:ext cx="7429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solidFill>
              <a:srgbClr val="D8DDE6"/>
            </a:solidFill>
          </a:ln>
        </p:spPr>
        <p:txBody>
          <a:bodyPr xmlns:a="http://schemas.openxmlformats.org/drawingml/2006/main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r>
              <a:rPr sz="1350">
                <a:solidFill>
                  <a:srgbClr val="5C667A"/>
                </a:solidFill>
              </a:rPr>
              <a:t>The design chooses explicit policy and isolation over some forms of global flexibility.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6905DE7-D30E-4363-899F-0D0BB331BE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362700"/>
            <a:ext cx="111252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DE6"/>
          </a:solidFill>
          <a:ln xmlns:a="http://schemas.openxmlformats.org/drawingml/2006/main">
            <a:solidFill>
              <a:srgbClr val="D8DD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453A15F-7CA6-4753-8255-1CEEF71480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77000"/>
            <a:ext cx="3048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solidFill>
              <a:srgbClr val="D8DDE6"/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r>
              <a:rPr sz="750">
                <a:solidFill>
                  <a:srgbClr val="5C667A"/>
                </a:solidFill>
              </a:rPr>
              <a:t>Tokamak Private App Channels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1BADA11-E585-4C36-BB15-45A3B471FF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53800" y="6477000"/>
            <a:ext cx="3048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solidFill>
              <a:srgbClr val="D8DDE6"/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r"/>
            <a:r>
              <a:rPr sz="750">
                <a:solidFill>
                  <a:srgbClr val="5C667A"/>
                </a:solidFill>
              </a:rPr>
              <a:t>18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53776E1-37B2-40DD-A1DA-A774E86C34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266950"/>
            <a:ext cx="4953000" cy="131445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DE6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CB180F9-C792-4C38-973B-9737D0E966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266950"/>
            <a:ext cx="47625" cy="1314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>
            <a:solidFill>
              <a:srgbClr val="2563EB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A5E0CEF-D7C2-4EA2-AA50-0704434DEC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438400"/>
            <a:ext cx="45339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solidFill>
              <a:srgbClr val="D8DDE6"/>
            </a:solidFill>
          </a:ln>
        </p:spPr>
        <p:txBody>
          <a:bodyPr xmlns:a="http://schemas.openxmlformats.org/drawingml/2006/main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r>
              <a:rPr sz="1350" b="1">
                <a:solidFill>
                  <a:srgbClr val="1B1F2A"/>
                </a:solidFill>
              </a:rPr>
              <a:t>Isolation vs composability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A5E8B7C-C73B-4F87-8BCB-E51A603FB9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800350"/>
            <a:ext cx="45339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solidFill>
              <a:srgbClr val="D8DDE6"/>
            </a:solidFill>
          </a:ln>
        </p:spPr>
        <p:txBody>
          <a:bodyPr xmlns:a="http://schemas.openxmlformats.org/drawingml/2006/main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r>
              <a:rPr sz="1050">
                <a:solidFill>
                  <a:srgbClr val="5C667A"/>
                </a:solidFill>
              </a:rPr>
              <a:t>Per-channel execution gives tight safety boundaries, but cross-channel composition is not the primary optimization target.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CB3CADD-E72C-4B6D-80A7-397A55F21B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2266950"/>
            <a:ext cx="4953000" cy="131445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DE6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978FD13-5465-4591-82EB-15B8779AB1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2266950"/>
            <a:ext cx="47625" cy="1314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9E0B"/>
          </a:solidFill>
          <a:ln xmlns:a="http://schemas.openxmlformats.org/drawingml/2006/main">
            <a:solidFill>
              <a:srgbClr val="F59E0B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A44369E-2539-43C6-AC59-9C3CD44CD2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91300" y="2438400"/>
            <a:ext cx="45339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solidFill>
              <a:srgbClr val="D8DDE6"/>
            </a:solidFill>
          </a:ln>
        </p:spPr>
        <p:txBody>
          <a:bodyPr xmlns:a="http://schemas.openxmlformats.org/drawingml/2006/main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r>
              <a:rPr sz="1350" b="1">
                <a:solidFill>
                  <a:srgbClr val="1B1F2A"/>
                </a:solidFill>
              </a:rPr>
              <a:t>Immutable policy vs upgradeability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DEA98E5-79B8-44BA-9422-BD0700E747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91300" y="2800350"/>
            <a:ext cx="45339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solidFill>
              <a:srgbClr val="D8DDE6"/>
            </a:solidFill>
          </a:ln>
        </p:spPr>
        <p:txBody>
          <a:bodyPr xmlns:a="http://schemas.openxmlformats.org/drawingml/2006/main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r>
              <a:rPr sz="1050">
                <a:solidFill>
                  <a:srgbClr val="5C667A"/>
                </a:solidFill>
              </a:rPr>
              <a:t>Channel policy bugs normally require a new channel or migration path rather than in-place rewriting.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B51C744-3AC6-40A0-A0DD-9162462A01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4095750"/>
            <a:ext cx="4953000" cy="131445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DE6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01CA639-2914-47ED-BCB4-CBC7CAC3A2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4095750"/>
            <a:ext cx="47625" cy="1314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4A4A"/>
          </a:solidFill>
          <a:ln xmlns:a="http://schemas.openxmlformats.org/drawingml/2006/main">
            <a:solidFill>
              <a:srgbClr val="D94A4A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5B2EDF9-1FCB-4F11-A622-178A73BA91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4267200"/>
            <a:ext cx="45339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solidFill>
              <a:srgbClr val="D8DDE6"/>
            </a:solidFill>
          </a:ln>
        </p:spPr>
        <p:txBody>
          <a:bodyPr xmlns:a="http://schemas.openxmlformats.org/drawingml/2006/main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r>
              <a:rPr sz="1350" b="1">
                <a:solidFill>
                  <a:srgbClr val="1B1F2A"/>
                </a:solidFill>
              </a:rPr>
              <a:t>Finite Merkle leaf capacity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AB68F82-A964-4B0D-868D-9EEBE78BE3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4629150"/>
            <a:ext cx="45339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solidFill>
              <a:srgbClr val="D8DDE6"/>
            </a:solidFill>
          </a:ln>
        </p:spPr>
        <p:txBody>
          <a:bodyPr xmlns:a="http://schemas.openxmlformats.org/drawingml/2006/main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r>
              <a:rPr sz="1050">
                <a:solidFill>
                  <a:srgbClr val="5C667A"/>
                </a:solidFill>
              </a:rPr>
              <a:t>Storage keys are projected into a finite leaf domain, so capacity and collision risk are channel-lifetime concerns.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9E9EC00-6B1D-4831-A5B1-8815508180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4095750"/>
            <a:ext cx="4953000" cy="131445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DE6"/>
            </a:solidFill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1F443B9-02B4-4151-9BCC-96EF5130D4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4095750"/>
            <a:ext cx="47625" cy="1314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1A67A"/>
          </a:solidFill>
          <a:ln xmlns:a="http://schemas.openxmlformats.org/drawingml/2006/main">
            <a:solidFill>
              <a:srgbClr val="21A67A"/>
            </a:solidFill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C64365FC-727A-4C11-BC4B-860029088C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91300" y="4267200"/>
            <a:ext cx="45339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solidFill>
              <a:srgbClr val="D8DDE6"/>
            </a:solidFill>
          </a:ln>
        </p:spPr>
        <p:txBody>
          <a:bodyPr xmlns:a="http://schemas.openxmlformats.org/drawingml/2006/main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r>
              <a:rPr sz="1350" b="1">
                <a:solidFill>
                  <a:srgbClr val="1B1F2A"/>
                </a:solidFill>
              </a:rPr>
              <a:t>DApp-specific disclosure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9DD046B7-DB39-4A81-A583-B32ACC56CE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91300" y="4629150"/>
            <a:ext cx="45339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solidFill>
              <a:srgbClr val="D8DDE6"/>
            </a:solidFill>
          </a:ln>
        </p:spPr>
        <p:txBody>
          <a:bodyPr xmlns:a="http://schemas.openxmlformats.org/drawingml/2006/main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r>
              <a:rPr sz="1050">
                <a:solidFill>
                  <a:srgbClr val="5C667A"/>
                </a:solidFill>
              </a:rPr>
              <a:t>Compliance, auditability, and selective disclosure must be programmed and documented per DApp.</a:t>
            </a:r>
          </a:p>
        </p:txBody>
      </p:sp>
    </p:spTree>
    <p:extLst>
      <p:ext uri="{BB962C8B-B14F-4D97-AF65-F5344CB8AC3E}">
        <p14:creationId xmlns:p14="http://schemas.microsoft.com/office/powerpoint/2010/main" val="168706548"/>
      </p:ext>
    </p:extLst>
  </p:cSld>
</p:sld>
</file>

<file path=ppt/slides/slide1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70659316-B4BB-42AA-9EDF-4B27092320CB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1524000" y="1122363"/>
            <a:ext cx="9144000" cy="2387600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B598B76-D6AA-40DC-BC26-8E6C85644C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8FA"/>
          </a:solidFill>
          <a:ln xmlns:a="http://schemas.openxmlformats.org/drawingml/2006/main">
            <a:solidFill>
              <a:srgbClr val="F7F8FA"/>
            </a:solidFill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D491AED-4182-462A-924F-F99F7911A2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524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>
            <a:solidFill>
              <a:srgbClr val="2563EB"/>
            </a:solidFill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C4A9B7D-BA48-4CAE-9EE8-62900753B1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00050"/>
            <a:ext cx="5334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solidFill>
              <a:srgbClr val="D8DDE6"/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r>
              <a:rPr sz="900" b="1">
                <a:solidFill>
                  <a:srgbClr val="2563EB"/>
                </a:solidFill>
              </a:rPr>
              <a:t>TAKEAWAYS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8315B37-1D3A-467C-8F2F-0695EF49E0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723900"/>
            <a:ext cx="72390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solidFill>
              <a:srgbClr val="D8DDE6"/>
            </a:solidFill>
          </a:ln>
        </p:spPr>
        <p:txBody>
          <a:bodyPr xmlns:a="http://schemas.openxmlformats.org/drawingml/2006/main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r>
              <a:rPr sz="2925" b="1">
                <a:solidFill>
                  <a:srgbClr val="101828"/>
                </a:solidFill>
              </a:rPr>
              <a:t>What to Remember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B812A1C-082E-478D-AAAE-D853C5A924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466850"/>
            <a:ext cx="7429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solidFill>
              <a:srgbClr val="D8DDE6"/>
            </a:solidFill>
          </a:ln>
        </p:spPr>
        <p:txBody>
          <a:bodyPr xmlns:a="http://schemas.openxmlformats.org/drawingml/2006/main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r>
              <a:rPr sz="1350">
                <a:solidFill>
                  <a:srgbClr val="5C667A"/>
                </a:solidFill>
              </a:rPr>
              <a:t>Tokamak Private App Channels are a bridge fabric for validity-proven DApp-specific execution.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C4C1E08-18A3-49F4-A4F3-1D22864857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362700"/>
            <a:ext cx="111252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DE6"/>
          </a:solidFill>
          <a:ln xmlns:a="http://schemas.openxmlformats.org/drawingml/2006/main">
            <a:solidFill>
              <a:srgbClr val="D8DD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C2A2CB0-6278-42F8-B842-B106F4EC1F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77000"/>
            <a:ext cx="3048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solidFill>
              <a:srgbClr val="D8DDE6"/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r>
              <a:rPr sz="750">
                <a:solidFill>
                  <a:srgbClr val="5C667A"/>
                </a:solidFill>
              </a:rPr>
              <a:t>Tokamak Private App Channels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460D2F7-1954-4364-B995-39F3A539C9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53800" y="6477000"/>
            <a:ext cx="3048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solidFill>
              <a:srgbClr val="D8DDE6"/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r"/>
            <a:r>
              <a:rPr sz="750">
                <a:solidFill>
                  <a:srgbClr val="5C667A"/>
                </a:solidFill>
              </a:rPr>
              <a:t>19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579EEF7-460A-46CF-9295-DE2AA9ED1B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2438400"/>
            <a:ext cx="76200" cy="762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>
            <a:solidFill>
              <a:srgbClr val="2563EB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0179D88-510C-450A-BF7F-F7853E28CB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2362200"/>
            <a:ext cx="91249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solidFill>
              <a:srgbClr val="D8DDE6"/>
            </a:solidFill>
          </a:ln>
        </p:spPr>
        <p:txBody>
          <a:bodyPr xmlns:a="http://schemas.openxmlformats.org/drawingml/2006/main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r>
              <a:rPr sz="1650">
                <a:solidFill>
                  <a:srgbClr val="1B1F2A"/>
                </a:solidFill>
              </a:rPr>
              <a:t>Ethereum remains the custody and validity anchor.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BCC59AC-0566-4CAA-B4D3-1BC5105C1B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2990850"/>
            <a:ext cx="76200" cy="762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>
            <a:solidFill>
              <a:srgbClr val="2563EB"/>
            </a:solidFill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2450E83-D043-4CBD-A895-DF194D9B97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2914650"/>
            <a:ext cx="91249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solidFill>
              <a:srgbClr val="D8DDE6"/>
            </a:solidFill>
          </a:ln>
        </p:spPr>
        <p:txBody>
          <a:bodyPr xmlns:a="http://schemas.openxmlformats.org/drawingml/2006/main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r>
              <a:rPr sz="1650">
                <a:solidFill>
                  <a:srgbClr val="1B1F2A"/>
                </a:solidFill>
              </a:rPr>
              <a:t>The bridge admits execution through registered metadata, not arbitrary ABI interpretation.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44ADFB7-F7B7-45DE-9D3A-7BE355ECD8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3543300"/>
            <a:ext cx="76200" cy="762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>
            <a:solidFill>
              <a:srgbClr val="2563EB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DCF9AF8-97A3-434F-9E2F-4D42C69976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3467100"/>
            <a:ext cx="91249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solidFill>
              <a:srgbClr val="D8DDE6"/>
            </a:solidFill>
          </a:ln>
        </p:spPr>
        <p:txBody>
          <a:bodyPr xmlns:a="http://schemas.openxmlformats.org/drawingml/2006/main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r>
              <a:rPr sz="1650">
                <a:solidFill>
                  <a:srgbClr val="1B1F2A"/>
                </a:solidFill>
              </a:rPr>
              <a:t>Each channel snapshots its DApp policy, verifier bindings, function root, and storage vector.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34DB99E-47D7-467C-B648-42051F1610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4095750"/>
            <a:ext cx="76200" cy="762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>
            <a:solidFill>
              <a:srgbClr val="2563EB"/>
            </a:solidFill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BA15EF5-3E0C-4A8F-A260-9B09AA6F9B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4019550"/>
            <a:ext cx="91249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solidFill>
              <a:srgbClr val="D8DDE6"/>
            </a:solidFill>
          </a:ln>
        </p:spPr>
        <p:txBody>
          <a:bodyPr xmlns:a="http://schemas.openxmlformats.org/drawingml/2006/main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r>
              <a:rPr sz="1650">
                <a:solidFill>
                  <a:srgbClr val="1B1F2A"/>
                </a:solidFill>
              </a:rPr>
              <a:t>Tokamak proofs and Groth16 accounting proofs serve different bridge responsibilities.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3226A70-201A-488A-BBB2-DBD3447A33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4648200"/>
            <a:ext cx="76200" cy="762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>
            <a:solidFill>
              <a:srgbClr val="2563EB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3D4CE7F-6C2F-463F-9524-A6E075E459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4572000"/>
            <a:ext cx="91249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solidFill>
              <a:srgbClr val="D8DDE6"/>
            </a:solidFill>
          </a:ln>
        </p:spPr>
        <p:txBody>
          <a:bodyPr xmlns:a="http://schemas.openxmlformats.org/drawingml/2006/main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r>
              <a:rPr sz="1650">
                <a:solidFill>
                  <a:srgbClr val="1B1F2A"/>
                </a:solidFill>
              </a:rPr>
              <a:t>Private-state demonstrates DApp-programmed privacy with transparent L1 entry and exit.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78EAF15-94F2-4D0C-8FC0-ACE86E04DA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6850" y="5476875"/>
            <a:ext cx="9258300" cy="47625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52238"/>
          </a:solidFill>
          <a:ln xmlns:a="http://schemas.openxmlformats.org/drawingml/2006/main">
            <a:solidFill>
              <a:srgbClr val="152238"/>
            </a:solidFill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EB0218A-8E87-4F68-8DC8-7595001BBD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3550" y="5600700"/>
            <a:ext cx="87249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solidFill>
              <a:srgbClr val="D8DDE6"/>
            </a:solidFill>
          </a:ln>
        </p:spPr>
        <p:txBody>
          <a:bodyPr xmlns:a="http://schemas.openxmlformats.org/drawingml/2006/main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 algn="ctr"/>
            <a:r>
              <a:rPr sz="1350" b="1">
                <a:solidFill>
                  <a:srgbClr val="FFFFFF"/>
                </a:solidFill>
              </a:rPr>
              <a:t>The central question is not only whether a proof verifies, but what policy gives that proof meaning.</a:t>
            </a:r>
          </a:p>
        </p:txBody>
      </p:sp>
    </p:spTree>
    <p:extLst>
      <p:ext uri="{BB962C8B-B14F-4D97-AF65-F5344CB8AC3E}">
        <p14:creationId xmlns:p14="http://schemas.microsoft.com/office/powerpoint/2010/main" val="214061822"/>
      </p:ext>
    </p:extLst>
  </p:cSld>
</p:sld>
</file>

<file path=ppt/theme/theme1.xml><?xml version="1.0" encoding="utf-8"?>
<a:theme xmlns:a="http://schemas.openxmlformats.org/drawingml/2006/main" name="Tokamak Private App Channels">
  <a:themeElements>
    <a:clrScheme name="Tokamak Private App Channels">
      <a:accent1>
        <a:srgbClr val="2563EB"/>
      </a:accent1>
      <a:accent2>
        <a:srgbClr val="00A6B2"/>
      </a:accent2>
      <a:accent3>
        <a:srgbClr val="21A67A"/>
      </a:accent3>
      <a:accent4>
        <a:srgbClr val="F59E0B"/>
      </a:accent4>
      <a:accent5>
        <a:srgbClr val="6D5BD0"/>
      </a:accent5>
      <a:accent6>
        <a:srgbClr val="D94A4A"/>
      </a:accent6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Tokamak Private App Channels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2026-05-26T11:24:05.0370000Z</dcterms:created>
  <dcterms:modified xsi:type="dcterms:W3CDTF">2026-05-26T11:24:05.0370000Z</dcterms:modified>
</coreProperties>
</file>