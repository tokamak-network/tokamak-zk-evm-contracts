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8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406640" y="0"/>
            <a:ext cx="4791456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6720840" cy="6217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300" b="1">
                <a:solidFill>
                  <a:srgbClr val="FFFFFF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993392"/>
            <a:ext cx="6309360" cy="7498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800" b="0">
                <a:solidFill>
                  <a:srgbClr val="DEE7F6"/>
                </a:solidFill>
                <a:latin typeface="Apple SD Gothic Neo"/>
              </a:defRPr>
            </a:pPr>
            <a:r>
              <a:t>Ethereum은 상태 전이를 검증해야 한다.</a:t>
            </a:r>
          </a:p>
          <a:p>
            <a:pPr>
              <a:defRPr sz="1800" b="0">
                <a:solidFill>
                  <a:srgbClr val="DEE7F6"/>
                </a:solidFill>
                <a:latin typeface="Apple SD Gothic Neo"/>
              </a:defRPr>
            </a:pPr>
            <a:r>
              <a:t>하지만 DApp transaction 원문을 보면 privacy는 깨진다.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3127248"/>
            <a:ext cx="1188720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3191256"/>
            <a:ext cx="1133856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Apple SD Gothic Neo"/>
              </a:defRPr>
            </a:pPr>
            <a:r>
              <a:t>Validity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66543" y="3127248"/>
            <a:ext cx="1188720" cy="292608"/>
          </a:xfrm>
          <a:prstGeom prst="round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93975" y="3191256"/>
            <a:ext cx="1133856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Apple SD Gothic Neo"/>
              </a:defRPr>
            </a:pPr>
            <a:r>
              <a:t>Privacy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3127248"/>
            <a:ext cx="1371600" cy="292608"/>
          </a:xfrm>
          <a:prstGeom prst="roundRect">
            <a:avLst/>
          </a:prstGeom>
          <a:solidFill>
            <a:srgbClr val="00A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83863" y="3191256"/>
            <a:ext cx="1316736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Apple SD Gothic Neo"/>
              </a:defRPr>
            </a:pPr>
            <a:r>
              <a:t>Settlement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82127" y="1005840"/>
            <a:ext cx="3218688" cy="713232"/>
          </a:xfrm>
          <a:prstGeom prst="roundRect">
            <a:avLst/>
          </a:prstGeom>
          <a:solidFill>
            <a:srgbClr val="243B63"/>
          </a:solidFill>
          <a:ln w="12700">
            <a:solidFill>
              <a:srgbClr val="4F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65008" y="1243584"/>
            <a:ext cx="2852928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ple SD Gothic Neo"/>
              </a:defRPr>
            </a:pPr>
            <a:r>
              <a:t>검증 가능해야 한다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5320" y="2487168"/>
            <a:ext cx="2816352" cy="713232"/>
          </a:xfrm>
          <a:prstGeom prst="roundRect">
            <a:avLst/>
          </a:prstGeom>
          <a:solidFill>
            <a:srgbClr val="173F46"/>
          </a:solidFill>
          <a:ln w="12700">
            <a:solidFill>
              <a:srgbClr val="44C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49056" y="2724912"/>
            <a:ext cx="2487168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ple SD Gothic Neo"/>
              </a:defRPr>
            </a:pPr>
            <a:r>
              <a:t>원문은 숨겨야 한다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82127" y="3968496"/>
            <a:ext cx="3218688" cy="713232"/>
          </a:xfrm>
          <a:prstGeom prst="roundRect">
            <a:avLst/>
          </a:prstGeom>
          <a:solidFill>
            <a:srgbClr val="254637"/>
          </a:solidFill>
          <a:ln w="12700">
            <a:solidFill>
              <a:srgbClr val="40C5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65008" y="4206240"/>
            <a:ext cx="2852928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ple SD Gothic Neo"/>
              </a:defRPr>
            </a:pPr>
            <a:r>
              <a:t>자산은 정산되어야 한다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400032" y="1719072"/>
            <a:ext cx="0" cy="768096"/>
          </a:xfrm>
          <a:prstGeom prst="line">
            <a:avLst/>
          </a:prstGeom>
          <a:ln w="25400">
            <a:solidFill>
              <a:srgbClr val="93C5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400032" y="3200400"/>
            <a:ext cx="0" cy="768096"/>
          </a:xfrm>
          <a:prstGeom prst="line">
            <a:avLst/>
          </a:prstGeom>
          <a:ln w="25400">
            <a:solidFill>
              <a:srgbClr val="7DD3F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4133087"/>
            <a:ext cx="6309360" cy="5303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BECCE5"/>
                </a:solidFill>
                <a:latin typeface="Apple SD Gothic Neo"/>
              </a:defRPr>
            </a:pPr>
            <a:r>
              <a:t>이 발표는 세 조건을 동시에 만족시키기 위해 bridge가 무엇을 검증하고,</a:t>
            </a:r>
          </a:p>
          <a:p>
            <a:pPr>
              <a:defRPr sz="1500" b="0">
                <a:solidFill>
                  <a:srgbClr val="BECCE5"/>
                </a:solidFill>
                <a:latin typeface="Apple SD Gothic Neo"/>
              </a:defRPr>
            </a:pPr>
            <a:r>
              <a:t>무엇을 보지 않아야 하는지 정리한다.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760720"/>
            <a:ext cx="594360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AEBAD0"/>
                </a:solidFill>
                <a:latin typeface="Apple SD Gothic Neo"/>
              </a:defRPr>
            </a:pPr>
            <a:r>
              <a:t>대상: 대학원 연구자와 프로토콜 개발자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검증과 프라이버시는 같은 표면을 요구한다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 설계의 출발점은 하나의 상태 업데이트가 서로 다른 세 요구를 동시에 만족해야 한다는 점이다.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212848"/>
            <a:ext cx="3310128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4088" y="2212848"/>
            <a:ext cx="45720" cy="15544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2377440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Ethereum이 필요한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2761488"/>
            <a:ext cx="2907792" cy="8961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상태 루트가 임의로 바뀌지 않았다는 증거와 canonical asset 정산 가능성.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212848"/>
            <a:ext cx="3310128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212848"/>
            <a:ext cx="45720" cy="1554480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7" y="2377440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DApp이 숨기고 싶은 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2761488"/>
            <a:ext cx="2907792" cy="8961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사용자, 금액, 상대방, witness, 내부 상태 접근 패턴 같은 application semantics.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65592" y="2212848"/>
            <a:ext cx="3310128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65592" y="2212848"/>
            <a:ext cx="45720" cy="1554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377440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브릿지가 결정해야 하는 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761488"/>
            <a:ext cx="2907792" cy="8961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어떤 proof와 public input을 받아들일지, 어떤 state write를 channel에 반영할지.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" y="4663440"/>
            <a:ext cx="10241280" cy="65836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34440" y="4828032"/>
            <a:ext cx="9692640" cy="2194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ple SD Gothic Neo"/>
              </a:defRPr>
            </a:pPr>
            <a:r>
              <a:t>문제는 privacy 자체가 아니라, 원문 transaction 없이 상태 전이의 건실성을 받아들일 수 있는가이다.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대안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가장 단순한 방법들은 어디서 막히나?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쉬운 설계들은 validity, privacy, trust assumption 중 하나를 강하게 희생한다.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176272"/>
            <a:ext cx="3310128" cy="16824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4088" y="2176272"/>
            <a:ext cx="45720" cy="1682496"/>
          </a:xfrm>
          <a:prstGeom prst="rect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2340864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L1 replay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2724912"/>
            <a:ext cx="2907792" cy="10241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Ethereum이 DApp transaction semantics를 직접 실행하면 검증은 명확하지만 원문 활동이 공개된다.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176272"/>
            <a:ext cx="3310128" cy="16824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176272"/>
            <a:ext cx="45720" cy="168249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7" y="2340864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Operator result posting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2724912"/>
            <a:ext cx="2907792" cy="10241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off-chain 실행 결과만 올리면 privacy 표면은 줄어들 수 있지만 사용자는 실행자를 더 많이 믿어야 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65592" y="2176272"/>
            <a:ext cx="3310128" cy="16824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65592" y="2176272"/>
            <a:ext cx="45720" cy="1682496"/>
          </a:xfrm>
          <a:prstGeom prst="rect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340864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Generic rollup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724912"/>
            <a:ext cx="2907792" cy="10241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확장성에는 자연스럽지만 DApp별 disclosure policy와 channel-local consent가 흐려질 수 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" y="4370832"/>
            <a:ext cx="205740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그래서 필요한 형태</a:t>
            </a:r>
          </a:p>
        </p:txBody>
      </p:sp>
      <p:sp>
        <p:nvSpPr>
          <p:cNvPr id="22" name="Oval 21"/>
          <p:cNvSpPr/>
          <p:nvPr/>
        </p:nvSpPr>
        <p:spPr>
          <a:xfrm>
            <a:off x="877824" y="482803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2415" y="4754880"/>
            <a:ext cx="989380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50" b="0">
                <a:solidFill>
                  <a:srgbClr val="1B1F2A"/>
                </a:solidFill>
                <a:latin typeface="Apple SD Gothic Neo"/>
              </a:defRPr>
            </a:pPr>
            <a:r>
              <a:t>L1은 transaction을 replay하지 않는다.</a:t>
            </a:r>
          </a:p>
        </p:txBody>
      </p:sp>
      <p:sp>
        <p:nvSpPr>
          <p:cNvPr id="24" name="Oval 23"/>
          <p:cNvSpPr/>
          <p:nvPr/>
        </p:nvSpPr>
        <p:spPr>
          <a:xfrm>
            <a:off x="877824" y="521208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42415" y="5138928"/>
            <a:ext cx="989380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50" b="0">
                <a:solidFill>
                  <a:srgbClr val="1B1F2A"/>
                </a:solidFill>
                <a:latin typeface="Apple SD Gothic Neo"/>
              </a:defRPr>
            </a:pPr>
            <a:r>
              <a:t>브릿지는 proof가 주장하는 state transition의 의미만 admission한다.</a:t>
            </a:r>
          </a:p>
        </p:txBody>
      </p:sp>
      <p:sp>
        <p:nvSpPr>
          <p:cNvPr id="26" name="Oval 25"/>
          <p:cNvSpPr/>
          <p:nvPr/>
        </p:nvSpPr>
        <p:spPr>
          <a:xfrm>
            <a:off x="877824" y="559612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42415" y="5522976"/>
            <a:ext cx="989380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50" b="0">
                <a:solidFill>
                  <a:srgbClr val="1B1F2A"/>
                </a:solidFill>
                <a:latin typeface="Apple SD Gothic Neo"/>
              </a:defRPr>
            </a:pPr>
            <a:r>
              <a:t>사용자는 생성 시점에 고정된 DApp-specific channel policy에 참여한다.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핵심 질문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브릿지는 무엇을 믿고, 무엇을 검증해야 하나?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이 질문을 분리해야 상태 건실성과 프라이버시 보장의 책임 범위가 명확해진다.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121408"/>
            <a:ext cx="3310128" cy="1627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4088" y="2121408"/>
            <a:ext cx="45720" cy="162763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2286000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상태 업데이트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2670048"/>
            <a:ext cx="2907792" cy="96926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Ethereum은 원본 transaction 없이 channel root update를 받아들일 수 있는가?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121408"/>
            <a:ext cx="3310128" cy="1627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121408"/>
            <a:ext cx="45720" cy="1627632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7" y="2286000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검증 의미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2670048"/>
            <a:ext cx="2907792" cy="96926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proof가 어떤 DApp 함수, storage surface, public input layout을 뜻하는지 누가 정의하는가?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65592" y="2121408"/>
            <a:ext cx="3310128" cy="1627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65592" y="2121408"/>
            <a:ext cx="45720" cy="16276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286000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프라이버시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670048"/>
            <a:ext cx="2907792" cy="96926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브릿지가 privacy를 보장하는가, 아니면 DApp proof system이 공개 경계를 프로그램하는가?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5840" y="4590288"/>
            <a:ext cx="10058400" cy="786384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25880" y="4828032"/>
            <a:ext cx="941832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이 발표의 답: 브릿지는 proof acceptance와 custody를 담당하고, DApp은 transition semantics와 disclosure boundary를 담당한다.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설계 답변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한 문장으로 보는 Private App Channel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Bridge는 transaction을 replay하지 않고, 등록된 DApp metadata와 verifier로 proof/public input의 의미를 검증한다.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824" y="2788920"/>
            <a:ext cx="1426464" cy="621792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2862072"/>
            <a:ext cx="1298448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DApp 등록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61488" y="2706624"/>
            <a:ext cx="1755648" cy="786384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25496" y="2779776"/>
            <a:ext cx="1627631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Channel 생성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policy snapshot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83480" y="2706624"/>
            <a:ext cx="1755648" cy="786384"/>
          </a:xfrm>
          <a:prstGeom prst="roundRect">
            <a:avLst/>
          </a:prstGeom>
          <a:solidFill>
            <a:srgbClr val="E8FB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47488" y="2779776"/>
            <a:ext cx="1627631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Private transition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proof 생성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05472" y="2706624"/>
            <a:ext cx="1755648" cy="786384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69480" y="2779776"/>
            <a:ext cx="1627631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Bridge proof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verification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418320" y="2706624"/>
            <a:ext cx="1755648" cy="786384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82328" y="2779776"/>
            <a:ext cx="1627631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Root / asset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settlement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304288" y="3099816"/>
            <a:ext cx="45720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517136" y="3099816"/>
            <a:ext cx="46634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739128" y="3099816"/>
            <a:ext cx="46634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961120" y="3099816"/>
            <a:ext cx="45720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822960" y="4434840"/>
            <a:ext cx="324612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7552" y="4626864"/>
            <a:ext cx="290779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30" b="1">
                <a:solidFill>
                  <a:srgbClr val="1B1F2A"/>
                </a:solidFill>
                <a:latin typeface="Apple SD Gothic Neo"/>
              </a:defRPr>
            </a:pPr>
            <a:r>
              <a:t>Bridge: custody, admission,</a:t>
            </a:r>
          </a:p>
          <a:p>
            <a:pPr algn="ctr">
              <a:defRPr sz="1230" b="1">
                <a:solidFill>
                  <a:srgbClr val="1B1F2A"/>
                </a:solidFill>
                <a:latin typeface="Apple SD Gothic Neo"/>
              </a:defRPr>
            </a:pPr>
            <a:r>
              <a:t>proof acceptance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80560" y="4434840"/>
            <a:ext cx="324612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45152" y="4626864"/>
            <a:ext cx="290779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30" b="1">
                <a:solidFill>
                  <a:srgbClr val="1B1F2A"/>
                </a:solidFill>
                <a:latin typeface="Apple SD Gothic Neo"/>
              </a:defRPr>
            </a:pPr>
            <a:r>
              <a:t>DApp: transition semantics,</a:t>
            </a:r>
          </a:p>
          <a:p>
            <a:pPr algn="ctr">
              <a:defRPr sz="1230" b="1">
                <a:solidFill>
                  <a:srgbClr val="1B1F2A"/>
                </a:solidFill>
                <a:latin typeface="Apple SD Gothic Neo"/>
              </a:defRPr>
            </a:pPr>
            <a:r>
              <a:t>disclosure boundary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38160" y="4434840"/>
            <a:ext cx="324612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02752" y="4626864"/>
            <a:ext cx="290779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30" b="1">
                <a:solidFill>
                  <a:srgbClr val="1B1F2A"/>
                </a:solidFill>
                <a:latin typeface="Apple SD Gothic Neo"/>
              </a:defRPr>
            </a:pPr>
            <a:r>
              <a:t>Channel: immutable policy,</a:t>
            </a:r>
          </a:p>
          <a:p>
            <a:pPr algn="ctr">
              <a:defRPr sz="1230" b="1">
                <a:solidFill>
                  <a:srgbClr val="1B1F2A"/>
                </a:solidFill>
                <a:latin typeface="Apple SD Gothic Neo"/>
              </a:defRPr>
            </a:pPr>
            <a:r>
              <a:t>local state domain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큰 그림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DApp Policy와 Channel Policy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브릿지는 여러 DApp을 등록하고, 각 channel은 하나의 DApp을 선택한 뒤 자기 실행 조건을 고정한다.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1828800"/>
            <a:ext cx="237744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2563EB"/>
                </a:solidFill>
                <a:latin typeface="Apple SD Gothic Neo"/>
              </a:defRPr>
            </a:pPr>
            <a:r>
              <a:t>Registered DApps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56048" y="1828800"/>
            <a:ext cx="146304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354052"/>
                </a:solidFill>
                <a:latin typeface="Apple SD Gothic Neo"/>
              </a:defRPr>
            </a:pPr>
            <a:r>
              <a:t>Bridge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28431" y="1828800"/>
            <a:ext cx="201168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21A67A"/>
                </a:solidFill>
                <a:latin typeface="Apple SD Gothic Neo"/>
              </a:defRPr>
            </a:pPr>
            <a:r>
              <a:t>Channels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2157984"/>
            <a:ext cx="260604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240279"/>
            <a:ext cx="2194560" cy="1280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60" b="1">
                <a:solidFill>
                  <a:srgbClr val="1B1F2A"/>
                </a:solidFill>
                <a:latin typeface="Apple SD Gothic Neo"/>
              </a:defRPr>
            </a:pPr>
            <a:r>
              <a:t>Private-State DApp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2615184"/>
            <a:ext cx="260604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697479"/>
            <a:ext cx="2194560" cy="1280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60" b="1">
                <a:solidFill>
                  <a:srgbClr val="1B1F2A"/>
                </a:solidFill>
                <a:latin typeface="Apple SD Gothic Neo"/>
              </a:defRPr>
            </a:pPr>
            <a:r>
              <a:t>Payment DApp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3072384"/>
            <a:ext cx="260604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154679"/>
            <a:ext cx="2194560" cy="1280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60" b="1">
                <a:solidFill>
                  <a:srgbClr val="1B1F2A"/>
                </a:solidFill>
                <a:latin typeface="Apple SD Gothic Neo"/>
              </a:defRPr>
            </a:pPr>
            <a:r>
              <a:t>Auction DApp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3675887"/>
            <a:ext cx="4005072" cy="1335024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822191"/>
            <a:ext cx="16459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40" b="1">
                <a:solidFill>
                  <a:srgbClr val="2563EB"/>
                </a:solidFill>
                <a:latin typeface="Apple SD Gothic Neo"/>
              </a:defRPr>
            </a:pPr>
            <a:r>
              <a:t>DApp policy 예</a:t>
            </a:r>
          </a:p>
        </p:txBody>
      </p:sp>
      <p:sp>
        <p:nvSpPr>
          <p:cNvPr id="20" name="Oval 19"/>
          <p:cNvSpPr/>
          <p:nvPr/>
        </p:nvSpPr>
        <p:spPr>
          <a:xfrm>
            <a:off x="950976" y="416966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5568" y="4096512"/>
            <a:ext cx="1554480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DApp 실행 종류</a:t>
            </a:r>
          </a:p>
        </p:txBody>
      </p:sp>
      <p:sp>
        <p:nvSpPr>
          <p:cNvPr id="22" name="Oval 21"/>
          <p:cNvSpPr/>
          <p:nvPr/>
        </p:nvSpPr>
        <p:spPr>
          <a:xfrm>
            <a:off x="950976" y="438912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15568" y="4315968"/>
            <a:ext cx="1554480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받을 proof</a:t>
            </a:r>
          </a:p>
        </p:txBody>
      </p:sp>
      <p:sp>
        <p:nvSpPr>
          <p:cNvPr id="24" name="Oval 23"/>
          <p:cNvSpPr/>
          <p:nvPr/>
        </p:nvSpPr>
        <p:spPr>
          <a:xfrm>
            <a:off x="950976" y="4608576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5568" y="4535424"/>
            <a:ext cx="1554480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볼 public input</a:t>
            </a:r>
          </a:p>
        </p:txBody>
      </p:sp>
      <p:sp>
        <p:nvSpPr>
          <p:cNvPr id="26" name="Oval 25"/>
          <p:cNvSpPr/>
          <p:nvPr/>
        </p:nvSpPr>
        <p:spPr>
          <a:xfrm>
            <a:off x="2852928" y="416966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17520" y="4096512"/>
            <a:ext cx="1463040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허용 상태 변경</a:t>
            </a:r>
          </a:p>
        </p:txBody>
      </p:sp>
      <p:sp>
        <p:nvSpPr>
          <p:cNvPr id="28" name="Oval 27"/>
          <p:cNvSpPr/>
          <p:nvPr/>
        </p:nvSpPr>
        <p:spPr>
          <a:xfrm>
            <a:off x="2852928" y="438912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017520" y="4315968"/>
            <a:ext cx="1463040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공개 / 비공개 범위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187952" y="2103120"/>
            <a:ext cx="2267712" cy="1938528"/>
          </a:xfrm>
          <a:prstGeom prst="roundRect">
            <a:avLst/>
          </a:prstGeom>
          <a:solidFill>
            <a:srgbClr val="EAF0F8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80560" y="2322576"/>
            <a:ext cx="1682496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900" b="1">
                <a:solidFill>
                  <a:srgbClr val="1B1F2A"/>
                </a:solidFill>
                <a:latin typeface="Apple SD Gothic Neo"/>
              </a:defRPr>
            </a:pPr>
            <a:r>
              <a:t>Bridge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480560" y="2761488"/>
            <a:ext cx="1682496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44568" y="2825496"/>
            <a:ext cx="1554480" cy="822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19" b="1">
                <a:solidFill>
                  <a:srgbClr val="5C667A"/>
                </a:solidFill>
                <a:latin typeface="Apple SD Gothic Neo"/>
              </a:defRPr>
            </a:pPr>
            <a:r>
              <a:t>DApp 등록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80560" y="3072384"/>
            <a:ext cx="1682496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44568" y="3136391"/>
            <a:ext cx="1554480" cy="822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19" b="1">
                <a:solidFill>
                  <a:srgbClr val="5C667A"/>
                </a:solidFill>
                <a:latin typeface="Apple SD Gothic Neo"/>
              </a:defRPr>
            </a:pPr>
            <a:r>
              <a:t>proof 검증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480560" y="3383280"/>
            <a:ext cx="1682496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44568" y="3447288"/>
            <a:ext cx="1554480" cy="822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19" b="1">
                <a:solidFill>
                  <a:srgbClr val="5C667A"/>
                </a:solidFill>
                <a:latin typeface="Apple SD Gothic Neo"/>
              </a:defRPr>
            </a:pPr>
            <a:r>
              <a:t>asset 정산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480560" y="3694176"/>
            <a:ext cx="1682496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44568" y="3758183"/>
            <a:ext cx="1554480" cy="822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19" b="1">
                <a:solidFill>
                  <a:srgbClr val="5C667A"/>
                </a:solidFill>
                <a:latin typeface="Apple SD Gothic Neo"/>
              </a:defRPr>
            </a:pPr>
            <a:r>
              <a:t>channel 관리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552944" y="2157984"/>
            <a:ext cx="3054096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0" y="2240279"/>
            <a:ext cx="2487168" cy="1280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60" b="1">
                <a:solidFill>
                  <a:srgbClr val="1B1F2A"/>
                </a:solidFill>
                <a:latin typeface="Apple SD Gothic Neo"/>
              </a:defRPr>
            </a:pPr>
            <a:r>
              <a:t>Channel A: Private-State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552944" y="2615184"/>
            <a:ext cx="3054096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72400" y="2697479"/>
            <a:ext cx="2487168" cy="1280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60" b="1">
                <a:solidFill>
                  <a:srgbClr val="1B1F2A"/>
                </a:solidFill>
                <a:latin typeface="Apple SD Gothic Neo"/>
              </a:defRPr>
            </a:pPr>
            <a:r>
              <a:t>Channel B: Private-State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552944" y="3072384"/>
            <a:ext cx="3054096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0" y="3154679"/>
            <a:ext cx="2487168" cy="1280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60" b="1">
                <a:solidFill>
                  <a:srgbClr val="1B1F2A"/>
                </a:solidFill>
                <a:latin typeface="Apple SD Gothic Neo"/>
              </a:defRPr>
            </a:pPr>
            <a:r>
              <a:t>Channel C: Payment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839712" y="3675887"/>
            <a:ext cx="3767328" cy="1335024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040880" y="3822191"/>
            <a:ext cx="1755648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40" b="1">
                <a:solidFill>
                  <a:srgbClr val="21A67A"/>
                </a:solidFill>
                <a:latin typeface="Apple SD Gothic Neo"/>
              </a:defRPr>
            </a:pPr>
            <a:r>
              <a:t>Channel policy 예</a:t>
            </a:r>
          </a:p>
        </p:txBody>
      </p:sp>
      <p:sp>
        <p:nvSpPr>
          <p:cNvPr id="48" name="Oval 47"/>
          <p:cNvSpPr/>
          <p:nvPr/>
        </p:nvSpPr>
        <p:spPr>
          <a:xfrm>
            <a:off x="7077456" y="416966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42048" y="4096512"/>
            <a:ext cx="1389888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선택한 DApp</a:t>
            </a:r>
          </a:p>
        </p:txBody>
      </p:sp>
      <p:sp>
        <p:nvSpPr>
          <p:cNvPr id="50" name="Oval 49"/>
          <p:cNvSpPr/>
          <p:nvPr/>
        </p:nvSpPr>
        <p:spPr>
          <a:xfrm>
            <a:off x="7077456" y="438912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242048" y="4315968"/>
            <a:ext cx="1389888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다루는 asset</a:t>
            </a:r>
          </a:p>
        </p:txBody>
      </p:sp>
      <p:sp>
        <p:nvSpPr>
          <p:cNvPr id="52" name="Oval 51"/>
          <p:cNvSpPr/>
          <p:nvPr/>
        </p:nvSpPr>
        <p:spPr>
          <a:xfrm>
            <a:off x="7077456" y="460857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242048" y="4535424"/>
            <a:ext cx="1389888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초기 상태</a:t>
            </a:r>
          </a:p>
        </p:txBody>
      </p:sp>
      <p:sp>
        <p:nvSpPr>
          <p:cNvPr id="54" name="Oval 53"/>
          <p:cNvSpPr/>
          <p:nvPr/>
        </p:nvSpPr>
        <p:spPr>
          <a:xfrm>
            <a:off x="8924544" y="416966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089136" y="4096512"/>
            <a:ext cx="1298448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DA 책임</a:t>
            </a:r>
          </a:p>
        </p:txBody>
      </p:sp>
      <p:sp>
        <p:nvSpPr>
          <p:cNvPr id="56" name="Oval 55"/>
          <p:cNvSpPr/>
          <p:nvPr/>
        </p:nvSpPr>
        <p:spPr>
          <a:xfrm>
            <a:off x="8924544" y="438912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089136" y="4315968"/>
            <a:ext cx="1298448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disclosure 권한</a:t>
            </a:r>
          </a:p>
        </p:txBody>
      </p:sp>
      <p:sp>
        <p:nvSpPr>
          <p:cNvPr id="58" name="Oval 57"/>
          <p:cNvSpPr/>
          <p:nvPr/>
        </p:nvSpPr>
        <p:spPr>
          <a:xfrm>
            <a:off x="8924544" y="460857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089136" y="4535424"/>
            <a:ext cx="1298448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참여 / 종료 조건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3319272" y="2313432"/>
            <a:ext cx="868680" cy="758952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319272" y="2770632"/>
            <a:ext cx="868680" cy="301752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3319272" y="3072384"/>
            <a:ext cx="868680" cy="155448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6455664" y="2313432"/>
            <a:ext cx="1097280" cy="758952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6455664" y="2770632"/>
            <a:ext cx="1097280" cy="301752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6455664" y="3072384"/>
            <a:ext cx="1097280" cy="155448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960120" y="5358384"/>
            <a:ext cx="10222992" cy="47548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207008" y="5486400"/>
            <a:ext cx="9729216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50" b="1">
                <a:solidFill>
                  <a:srgbClr val="FFFFFF"/>
                </a:solidFill>
                <a:latin typeface="Apple SD Gothic Neo"/>
              </a:defRPr>
            </a:pPr>
            <a:r>
              <a:t>DApp policy는 실행의 의미와 공개 데이터 범위를 정하고, Channel policy는 참여 조건과 운영 방법까지 고정한다.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배경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왜 App-Specific Channel인가?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실행 범위를 DApp 단위로 좁히면 프라이버시, 자산 보관, 증명의 의미를 더 명확하게 정의할 수 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331720"/>
            <a:ext cx="33375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4088" y="2331720"/>
            <a:ext cx="45720" cy="1417320"/>
          </a:xfrm>
          <a:prstGeom prst="rect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2496312"/>
            <a:ext cx="2935224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자산 보관의 모호성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2880360"/>
            <a:ext cx="2935224" cy="7589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프라이빗 실행이 canonical asset을 불투명한 운영자 보관 모델로 옮기면 정산 신뢰 경계가 흐려진다.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331720"/>
            <a:ext cx="33375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331720"/>
            <a:ext cx="45720" cy="14173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7" y="2496312"/>
            <a:ext cx="2935224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증명 의미의 모호성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2880360"/>
            <a:ext cx="2935224" cy="7589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증명은 어떤 함수, 저장소 표면, public input layout을 설명하는지 브릿지가 알 때만 의미가 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56448" y="2331720"/>
            <a:ext cx="33375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56448" y="2331720"/>
            <a:ext cx="45720" cy="1417320"/>
          </a:xfrm>
          <a:prstGeom prst="rect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57616" y="2496312"/>
            <a:ext cx="2935224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프라이버시 과잉 주장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7616" y="2880360"/>
            <a:ext cx="2935224" cy="7589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브릿지는 공개 표면을 줄일 수 있지만, 의미론적 프라이버시는 각 DApp이 직접 프로그램해야 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" y="4297680"/>
            <a:ext cx="228600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설계 응답</a:t>
            </a:r>
          </a:p>
        </p:txBody>
      </p:sp>
      <p:sp>
        <p:nvSpPr>
          <p:cNvPr id="22" name="Oval 21"/>
          <p:cNvSpPr/>
          <p:nvPr/>
        </p:nvSpPr>
        <p:spPr>
          <a:xfrm>
            <a:off x="786384" y="478231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0976" y="4709160"/>
            <a:ext cx="9162288" cy="3749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canonical custody와 proof acceptance를 Ethereum에 둔다.</a:t>
            </a:r>
          </a:p>
        </p:txBody>
      </p:sp>
      <p:sp>
        <p:nvSpPr>
          <p:cNvPr id="24" name="Oval 23"/>
          <p:cNvSpPr/>
          <p:nvPr/>
        </p:nvSpPr>
        <p:spPr>
          <a:xfrm>
            <a:off x="786384" y="518464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0976" y="5111496"/>
            <a:ext cx="9162288" cy="3749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브릿지가 관리하는 DApp metadata로 실행을 admission한다.</a:t>
            </a:r>
          </a:p>
        </p:txBody>
      </p:sp>
      <p:sp>
        <p:nvSpPr>
          <p:cNvPr id="26" name="Oval 25"/>
          <p:cNvSpPr/>
          <p:nvPr/>
        </p:nvSpPr>
        <p:spPr>
          <a:xfrm>
            <a:off x="786384" y="558698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0976" y="5513832"/>
            <a:ext cx="9162288" cy="3749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사용자가 참여하는 시점의 channel policy를 스냅샷으로 고정한다.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목적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Generic rollup과 무엇이 다른가?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사용자는 mutable generic rollup이 아니라 특정 channel policy에 참여한다.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40280"/>
            <a:ext cx="4828032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606040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D94A4A"/>
                </a:solidFill>
                <a:latin typeface="Apple SD Gothic Neo"/>
              </a:defRPr>
            </a:pPr>
            <a:r>
              <a:t>Generic rollup 관점</a:t>
            </a:r>
          </a:p>
        </p:txBody>
      </p:sp>
      <p:sp>
        <p:nvSpPr>
          <p:cNvPr id="11" name="Oval 10"/>
          <p:cNvSpPr/>
          <p:nvPr/>
        </p:nvSpPr>
        <p:spPr>
          <a:xfrm>
            <a:off x="1078992" y="320954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3584" y="31363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하나의 전역 실행 환경</a:t>
            </a:r>
          </a:p>
        </p:txBody>
      </p:sp>
      <p:sp>
        <p:nvSpPr>
          <p:cNvPr id="13" name="Oval 12"/>
          <p:cNvSpPr/>
          <p:nvPr/>
        </p:nvSpPr>
        <p:spPr>
          <a:xfrm>
            <a:off x="1078992" y="366674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3584" y="35935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Application policy가 rollup policy의 하위 문제로 밀림</a:t>
            </a:r>
          </a:p>
        </p:txBody>
      </p:sp>
      <p:sp>
        <p:nvSpPr>
          <p:cNvPr id="15" name="Oval 14"/>
          <p:cNvSpPr/>
          <p:nvPr/>
        </p:nvSpPr>
        <p:spPr>
          <a:xfrm>
            <a:off x="1078992" y="412394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43584" y="4050791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프라이버시 가정이 암묵화되기 쉬움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56832" y="2240280"/>
            <a:ext cx="4828032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22592" y="2606040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21A67A"/>
                </a:solidFill>
                <a:latin typeface="Apple SD Gothic Neo"/>
              </a:defRPr>
            </a:pPr>
            <a:r>
              <a:t>Private App Channel 관점</a:t>
            </a:r>
          </a:p>
        </p:txBody>
      </p:sp>
      <p:sp>
        <p:nvSpPr>
          <p:cNvPr id="19" name="Oval 18"/>
          <p:cNvSpPr/>
          <p:nvPr/>
        </p:nvSpPr>
        <p:spPr>
          <a:xfrm>
            <a:off x="7040880" y="32095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05472" y="31363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채널마다 하나의 registered DApp</a:t>
            </a:r>
          </a:p>
        </p:txBody>
      </p:sp>
      <p:sp>
        <p:nvSpPr>
          <p:cNvPr id="21" name="Oval 20"/>
          <p:cNvSpPr/>
          <p:nvPr/>
        </p:nvSpPr>
        <p:spPr>
          <a:xfrm>
            <a:off x="7040880" y="36667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05472" y="35935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생성 시점의 immutable policy snapshot</a:t>
            </a:r>
          </a:p>
        </p:txBody>
      </p:sp>
      <p:sp>
        <p:nvSpPr>
          <p:cNvPr id="23" name="Oval 22"/>
          <p:cNvSpPr/>
          <p:nvPr/>
        </p:nvSpPr>
        <p:spPr>
          <a:xfrm>
            <a:off x="7040880" y="41239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05472" y="4050791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DApp이 직접 설계하는 disclosure model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650992" y="3456432"/>
            <a:ext cx="768096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389120" y="5074920"/>
            <a:ext cx="3383280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policy choice가 명시적인 사용자 선택이 된다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시스템 모델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참여자, 컨트랙트, 상태 도메인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 fabric은 공유되지만 각 채널은 DApp 단위의 실행 도메인이다.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2926080"/>
            <a:ext cx="1810512" cy="658368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999232"/>
            <a:ext cx="1682495" cy="512063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User / CLI / Prover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55264" y="2139696"/>
            <a:ext cx="1673352" cy="603504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19272" y="2212848"/>
            <a:ext cx="1545336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BridgeCore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55264" y="3246120"/>
            <a:ext cx="1673352" cy="603504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19272" y="3319272"/>
            <a:ext cx="1545336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DAppManager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55264" y="4352544"/>
            <a:ext cx="1673352" cy="603504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19272" y="4425696"/>
            <a:ext cx="1545336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L1TokenVault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33872" y="2926080"/>
            <a:ext cx="1993392" cy="658368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97880" y="2999232"/>
            <a:ext cx="1865376" cy="512063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ChannelManager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31936" y="2286000"/>
            <a:ext cx="1883664" cy="548640"/>
          </a:xfrm>
          <a:prstGeom prst="roundRect">
            <a:avLst/>
          </a:prstGeom>
          <a:solidFill>
            <a:srgbClr val="E8FB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95944" y="2359152"/>
            <a:ext cx="1755648" cy="40233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TokamakVerifier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31936" y="3611880"/>
            <a:ext cx="1883664" cy="548640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95944" y="3685032"/>
            <a:ext cx="1755648" cy="40233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Groth16Verifier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31936" y="4937760"/>
            <a:ext cx="1883664" cy="54864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95944" y="5010912"/>
            <a:ext cx="1755648" cy="40233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DApp storage vector</a:t>
            </a:r>
          </a:p>
        </p:txBody>
      </p:sp>
      <p:cxnSp>
        <p:nvCxnSpPr>
          <p:cNvPr id="25" name="Connector 24"/>
          <p:cNvCxnSpPr/>
          <p:nvPr/>
        </p:nvCxnSpPr>
        <p:spPr>
          <a:xfrm flipV="1">
            <a:off x="2478024" y="2441448"/>
            <a:ext cx="777240" cy="813816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478024" y="3255264"/>
            <a:ext cx="777240" cy="292608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928616" y="2441448"/>
            <a:ext cx="905256" cy="813816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4928616" y="3255264"/>
            <a:ext cx="905256" cy="292608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4928616" y="3255264"/>
            <a:ext cx="905256" cy="1399032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7827264" y="2560320"/>
            <a:ext cx="804672" cy="694944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827264" y="3255264"/>
            <a:ext cx="804672" cy="630936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7827264" y="3255264"/>
            <a:ext cx="804672" cy="1956816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2926080" y="1847088"/>
            <a:ext cx="2697480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5C667A"/>
                </a:solidFill>
                <a:latin typeface="Apple SD Gothic Neo"/>
              </a:defRPr>
            </a:pPr>
            <a:r>
              <a:t>공유 L1 control plane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59552" y="2395728"/>
            <a:ext cx="2697480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5C667A"/>
                </a:solidFill>
                <a:latin typeface="Apple SD Gothic Neo"/>
              </a:defRPr>
            </a:pPr>
            <a:r>
              <a:t>채널별 실행 표면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연구 차별성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무엇이 다른가?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브릿지는 admission 시점에는 DApp-aware이고, 정산 시점에는 자산 보관 규칙을 일반화한다.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194560"/>
            <a:ext cx="3310128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4088" y="2194560"/>
            <a:ext cx="45720" cy="17373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2359152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Metadata-driven admission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2743200"/>
            <a:ext cx="2907792" cy="10789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등록 metadata가 function selector, preprocess hash, storage root, public input offset에 대한 브릿지 vocabulary를 정의한다.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194560"/>
            <a:ext cx="3310128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194560"/>
            <a:ext cx="45720" cy="1737360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7" y="2359152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Immutable channel policy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2743200"/>
            <a:ext cx="2907792" cy="10789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기존 채널은 생성 시점에 수락한 verifier snapshot, function root, managed storage vector, refund policy를 유지한다.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65592" y="2194560"/>
            <a:ext cx="3310128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65592" y="2194560"/>
            <a:ext cx="45720" cy="17373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Split proof roles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743200"/>
            <a:ext cx="2907792" cy="10789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Tokamak proof는 DApp 실행을, Groth16 updateTree proof는 channel-token-vault accounting을 담당한다.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87552" y="4617720"/>
            <a:ext cx="10213848" cy="65836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34440" y="4773168"/>
            <a:ext cx="973836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Apple SD Gothic Neo"/>
              </a:defRPr>
            </a:pPr>
            <a:r>
              <a:t>연구 관점: monolithic rollup 대신 validity proof, metadata admission, channel-local policy를 결합해 Ethereum 정산을 보존한다.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CHANNEL POLICY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채널 생성 시 무엇이 고정되는가?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채널은 사용자가 수락하려는 실행 문법을 스냅샷으로 보존한다.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" y="2221992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60704" y="2404872"/>
            <a:ext cx="201168" cy="20116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99032" y="2386584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DApp metadata digest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62272" y="2221992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26864" y="2404872"/>
            <a:ext cx="201168" cy="201168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5192" y="2386584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function metadata root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28431" y="2221992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193023" y="2404872"/>
            <a:ext cx="201168" cy="20116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31352" y="2386584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verifier snapshot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" y="3191256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60704" y="3374136"/>
            <a:ext cx="201168" cy="201168"/>
          </a:xfrm>
          <a:prstGeom prst="ellipse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99032" y="3355848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managed storage vector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62272" y="3191256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626864" y="3374136"/>
            <a:ext cx="201168" cy="201168"/>
          </a:xfrm>
          <a:prstGeom prst="ellipse">
            <a:avLst/>
          </a:prstGeom>
          <a:solidFill>
            <a:srgbClr val="00A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65192" y="3355848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token-vault index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28431" y="3191256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193023" y="3374136"/>
            <a:ext cx="201168" cy="201168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31352" y="3355848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join toll / refund policy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6112" y="4160520"/>
            <a:ext cx="713232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60704" y="4343400"/>
            <a:ext cx="201168" cy="201168"/>
          </a:xfrm>
          <a:prstGeom prst="ellipse">
            <a:avLst/>
          </a:prstGeom>
          <a:solidFill>
            <a:srgbClr val="354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99032" y="4325112"/>
            <a:ext cx="64922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genesis aPubBlockHash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5212080"/>
            <a:ext cx="9802368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이후 metadata나 verifier가 바뀌어도 이미 생성된 채널의 정책은 조용히 재작성되지 않는다.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브릿지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공유 Control Plane, 격리된 Channel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루트 컨트랙트는 custody와 admission을 조정하고, ChannelManager는 채널별 commitment를 추적한다.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212848"/>
            <a:ext cx="10789920" cy="1024128"/>
          </a:xfrm>
          <a:prstGeom prst="roundRect">
            <a:avLst/>
          </a:prstGeom>
          <a:solidFill>
            <a:srgbClr val="EAF0F8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377440"/>
            <a:ext cx="338328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공유 Ethereum Control Plane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9264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2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BridgeCore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20440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4448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DAppManager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71616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35624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L1TokenVault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22792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0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ChannelDeployer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4088" y="3822191"/>
            <a:ext cx="10789920" cy="1115568"/>
          </a:xfrm>
          <a:prstGeom prst="roundRect">
            <a:avLst/>
          </a:prstGeom>
          <a:solidFill>
            <a:srgbClr val="F1F6F2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005072"/>
            <a:ext cx="365760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채널별 실행 도메인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80160" y="4407408"/>
            <a:ext cx="260604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44168" y="4480560"/>
            <a:ext cx="2478024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 A</a:t>
            </a:r>
          </a:p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ChannelManager + state commitment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286000" y="3236976"/>
            <a:ext cx="0" cy="585215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4617720" y="4407408"/>
            <a:ext cx="260604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81728" y="4480560"/>
            <a:ext cx="2478024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 B</a:t>
            </a:r>
          </a:p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ChannelManager + state commitment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623560" y="3236976"/>
            <a:ext cx="0" cy="585215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955279" y="4407408"/>
            <a:ext cx="260604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19288" y="4480560"/>
            <a:ext cx="2478024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 C</a:t>
            </a:r>
          </a:p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ChannelManager + state commitment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961120" y="3236976"/>
            <a:ext cx="0" cy="585215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024128" y="5321808"/>
            <a:ext cx="9985248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0">
                <a:solidFill>
                  <a:srgbClr val="5C667A"/>
                </a:solidFill>
                <a:latin typeface="Apple SD Gothic Neo"/>
              </a:defRPr>
            </a:pPr>
            <a:r>
              <a:t>기본 안전성은 isolation이다. 한 채널은 다른 채널이 수락한 상태 의미를 재작성할 수 없어야 한다.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DAPP 등록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Metadata가 Admission Boundary다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Solidity 함수 존재만으로는 부족하다. 브릿지는 등록된 proof vocabulary만 받아들인다.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148840"/>
            <a:ext cx="4389120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395728"/>
            <a:ext cx="31089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1B1F2A"/>
                </a:solidFill>
                <a:latin typeface="Apple SD Gothic Neo"/>
              </a:defRPr>
            </a:pPr>
            <a:r>
              <a:t>등록 payload</a:t>
            </a:r>
          </a:p>
        </p:txBody>
      </p:sp>
      <p:sp>
        <p:nvSpPr>
          <p:cNvPr id="11" name="Oval 10"/>
          <p:cNvSpPr/>
          <p:nvPr/>
        </p:nvSpPr>
        <p:spPr>
          <a:xfrm>
            <a:off x="1097280" y="294436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287121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managed storage vector</a:t>
            </a:r>
          </a:p>
        </p:txBody>
      </p:sp>
      <p:sp>
        <p:nvSpPr>
          <p:cNvPr id="13" name="Oval 12"/>
          <p:cNvSpPr/>
          <p:nvPr/>
        </p:nvSpPr>
        <p:spPr>
          <a:xfrm>
            <a:off x="1097280" y="321868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314553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정확히 하나의 channel-token-vault storage</a:t>
            </a:r>
          </a:p>
        </p:txBody>
      </p:sp>
      <p:sp>
        <p:nvSpPr>
          <p:cNvPr id="15" name="Oval 14"/>
          <p:cNvSpPr/>
          <p:nvPr/>
        </p:nvSpPr>
        <p:spPr>
          <a:xfrm>
            <a:off x="1097280" y="349300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341985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pre-allocated storage keys</a:t>
            </a:r>
          </a:p>
        </p:txBody>
      </p:sp>
      <p:sp>
        <p:nvSpPr>
          <p:cNvPr id="17" name="Oval 16"/>
          <p:cNvSpPr/>
          <p:nvPr/>
        </p:nvSpPr>
        <p:spPr>
          <a:xfrm>
            <a:off x="1097280" y="376732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61872" y="369417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user storage slots</a:t>
            </a:r>
          </a:p>
        </p:txBody>
      </p:sp>
      <p:sp>
        <p:nvSpPr>
          <p:cNvPr id="19" name="Oval 18"/>
          <p:cNvSpPr/>
          <p:nvPr/>
        </p:nvSpPr>
        <p:spPr>
          <a:xfrm>
            <a:off x="1097280" y="404164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61872" y="396849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supported function list</a:t>
            </a:r>
          </a:p>
        </p:txBody>
      </p:sp>
      <p:sp>
        <p:nvSpPr>
          <p:cNvPr id="21" name="Oval 20"/>
          <p:cNvSpPr/>
          <p:nvPr/>
        </p:nvSpPr>
        <p:spPr>
          <a:xfrm>
            <a:off x="1097280" y="431596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61872" y="424281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function별 preprocess hash</a:t>
            </a:r>
          </a:p>
        </p:txBody>
      </p:sp>
      <p:sp>
        <p:nvSpPr>
          <p:cNvPr id="23" name="Oval 22"/>
          <p:cNvSpPr/>
          <p:nvPr/>
        </p:nvSpPr>
        <p:spPr>
          <a:xfrm>
            <a:off x="1097280" y="459028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61872" y="451713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storage-write metadata</a:t>
            </a:r>
          </a:p>
        </p:txBody>
      </p:sp>
      <p:sp>
        <p:nvSpPr>
          <p:cNvPr id="25" name="Oval 24"/>
          <p:cNvSpPr/>
          <p:nvPr/>
        </p:nvSpPr>
        <p:spPr>
          <a:xfrm>
            <a:off x="1097280" y="486460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61872" y="479145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event-log metadata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64224" y="2148840"/>
            <a:ext cx="4389120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65976" y="2395728"/>
            <a:ext cx="31089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1B1F2A"/>
                </a:solidFill>
                <a:latin typeface="Apple SD Gothic Neo"/>
              </a:defRPr>
            </a:pPr>
            <a:r>
              <a:t>Runtime decision</a:t>
            </a:r>
          </a:p>
        </p:txBody>
      </p:sp>
      <p:sp>
        <p:nvSpPr>
          <p:cNvPr id="29" name="Oval 28"/>
          <p:cNvSpPr/>
          <p:nvPr/>
        </p:nvSpPr>
        <p:spPr>
          <a:xfrm>
            <a:off x="6739128" y="295351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03720" y="2880360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이 DApp이 등록되어 있는가?</a:t>
            </a:r>
          </a:p>
        </p:txBody>
      </p:sp>
      <p:sp>
        <p:nvSpPr>
          <p:cNvPr id="31" name="Oval 30"/>
          <p:cNvSpPr/>
          <p:nvPr/>
        </p:nvSpPr>
        <p:spPr>
          <a:xfrm>
            <a:off x="6739128" y="333756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03720" y="3264408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function root가 admissible한가?</a:t>
            </a:r>
          </a:p>
        </p:txBody>
      </p:sp>
      <p:sp>
        <p:nvSpPr>
          <p:cNvPr id="33" name="Oval 32"/>
          <p:cNvSpPr/>
          <p:nvPr/>
        </p:nvSpPr>
        <p:spPr>
          <a:xfrm>
            <a:off x="6739128" y="3721607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03720" y="3648456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preprocess hash가 일치하는가?</a:t>
            </a:r>
          </a:p>
        </p:txBody>
      </p:sp>
      <p:sp>
        <p:nvSpPr>
          <p:cNvPr id="35" name="Oval 34"/>
          <p:cNvSpPr/>
          <p:nvPr/>
        </p:nvSpPr>
        <p:spPr>
          <a:xfrm>
            <a:off x="6739128" y="410565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03720" y="4032504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storage-write index가 managed vector 안에 있는가?</a:t>
            </a:r>
          </a:p>
        </p:txBody>
      </p:sp>
      <p:sp>
        <p:nvSpPr>
          <p:cNvPr id="37" name="Oval 36"/>
          <p:cNvSpPr/>
          <p:nvPr/>
        </p:nvSpPr>
        <p:spPr>
          <a:xfrm>
            <a:off x="6739128" y="448970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03720" y="4416552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event topic 수와 public input layout이 허용 범위인가?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257800" y="3657600"/>
            <a:ext cx="886968" cy="0"/>
          </a:xfrm>
          <a:prstGeom prst="line">
            <a:avLst/>
          </a:prstGeom>
          <a:ln w="254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채널 생성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Registered DApp에서 Live Channel로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DApp 등록 후에는 누구나 해당 metadata digest를 기대값으로 제시해 채널 생성을 요청할 수 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14</a:t>
            </a:r>
          </a:p>
        </p:txBody>
      </p:sp>
      <p:sp>
        <p:nvSpPr>
          <p:cNvPr id="9" name="Oval 8"/>
          <p:cNvSpPr/>
          <p:nvPr/>
        </p:nvSpPr>
        <p:spPr>
          <a:xfrm>
            <a:off x="1426464" y="2240280"/>
            <a:ext cx="512064" cy="5120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26464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7824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metadata digest 확인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3744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3538728" y="2240280"/>
            <a:ext cx="512064" cy="512064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8728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90088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99816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leader와 asset binding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636008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5650992" y="22402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50992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02352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12080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verifier와 function root snapshot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748272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7763256" y="2240280"/>
            <a:ext cx="512064" cy="512064"/>
          </a:xfrm>
          <a:prstGeom prst="ellipse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63256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14616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24344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ChannelManager 배포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860536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9875519" y="2240280"/>
            <a:ext cx="512064" cy="512064"/>
          </a:xfrm>
          <a:prstGeom prst="ellipse">
            <a:avLst/>
          </a:prstGeom>
          <a:solidFill>
            <a:srgbClr val="00A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75519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326880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36607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root hash와 aPubBlockHash 초기화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8448" y="4690872"/>
            <a:ext cx="9601200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생성자는 exposed channel parameter만 선택한다. 실행 문법은 등록 metadata와 verifier snapshot에서 온다.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ZKP 목적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ZKP를 왜 쓰는가?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많은 블록체인 파생 시스템에서 ZKP는 scalability 또는 privacy를 위해 쓰인다. 여기서 중심 목적은 privacy 강화다.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139696"/>
            <a:ext cx="4864608" cy="2487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414016"/>
            <a:ext cx="402336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F59E0B"/>
                </a:solidFill>
                <a:latin typeface="Apple SD Gothic Neo"/>
              </a:defRPr>
            </a:pPr>
            <a:r>
              <a:t>Scalability use</a:t>
            </a:r>
          </a:p>
        </p:txBody>
      </p:sp>
      <p:sp>
        <p:nvSpPr>
          <p:cNvPr id="11" name="Oval 10"/>
          <p:cNvSpPr/>
          <p:nvPr/>
        </p:nvSpPr>
        <p:spPr>
          <a:xfrm>
            <a:off x="1188720" y="298094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2907792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많은 transaction을 압축</a:t>
            </a:r>
          </a:p>
        </p:txBody>
      </p:sp>
      <p:sp>
        <p:nvSpPr>
          <p:cNvPr id="13" name="Oval 12"/>
          <p:cNvSpPr/>
          <p:nvPr/>
        </p:nvSpPr>
        <p:spPr>
          <a:xfrm>
            <a:off x="1188720" y="3364992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53312" y="3291840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L1 execution cost 절감</a:t>
            </a:r>
          </a:p>
        </p:txBody>
      </p:sp>
      <p:sp>
        <p:nvSpPr>
          <p:cNvPr id="15" name="Oval 14"/>
          <p:cNvSpPr/>
          <p:nvPr/>
        </p:nvSpPr>
        <p:spPr>
          <a:xfrm>
            <a:off x="1188720" y="374904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53312" y="3675888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rollup throughput 개선</a:t>
            </a:r>
          </a:p>
        </p:txBody>
      </p:sp>
      <p:sp>
        <p:nvSpPr>
          <p:cNvPr id="17" name="Oval 16"/>
          <p:cNvSpPr/>
          <p:nvPr/>
        </p:nvSpPr>
        <p:spPr>
          <a:xfrm>
            <a:off x="1188720" y="4133088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53312" y="4059936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원본 semantics가 public일 수 있음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46520" y="2139696"/>
            <a:ext cx="4864608" cy="2487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02552" y="2414016"/>
            <a:ext cx="402336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21A67A"/>
                </a:solidFill>
                <a:latin typeface="Apple SD Gothic Neo"/>
              </a:defRPr>
            </a:pPr>
            <a:r>
              <a:t>Privacy use</a:t>
            </a:r>
          </a:p>
        </p:txBody>
      </p:sp>
      <p:sp>
        <p:nvSpPr>
          <p:cNvPr id="21" name="Oval 20"/>
          <p:cNvSpPr/>
          <p:nvPr/>
        </p:nvSpPr>
        <p:spPr>
          <a:xfrm>
            <a:off x="6793992" y="29809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58583" y="2907792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원본 transaction / witness 비공개</a:t>
            </a:r>
          </a:p>
        </p:txBody>
      </p:sp>
      <p:sp>
        <p:nvSpPr>
          <p:cNvPr id="23" name="Oval 22"/>
          <p:cNvSpPr/>
          <p:nvPr/>
        </p:nvSpPr>
        <p:spPr>
          <a:xfrm>
            <a:off x="6793992" y="336499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58583" y="3291840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public input만 L1에 노출</a:t>
            </a:r>
          </a:p>
        </p:txBody>
      </p:sp>
      <p:sp>
        <p:nvSpPr>
          <p:cNvPr id="25" name="Oval 24"/>
          <p:cNvSpPr/>
          <p:nvPr/>
        </p:nvSpPr>
        <p:spPr>
          <a:xfrm>
            <a:off x="6793992" y="374904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58583" y="3675888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state transition validity만 검증</a:t>
            </a:r>
          </a:p>
        </p:txBody>
      </p:sp>
      <p:sp>
        <p:nvSpPr>
          <p:cNvPr id="27" name="Oval 26"/>
          <p:cNvSpPr/>
          <p:nvPr/>
        </p:nvSpPr>
        <p:spPr>
          <a:xfrm>
            <a:off x="6793992" y="413308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58583" y="4059936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DApp별 disclosure boundary 설계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78992" y="5230368"/>
            <a:ext cx="10040112" cy="512064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16736" y="5376672"/>
            <a:ext cx="9582912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50" b="1">
                <a:solidFill>
                  <a:srgbClr val="FFFFFF"/>
                </a:solidFill>
                <a:latin typeface="Apple SD Gothic Neo"/>
              </a:defRPr>
            </a:pPr>
            <a:r>
              <a:t>Tokamak Private App Channels에서 ZKP는 L1 replay를 피하면서 DApp 상태 전이의 건실성을 보장하는 privacy foundation이다.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BRIDGE RESPONSIBILITY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브릿지는 트랜잭션을 replay하지 않는다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브릿지의 실제 책임은 원문 transaction 실행이 아니라, 등록된 verifier와 metadata로 proof/public input을 검증하는 것이다.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67712"/>
            <a:ext cx="1133856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5C667A"/>
                </a:solidFill>
                <a:latin typeface="Apple SD Gothic Neo"/>
              </a:defRPr>
            </a:pPr>
            <a:r>
              <a:t>채널 내부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2267712"/>
            <a:ext cx="123444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브릿지 입력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9536" y="2743200"/>
            <a:ext cx="1755648" cy="640080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3544" y="2816352"/>
            <a:ext cx="1627631" cy="49377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Private DApp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transaction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72384" y="2743200"/>
            <a:ext cx="1280160" cy="640080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36391" y="2816352"/>
            <a:ext cx="1152143" cy="49377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Prover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91456" y="2706624"/>
            <a:ext cx="1371600" cy="713232"/>
          </a:xfrm>
          <a:prstGeom prst="roundRect">
            <a:avLst/>
          </a:prstGeom>
          <a:solidFill>
            <a:srgbClr val="E8FB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55464" y="2779776"/>
            <a:ext cx="1243584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ZKP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+ public input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65392" y="2651760"/>
            <a:ext cx="2212848" cy="82296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2724912"/>
            <a:ext cx="2084831" cy="6766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Bridge verifier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+ metadata check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45168" y="2743200"/>
            <a:ext cx="1554480" cy="640080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09176" y="2816352"/>
            <a:ext cx="1426464" cy="49377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Channel root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update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615184" y="3063240"/>
            <a:ext cx="457200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352544" y="3063240"/>
            <a:ext cx="438912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163056" y="3063240"/>
            <a:ext cx="402336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778240" y="3063240"/>
            <a:ext cx="566928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590288" y="2359152"/>
            <a:ext cx="0" cy="1325880"/>
          </a:xfrm>
          <a:prstGeom prst="line">
            <a:avLst/>
          </a:prstGeom>
          <a:ln w="1778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160520" y="3703320"/>
            <a:ext cx="1170432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50" b="1">
                <a:solidFill>
                  <a:srgbClr val="2563EB"/>
                </a:solidFill>
                <a:latin typeface="Apple SD Gothic Neo"/>
              </a:defRPr>
            </a:pPr>
            <a:r>
              <a:t>only proof crosses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6112" y="4206240"/>
            <a:ext cx="4059936" cy="804672"/>
          </a:xfrm>
          <a:prstGeom prst="roundRect">
            <a:avLst/>
          </a:prstGeom>
          <a:solidFill>
            <a:srgbClr val="FFF2F2"/>
          </a:solidFill>
          <a:ln w="12700">
            <a:solidFill>
              <a:srgbClr val="D9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25296" y="4370832"/>
            <a:ext cx="1353312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1">
                <a:solidFill>
                  <a:srgbClr val="D94A4A"/>
                </a:solidFill>
                <a:latin typeface="Apple SD Gothic Neo"/>
              </a:defRPr>
            </a:pPr>
            <a:r>
              <a:t>사용하지 않는 경로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25296" y="4608576"/>
            <a:ext cx="3346704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50" b="1">
                <a:solidFill>
                  <a:srgbClr val="1B1F2A"/>
                </a:solidFill>
                <a:latin typeface="Apple SD Gothic Neo"/>
              </a:defRPr>
            </a:pPr>
            <a:r>
              <a:t>L1 replay / transaction semantics 직접 실행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87552" y="4343400"/>
            <a:ext cx="146304" cy="338328"/>
          </a:xfrm>
          <a:prstGeom prst="line">
            <a:avLst/>
          </a:prstGeom>
          <a:ln w="25400">
            <a:solidFill>
              <a:srgbClr val="D9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987552" y="4343400"/>
            <a:ext cx="146304" cy="338328"/>
          </a:xfrm>
          <a:prstGeom prst="line">
            <a:avLst/>
          </a:prstGeom>
          <a:ln w="25400">
            <a:solidFill>
              <a:srgbClr val="D9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5376672" y="4114800"/>
            <a:ext cx="5248656" cy="96012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0" y="4297680"/>
            <a:ext cx="91440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1">
                <a:solidFill>
                  <a:srgbClr val="21A67A"/>
                </a:solidFill>
                <a:latin typeface="Apple SD Gothic Neo"/>
              </a:defRPr>
            </a:pPr>
            <a:r>
              <a:t>실제 경로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0" y="4553712"/>
            <a:ext cx="4443984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L1은 proof, public input, registered metadata만 확인한다.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0" y="4773168"/>
            <a:ext cx="4590288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5C667A"/>
                </a:solidFill>
                <a:latin typeface="Apple SD Gothic Neo"/>
              </a:defRPr>
            </a:pPr>
            <a:r>
              <a:t>원본 transaction과 witness는 브릿지/Ethereum에서 실행되거나 해석되지 않는다.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78992" y="5413248"/>
            <a:ext cx="10040112" cy="43891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16736" y="5532120"/>
            <a:ext cx="9582912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ple SD Gothic Neo"/>
              </a:defRPr>
            </a:pPr>
            <a:r>
              <a:t>따라서 이 시스템의 bridge model은 proof verification model 하나다.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상태 전이 큰 그림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L1이 L2 실행 블록을 검증한다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Channel L2는 DApp transaction을 실행하고, Ethereum L1은 proof로 bridge/channel state를 업데이트한다.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2066543"/>
            <a:ext cx="347472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2563EB"/>
                </a:solidFill>
                <a:latin typeface="Apple SD Gothic Neo"/>
              </a:defRPr>
            </a:pPr>
            <a:r>
              <a:t>Ethereum mainnet: verification layer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" y="2432304"/>
            <a:ext cx="1572768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542032"/>
            <a:ext cx="1353312" cy="14630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L1 block 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3544" y="2761488"/>
            <a:ext cx="129844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60" b="1">
                <a:solidFill>
                  <a:srgbClr val="5C667A"/>
                </a:solidFill>
                <a:latin typeface="Apple SD Gothic Neo"/>
              </a:defRPr>
            </a:pPr>
            <a:r>
              <a:t>bridge state</a:t>
            </a:r>
          </a:p>
          <a:p>
            <a:pPr algn="ctr">
              <a:defRPr sz="960" b="1">
                <a:solidFill>
                  <a:srgbClr val="5C667A"/>
                </a:solidFill>
                <a:latin typeface="Apple SD Gothic Neo"/>
              </a:defRPr>
            </a:pPr>
            <a:r>
              <a:t>S_B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359152" y="2798064"/>
            <a:ext cx="301751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779776" y="2432304"/>
            <a:ext cx="1572768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89504" y="2542032"/>
            <a:ext cx="1353312" cy="14630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L1 block n+1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16936" y="2761488"/>
            <a:ext cx="129844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60" b="1">
                <a:solidFill>
                  <a:srgbClr val="5C667A"/>
                </a:solidFill>
                <a:latin typeface="Apple SD Gothic Neo"/>
              </a:defRPr>
            </a:pPr>
            <a:r>
              <a:t>bridge tx</a:t>
            </a:r>
          </a:p>
          <a:p>
            <a:pPr algn="ctr">
              <a:defRPr sz="960" b="1">
                <a:solidFill>
                  <a:srgbClr val="5C667A"/>
                </a:solidFill>
                <a:latin typeface="Apple SD Gothic Neo"/>
              </a:defRPr>
            </a:pPr>
            <a:r>
              <a:t>verifies pi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352544" y="2798064"/>
            <a:ext cx="301752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773168" y="2432304"/>
            <a:ext cx="1572768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82896" y="2542032"/>
            <a:ext cx="1353312" cy="14630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L1 block n+2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10328" y="2761488"/>
            <a:ext cx="129844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60" b="1">
                <a:solidFill>
                  <a:srgbClr val="5C667A"/>
                </a:solidFill>
                <a:latin typeface="Apple SD Gothic Neo"/>
              </a:defRPr>
            </a:pPr>
            <a:r>
              <a:t>updated bridge</a:t>
            </a:r>
          </a:p>
          <a:p>
            <a:pPr algn="ctr">
              <a:defRPr sz="960" b="1">
                <a:solidFill>
                  <a:srgbClr val="5C667A"/>
                </a:solidFill>
                <a:latin typeface="Apple SD Gothic Neo"/>
              </a:defRPr>
            </a:pPr>
            <a:r>
              <a:t>state S_B'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697480" y="2249424"/>
            <a:ext cx="1719072" cy="219456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61488" y="2304288"/>
            <a:ext cx="1591056" cy="731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840" b="1">
                <a:solidFill>
                  <a:srgbClr val="2563EB"/>
                </a:solidFill>
                <a:latin typeface="Apple SD Gothic Neo"/>
              </a:defRPr>
            </a:pPr>
            <a:r>
              <a:t>L1 block 안의 bridge tx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3730752"/>
            <a:ext cx="301752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21A67A"/>
                </a:solidFill>
                <a:latin typeface="Apple SD Gothic Neo"/>
              </a:defRPr>
            </a:pPr>
            <a:r>
              <a:t>Channel L2: execution layer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86384" y="4041648"/>
            <a:ext cx="1572768" cy="91440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6112" y="4151376"/>
            <a:ext cx="1353312" cy="14630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30" b="1">
                <a:solidFill>
                  <a:srgbClr val="1B1F2A"/>
                </a:solidFill>
                <a:latin typeface="Apple SD Gothic Neo"/>
              </a:defRPr>
            </a:pPr>
            <a:r>
              <a:t>L2 block 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" y="4370832"/>
            <a:ext cx="1298448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19" b="1">
                <a:solidFill>
                  <a:srgbClr val="5C667A"/>
                </a:solidFill>
                <a:latin typeface="Apple SD Gothic Neo"/>
              </a:defRPr>
            </a:pPr>
            <a:r>
              <a:t>state R_k</a:t>
            </a:r>
          </a:p>
          <a:p>
            <a:pPr algn="ctr">
              <a:defRPr sz="919" b="1">
                <a:solidFill>
                  <a:srgbClr val="5C667A"/>
                </a:solidFill>
                <a:latin typeface="Apple SD Gothic Neo"/>
              </a:defRPr>
            </a:pPr>
            <a:r>
              <a:t>+ tx batch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359152" y="4498848"/>
            <a:ext cx="301751" cy="0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2779776" y="4041648"/>
            <a:ext cx="1572768" cy="91440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889504" y="4151376"/>
            <a:ext cx="1353312" cy="14630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30" b="1">
                <a:solidFill>
                  <a:srgbClr val="1B1F2A"/>
                </a:solidFill>
                <a:latin typeface="Apple SD Gothic Neo"/>
              </a:defRPr>
            </a:pPr>
            <a:r>
              <a:t>L2 block k+1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16936" y="4370832"/>
            <a:ext cx="1298448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860" b="1">
                <a:solidFill>
                  <a:srgbClr val="5C667A"/>
                </a:solidFill>
                <a:latin typeface="Apple SD Gothic Neo"/>
              </a:defRPr>
            </a:pPr>
            <a:r>
              <a:t>execute txs</a:t>
            </a:r>
          </a:p>
          <a:p>
            <a:pPr algn="ctr">
              <a:defRPr sz="860" b="1">
                <a:solidFill>
                  <a:srgbClr val="5C667A"/>
                </a:solidFill>
                <a:latin typeface="Apple SD Gothic Neo"/>
              </a:defRPr>
            </a:pPr>
            <a:r>
              <a:t>R_k -&gt; R_k+1</a:t>
            </a:r>
          </a:p>
          <a:p>
            <a:pPr algn="ctr">
              <a:defRPr sz="860" b="1">
                <a:solidFill>
                  <a:srgbClr val="5C667A"/>
                </a:solidFill>
                <a:latin typeface="Apple SD Gothic Neo"/>
              </a:defRPr>
            </a:pPr>
            <a:r>
              <a:t>proof pi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352544" y="4498848"/>
            <a:ext cx="301752" cy="0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4773168" y="4041648"/>
            <a:ext cx="1572768" cy="91440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82896" y="4151376"/>
            <a:ext cx="1353312" cy="14630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30" b="1">
                <a:solidFill>
                  <a:srgbClr val="1B1F2A"/>
                </a:solidFill>
                <a:latin typeface="Apple SD Gothic Neo"/>
              </a:defRPr>
            </a:pPr>
            <a:r>
              <a:t>L2 block k+2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10328" y="4370832"/>
            <a:ext cx="1298448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19" b="1">
                <a:solidFill>
                  <a:srgbClr val="5C667A"/>
                </a:solidFill>
                <a:latin typeface="Apple SD Gothic Neo"/>
              </a:defRPr>
            </a:pPr>
            <a:r>
              <a:t>state R_k+1</a:t>
            </a:r>
          </a:p>
          <a:p>
            <a:pPr algn="ctr">
              <a:defRPr sz="919" b="1">
                <a:solidFill>
                  <a:srgbClr val="5C667A"/>
                </a:solidFill>
                <a:latin typeface="Apple SD Gothic Neo"/>
              </a:defRPr>
            </a:pPr>
            <a:r>
              <a:t>+ next txs</a:t>
            </a:r>
          </a:p>
        </p:txBody>
      </p:sp>
      <p:cxnSp>
        <p:nvCxnSpPr>
          <p:cNvPr id="35" name="Connector 34"/>
          <p:cNvCxnSpPr/>
          <p:nvPr/>
        </p:nvCxnSpPr>
        <p:spPr>
          <a:xfrm flipV="1">
            <a:off x="3712463" y="3163824"/>
            <a:ext cx="0" cy="877824"/>
          </a:xfrm>
          <a:prstGeom prst="line">
            <a:avLst/>
          </a:prstGeom>
          <a:ln w="254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3986784" y="3255264"/>
            <a:ext cx="2103120" cy="475488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0" y="3383280"/>
            <a:ext cx="184708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60" b="1">
                <a:solidFill>
                  <a:srgbClr val="1B1F2A"/>
                </a:solidFill>
                <a:latin typeface="Apple SD Gothic Neo"/>
              </a:defRPr>
            </a:pPr>
            <a:r>
              <a:t>L2 block proof + 공개 데이터가</a:t>
            </a:r>
          </a:p>
          <a:p>
            <a:pPr algn="ctr">
              <a:defRPr sz="960" b="1">
                <a:solidFill>
                  <a:srgbClr val="1B1F2A"/>
                </a:solidFill>
                <a:latin typeface="Apple SD Gothic Neo"/>
              </a:defRPr>
            </a:pPr>
            <a:r>
              <a:t>bridge tx에 담긴다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784848" y="2304288"/>
            <a:ext cx="406908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059168" y="2487168"/>
            <a:ext cx="201168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354052"/>
                </a:solidFill>
                <a:latin typeface="Apple SD Gothic Neo"/>
              </a:defRPr>
            </a:pPr>
            <a:r>
              <a:t>상태 전이 책임 분리</a:t>
            </a:r>
          </a:p>
        </p:txBody>
      </p:sp>
      <p:sp>
        <p:nvSpPr>
          <p:cNvPr id="40" name="Oval 39"/>
          <p:cNvSpPr/>
          <p:nvPr/>
        </p:nvSpPr>
        <p:spPr>
          <a:xfrm>
            <a:off x="7114032" y="285292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78624" y="2779776"/>
            <a:ext cx="3081527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80" b="0">
                <a:solidFill>
                  <a:srgbClr val="1B1F2A"/>
                </a:solidFill>
                <a:latin typeface="Apple SD Gothic Neo"/>
              </a:defRPr>
            </a:pPr>
            <a:r>
              <a:t>L2: DApp transaction 실행</a:t>
            </a:r>
          </a:p>
        </p:txBody>
      </p:sp>
      <p:sp>
        <p:nvSpPr>
          <p:cNvPr id="42" name="Oval 41"/>
          <p:cNvSpPr/>
          <p:nvPr/>
        </p:nvSpPr>
        <p:spPr>
          <a:xfrm>
            <a:off x="7114032" y="308152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278624" y="3008376"/>
            <a:ext cx="3081527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80" b="0">
                <a:solidFill>
                  <a:srgbClr val="1B1F2A"/>
                </a:solidFill>
                <a:latin typeface="Apple SD Gothic Neo"/>
              </a:defRPr>
            </a:pPr>
            <a:r>
              <a:t>L1: ZKP 검증과 bridge state update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784848" y="3767328"/>
            <a:ext cx="406908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059168" y="3931920"/>
            <a:ext cx="21031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20" b="1">
                <a:solidFill>
                  <a:srgbClr val="5C667A"/>
                </a:solidFill>
                <a:latin typeface="Apple SD Gothic Neo"/>
              </a:defRPr>
            </a:pPr>
            <a:r>
              <a:t>Channel policy field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59168" y="4142232"/>
            <a:ext cx="251460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354052"/>
                </a:solidFill>
                <a:latin typeface="Apple SD Gothic Neo"/>
              </a:defRPr>
            </a:pPr>
            <a:r>
              <a:t>Data availability 운영 방식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114032" y="4462272"/>
            <a:ext cx="950976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168896" y="4517136"/>
            <a:ext cx="841248" cy="731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760" b="1">
                <a:solidFill>
                  <a:srgbClr val="354052"/>
                </a:solidFill>
                <a:latin typeface="Apple SD Gothic Neo"/>
              </a:defRPr>
            </a:pPr>
            <a:r>
              <a:t>server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247888" y="4462272"/>
            <a:ext cx="950976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302752" y="4517136"/>
            <a:ext cx="841248" cy="731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760" b="1">
                <a:solidFill>
                  <a:srgbClr val="354052"/>
                </a:solidFill>
                <a:latin typeface="Apple SD Gothic Neo"/>
              </a:defRPr>
            </a:pPr>
            <a:r>
              <a:t>server + blob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381744" y="4462272"/>
            <a:ext cx="950976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436608" y="4517136"/>
            <a:ext cx="841248" cy="731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760" b="1">
                <a:solidFill>
                  <a:srgbClr val="354052"/>
                </a:solidFill>
                <a:latin typeface="Apple SD Gothic Neo"/>
              </a:defRPr>
            </a:pPr>
            <a:r>
              <a:t>serverless local users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078992" y="5376672"/>
            <a:ext cx="10040112" cy="43891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316736" y="5495544"/>
            <a:ext cx="9582912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60" b="1">
                <a:solidFill>
                  <a:srgbClr val="FFFFFF"/>
                </a:solidFill>
                <a:latin typeface="Apple SD Gothic Neo"/>
              </a:defRPr>
            </a:pPr>
            <a:r>
              <a:t>L2는 실행을 만들고, L1은 그 실행의 proof를 검증해 channel state를 받아들인다.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상태 전이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Proof-Backed Bridge Execution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Proof verification model이 실제 ChannelManager 경로에서 어떻게 실행되는지 보여준다.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761488"/>
            <a:ext cx="1719072" cy="713232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CLI가 proof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input bundle 구성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404872" y="3118104"/>
            <a:ext cx="42062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935224" y="2761488"/>
            <a:ext cx="1719072" cy="713232"/>
          </a:xfrm>
          <a:prstGeom prst="roundRect">
            <a:avLst/>
          </a:prstGeom>
          <a:solidFill>
            <a:srgbClr val="E8FB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99232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Tokamak proof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검증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654296" y="3118104"/>
            <a:ext cx="42062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184648" y="2761488"/>
            <a:ext cx="1719072" cy="713232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48656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metadata check가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public input 해석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903720" y="3118104"/>
            <a:ext cx="42062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434071" y="2761488"/>
            <a:ext cx="1719072" cy="713232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79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root-vector hash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갱신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153143" y="3118104"/>
            <a:ext cx="42062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683496" y="2761488"/>
            <a:ext cx="1719072" cy="713232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47504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observed write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이벤트 방출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91640" y="4434840"/>
            <a:ext cx="8796528" cy="98755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764792" y="4599431"/>
            <a:ext cx="2785872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현재 상태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64792" y="4873752"/>
            <a:ext cx="2785872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H(R_current)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96968" y="4599431"/>
            <a:ext cx="2785872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증명 주장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96968" y="4873752"/>
            <a:ext cx="2785872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pi validates 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23816" y="4572000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29144" y="4599431"/>
            <a:ext cx="2785872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다음 상태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9144" y="4873752"/>
            <a:ext cx="2785872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H(R_updated)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55992" y="4572000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VERIFIER 구성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두 verifier는 같은 root vector를 다른 경로로 갱신한다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TokamakVerifier는 범용 실행 경로이고, Groth16Verifier는 channelTokenVault 전용 빠른 경로다.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" y="2148840"/>
            <a:ext cx="3090672" cy="1664208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2415" y="2395728"/>
            <a:ext cx="256032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TokamakVerifier</a:t>
            </a:r>
          </a:p>
        </p:txBody>
      </p:sp>
      <p:sp>
        <p:nvSpPr>
          <p:cNvPr id="11" name="Oval 10"/>
          <p:cNvSpPr/>
          <p:nvPr/>
        </p:nvSpPr>
        <p:spPr>
          <a:xfrm>
            <a:off x="1060704" y="2862072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25295" y="2788920"/>
            <a:ext cx="2258568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DApp별 함수 실행 proof</a:t>
            </a:r>
          </a:p>
        </p:txBody>
      </p:sp>
      <p:sp>
        <p:nvSpPr>
          <p:cNvPr id="13" name="Oval 12"/>
          <p:cNvSpPr/>
          <p:nvPr/>
        </p:nvSpPr>
        <p:spPr>
          <a:xfrm>
            <a:off x="1060704" y="3154679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25295" y="3081527"/>
            <a:ext cx="2258568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root vector 전체 갱신 가능</a:t>
            </a:r>
          </a:p>
        </p:txBody>
      </p:sp>
      <p:sp>
        <p:nvSpPr>
          <p:cNvPr id="15" name="Oval 14"/>
          <p:cNvSpPr/>
          <p:nvPr/>
        </p:nvSpPr>
        <p:spPr>
          <a:xfrm>
            <a:off x="1060704" y="344728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25295" y="3374136"/>
            <a:ext cx="2258568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channelTokenVault root도 포함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90288" y="2084831"/>
            <a:ext cx="2999232" cy="18105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82896" y="2340864"/>
            <a:ext cx="237744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354052"/>
                </a:solidFill>
                <a:latin typeface="Apple SD Gothic Neo"/>
              </a:defRPr>
            </a:pPr>
            <a:r>
              <a:t>Channel root vector</a:t>
            </a:r>
          </a:p>
        </p:txBody>
      </p:sp>
      <p:sp>
        <p:nvSpPr>
          <p:cNvPr id="19" name="Oval 18"/>
          <p:cNvSpPr/>
          <p:nvPr/>
        </p:nvSpPr>
        <p:spPr>
          <a:xfrm>
            <a:off x="4901184" y="281635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65776" y="2743200"/>
            <a:ext cx="2075688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DApp storage roots</a:t>
            </a:r>
          </a:p>
        </p:txBody>
      </p:sp>
      <p:sp>
        <p:nvSpPr>
          <p:cNvPr id="21" name="Oval 20"/>
          <p:cNvSpPr/>
          <p:nvPr/>
        </p:nvSpPr>
        <p:spPr>
          <a:xfrm>
            <a:off x="4901184" y="310896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65776" y="3035808"/>
            <a:ext cx="2075688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channelTokenVault root</a:t>
            </a:r>
          </a:p>
        </p:txBody>
      </p:sp>
      <p:sp>
        <p:nvSpPr>
          <p:cNvPr id="23" name="Oval 22"/>
          <p:cNvSpPr/>
          <p:nvPr/>
        </p:nvSpPr>
        <p:spPr>
          <a:xfrm>
            <a:off x="4901184" y="340156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328416"/>
            <a:ext cx="2075688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기타 channel-local roots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84464" y="2148840"/>
            <a:ext cx="3090672" cy="1664208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40496" y="2395728"/>
            <a:ext cx="256032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F59E0B"/>
                </a:solidFill>
                <a:latin typeface="Apple SD Gothic Neo"/>
              </a:defRPr>
            </a:pPr>
            <a:r>
              <a:t>Groth16Verifier</a:t>
            </a:r>
          </a:p>
        </p:txBody>
      </p:sp>
      <p:sp>
        <p:nvSpPr>
          <p:cNvPr id="27" name="Oval 26"/>
          <p:cNvSpPr/>
          <p:nvPr/>
        </p:nvSpPr>
        <p:spPr>
          <a:xfrm>
            <a:off x="8558784" y="2862072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23376" y="2788920"/>
            <a:ext cx="2258568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channelTokenVault root 전용</a:t>
            </a:r>
          </a:p>
        </p:txBody>
      </p:sp>
      <p:sp>
        <p:nvSpPr>
          <p:cNvPr id="29" name="Oval 28"/>
          <p:cNvSpPr/>
          <p:nvPr/>
        </p:nvSpPr>
        <p:spPr>
          <a:xfrm>
            <a:off x="8558784" y="3154679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23376" y="3081527"/>
            <a:ext cx="2258568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deposit / withdraw 공통 경로</a:t>
            </a:r>
          </a:p>
        </p:txBody>
      </p:sp>
      <p:sp>
        <p:nvSpPr>
          <p:cNvPr id="31" name="Oval 30"/>
          <p:cNvSpPr/>
          <p:nvPr/>
        </p:nvSpPr>
        <p:spPr>
          <a:xfrm>
            <a:off x="8558784" y="3447288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23376" y="3374136"/>
            <a:ext cx="2258568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빠른 proof 생성이 목적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3877056" y="2999232"/>
            <a:ext cx="713232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>
            <a:off x="7589520" y="2999232"/>
            <a:ext cx="694944" cy="0"/>
          </a:xfrm>
          <a:prstGeom prst="line">
            <a:avLst/>
          </a:prstGeom>
          <a:ln w="254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1005840" y="4553712"/>
            <a:ext cx="10113264" cy="786384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80160" y="4782312"/>
            <a:ext cx="9564624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20" b="1">
                <a:solidFill>
                  <a:srgbClr val="1B1F2A"/>
                </a:solidFill>
                <a:latin typeface="Apple SD Gothic Neo"/>
              </a:defRPr>
            </a:pPr>
            <a:r>
              <a:t>왜 나누는가? 범용 DApp 실행은 Tokamak 경로가 맡고, 모든 DApp이 공유하는 입출금 accounting은 Groth16 빠른 경로로 사용자 대기 시간을 줄인다.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TOKAMAKVERIFIER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범용 DApp 실행 proof를 검증한다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DApp별 transition semantics는 registered metadata와 Tokamak public input이 함께 의미를 만든다.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2139696"/>
            <a:ext cx="3154680" cy="2450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395728"/>
            <a:ext cx="25603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언제 호출되는가</a:t>
            </a:r>
          </a:p>
        </p:txBody>
      </p:sp>
      <p:sp>
        <p:nvSpPr>
          <p:cNvPr id="11" name="Oval 10"/>
          <p:cNvSpPr/>
          <p:nvPr/>
        </p:nvSpPr>
        <p:spPr>
          <a:xfrm>
            <a:off x="1078992" y="292608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3584" y="2852928"/>
            <a:ext cx="2304288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ChannelManager 실행 경로</a:t>
            </a:r>
          </a:p>
        </p:txBody>
      </p:sp>
      <p:sp>
        <p:nvSpPr>
          <p:cNvPr id="13" name="Oval 12"/>
          <p:cNvSpPr/>
          <p:nvPr/>
        </p:nvSpPr>
        <p:spPr>
          <a:xfrm>
            <a:off x="1078992" y="321868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3584" y="3145536"/>
            <a:ext cx="2304288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executeChannelTransaction(...)</a:t>
            </a:r>
          </a:p>
        </p:txBody>
      </p:sp>
      <p:sp>
        <p:nvSpPr>
          <p:cNvPr id="15" name="Oval 14"/>
          <p:cNvSpPr/>
          <p:nvPr/>
        </p:nvSpPr>
        <p:spPr>
          <a:xfrm>
            <a:off x="1078992" y="3511296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43584" y="3438144"/>
            <a:ext cx="2304288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DApp-specific tx 제출</a:t>
            </a:r>
          </a:p>
        </p:txBody>
      </p:sp>
      <p:sp>
        <p:nvSpPr>
          <p:cNvPr id="17" name="Oval 16"/>
          <p:cNvSpPr/>
          <p:nvPr/>
        </p:nvSpPr>
        <p:spPr>
          <a:xfrm>
            <a:off x="1078992" y="380390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43584" y="3730752"/>
            <a:ext cx="2304288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private-state mint / transfer / redeem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98848" y="2139696"/>
            <a:ext cx="3154680" cy="2450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0" y="2395728"/>
            <a:ext cx="25603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1A67A"/>
                </a:solidFill>
                <a:latin typeface="Apple SD Gothic Neo"/>
              </a:defRPr>
            </a:pPr>
            <a:r>
              <a:t>입력으로 보는 것</a:t>
            </a:r>
          </a:p>
        </p:txBody>
      </p:sp>
      <p:sp>
        <p:nvSpPr>
          <p:cNvPr id="21" name="Oval 20"/>
          <p:cNvSpPr/>
          <p:nvPr/>
        </p:nvSpPr>
        <p:spPr>
          <a:xfrm>
            <a:off x="4828032" y="292608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92624" y="2852928"/>
            <a:ext cx="230428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proofPart1 / proofPart2</a:t>
            </a:r>
          </a:p>
        </p:txBody>
      </p:sp>
      <p:sp>
        <p:nvSpPr>
          <p:cNvPr id="23" name="Oval 22"/>
          <p:cNvSpPr/>
          <p:nvPr/>
        </p:nvSpPr>
        <p:spPr>
          <a:xfrm>
            <a:off x="4828032" y="325526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92624" y="3182112"/>
            <a:ext cx="230428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functionPreprocessPart1/2</a:t>
            </a:r>
          </a:p>
        </p:txBody>
      </p:sp>
      <p:sp>
        <p:nvSpPr>
          <p:cNvPr id="25" name="Oval 24"/>
          <p:cNvSpPr/>
          <p:nvPr/>
        </p:nvSpPr>
        <p:spPr>
          <a:xfrm>
            <a:off x="4828032" y="358444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92624" y="3511296"/>
            <a:ext cx="230428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aPubUser</a:t>
            </a:r>
          </a:p>
        </p:txBody>
      </p:sp>
      <p:sp>
        <p:nvSpPr>
          <p:cNvPr id="27" name="Oval 26"/>
          <p:cNvSpPr/>
          <p:nvPr/>
        </p:nvSpPr>
        <p:spPr>
          <a:xfrm>
            <a:off x="4828032" y="391363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92624" y="3840480"/>
            <a:ext cx="230428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aPubBlock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47888" y="2139696"/>
            <a:ext cx="2999232" cy="2450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03920" y="2395728"/>
            <a:ext cx="23774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6D5BD0"/>
                </a:solidFill>
                <a:latin typeface="Apple SD Gothic Neo"/>
              </a:defRPr>
            </a:pPr>
            <a:r>
              <a:t>출력과 영향</a:t>
            </a:r>
          </a:p>
        </p:txBody>
      </p:sp>
      <p:sp>
        <p:nvSpPr>
          <p:cNvPr id="31" name="Oval 30"/>
          <p:cNvSpPr/>
          <p:nvPr/>
        </p:nvSpPr>
        <p:spPr>
          <a:xfrm>
            <a:off x="8577072" y="2926080"/>
            <a:ext cx="73152" cy="73152"/>
          </a:xfrm>
          <a:prstGeom prst="ellipse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41664" y="2852928"/>
            <a:ext cx="207568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verify(...) == true</a:t>
            </a:r>
          </a:p>
        </p:txBody>
      </p:sp>
      <p:sp>
        <p:nvSpPr>
          <p:cNvPr id="33" name="Oval 32"/>
          <p:cNvSpPr/>
          <p:nvPr/>
        </p:nvSpPr>
        <p:spPr>
          <a:xfrm>
            <a:off x="8577072" y="3255264"/>
            <a:ext cx="73152" cy="73152"/>
          </a:xfrm>
          <a:prstGeom prst="ellipse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41664" y="3182112"/>
            <a:ext cx="207568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currentRootVectorHash 갱신</a:t>
            </a:r>
          </a:p>
        </p:txBody>
      </p:sp>
      <p:sp>
        <p:nvSpPr>
          <p:cNvPr id="35" name="Oval 34"/>
          <p:cNvSpPr/>
          <p:nvPr/>
        </p:nvSpPr>
        <p:spPr>
          <a:xfrm>
            <a:off x="8577072" y="3584448"/>
            <a:ext cx="73152" cy="73152"/>
          </a:xfrm>
          <a:prstGeom prst="ellipse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741664" y="3511296"/>
            <a:ext cx="207568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CurrentRootVectorObserved</a:t>
            </a:r>
          </a:p>
        </p:txBody>
      </p:sp>
      <p:sp>
        <p:nvSpPr>
          <p:cNvPr id="37" name="Oval 36"/>
          <p:cNvSpPr/>
          <p:nvPr/>
        </p:nvSpPr>
        <p:spPr>
          <a:xfrm>
            <a:off x="8577072" y="3913632"/>
            <a:ext cx="73152" cy="73152"/>
          </a:xfrm>
          <a:prstGeom prst="ellipse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741664" y="3840480"/>
            <a:ext cx="207568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StorageWriteObserved / event logs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05840" y="5212080"/>
            <a:ext cx="10113264" cy="47548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234440" y="5349240"/>
            <a:ext cx="9656064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50" b="1">
                <a:solidFill>
                  <a:srgbClr val="FFFFFF"/>
                </a:solidFill>
                <a:latin typeface="Apple SD Gothic Neo"/>
              </a:defRPr>
            </a:pPr>
            <a:r>
              <a:t>핵심: TokamakVerifier는 channelTokenVault root를 포함한 root vector 전체 업데이트를 검증할 수 있는 범용 경로다.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GROTH16VERIFIER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channelTokenVault root 전용 빠른 경로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입출금은 DApp별 함수 실행이 아니라 모든 DApp이 공유하는 channel accounting 문제다.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" y="2157984"/>
            <a:ext cx="3054096" cy="2487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2415" y="2414016"/>
            <a:ext cx="246888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F59E0B"/>
                </a:solidFill>
                <a:latin typeface="Apple SD Gothic Neo"/>
              </a:defRPr>
            </a:pPr>
            <a:r>
              <a:t>언제 호출되는가</a:t>
            </a:r>
          </a:p>
        </p:txBody>
      </p:sp>
      <p:sp>
        <p:nvSpPr>
          <p:cNvPr id="11" name="Oval 10"/>
          <p:cNvSpPr/>
          <p:nvPr/>
        </p:nvSpPr>
        <p:spPr>
          <a:xfrm>
            <a:off x="1115568" y="2944368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0160" y="2871216"/>
            <a:ext cx="2167127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L1TokenVault 실행 경로</a:t>
            </a:r>
          </a:p>
        </p:txBody>
      </p:sp>
      <p:sp>
        <p:nvSpPr>
          <p:cNvPr id="13" name="Oval 12"/>
          <p:cNvSpPr/>
          <p:nvPr/>
        </p:nvSpPr>
        <p:spPr>
          <a:xfrm>
            <a:off x="1115568" y="3236976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80160" y="3163824"/>
            <a:ext cx="2167127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depositToChannelVault(...)</a:t>
            </a:r>
          </a:p>
        </p:txBody>
      </p:sp>
      <p:sp>
        <p:nvSpPr>
          <p:cNvPr id="15" name="Oval 14"/>
          <p:cNvSpPr/>
          <p:nvPr/>
        </p:nvSpPr>
        <p:spPr>
          <a:xfrm>
            <a:off x="1115568" y="352958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456432"/>
            <a:ext cx="2167127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withdrawFromChannelVault(...)</a:t>
            </a:r>
          </a:p>
        </p:txBody>
      </p:sp>
      <p:sp>
        <p:nvSpPr>
          <p:cNvPr id="17" name="Oval 16"/>
          <p:cNvSpPr/>
          <p:nvPr/>
        </p:nvSpPr>
        <p:spPr>
          <a:xfrm>
            <a:off x="1115568" y="3822191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3749039"/>
            <a:ext cx="2167127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balance leaf 변경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43984" y="2157984"/>
            <a:ext cx="3236976" cy="2487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00016" y="2414016"/>
            <a:ext cx="26060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고정 public signals</a:t>
            </a:r>
          </a:p>
        </p:txBody>
      </p:sp>
      <p:sp>
        <p:nvSpPr>
          <p:cNvPr id="21" name="Oval 20"/>
          <p:cNvSpPr/>
          <p:nvPr/>
        </p:nvSpPr>
        <p:spPr>
          <a:xfrm>
            <a:off x="4773168" y="294436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37759" y="2871216"/>
            <a:ext cx="2304288" cy="28346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00" b="0">
                <a:solidFill>
                  <a:srgbClr val="1B1F2A"/>
                </a:solidFill>
                <a:latin typeface="Apple SD Gothic Neo"/>
              </a:defRPr>
            </a:pPr>
            <a:r>
              <a:t>currentRoot</a:t>
            </a:r>
          </a:p>
        </p:txBody>
      </p:sp>
      <p:sp>
        <p:nvSpPr>
          <p:cNvPr id="23" name="Oval 22"/>
          <p:cNvSpPr/>
          <p:nvPr/>
        </p:nvSpPr>
        <p:spPr>
          <a:xfrm>
            <a:off x="4773168" y="325526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37759" y="3182112"/>
            <a:ext cx="2304288" cy="28346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00" b="0">
                <a:solidFill>
                  <a:srgbClr val="1B1F2A"/>
                </a:solidFill>
                <a:latin typeface="Apple SD Gothic Neo"/>
              </a:defRPr>
            </a:pPr>
            <a:r>
              <a:t>updatedRoot</a:t>
            </a:r>
          </a:p>
        </p:txBody>
      </p:sp>
      <p:sp>
        <p:nvSpPr>
          <p:cNvPr id="25" name="Oval 24"/>
          <p:cNvSpPr/>
          <p:nvPr/>
        </p:nvSpPr>
        <p:spPr>
          <a:xfrm>
            <a:off x="4773168" y="356616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37759" y="3493008"/>
            <a:ext cx="2304288" cy="28346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00" b="0">
                <a:solidFill>
                  <a:srgbClr val="1B1F2A"/>
                </a:solidFill>
                <a:latin typeface="Apple SD Gothic Neo"/>
              </a:defRPr>
            </a:pPr>
            <a:r>
              <a:t>updatedUserKey</a:t>
            </a:r>
          </a:p>
        </p:txBody>
      </p:sp>
      <p:sp>
        <p:nvSpPr>
          <p:cNvPr id="27" name="Oval 26"/>
          <p:cNvSpPr/>
          <p:nvPr/>
        </p:nvSpPr>
        <p:spPr>
          <a:xfrm>
            <a:off x="4773168" y="3877056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37759" y="3803904"/>
            <a:ext cx="2304288" cy="28346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00" b="0">
                <a:solidFill>
                  <a:srgbClr val="1B1F2A"/>
                </a:solidFill>
                <a:latin typeface="Apple SD Gothic Neo"/>
              </a:defRPr>
            </a:pPr>
            <a:r>
              <a:t>currentUserValue</a:t>
            </a:r>
          </a:p>
        </p:txBody>
      </p:sp>
      <p:sp>
        <p:nvSpPr>
          <p:cNvPr id="29" name="Oval 28"/>
          <p:cNvSpPr/>
          <p:nvPr/>
        </p:nvSpPr>
        <p:spPr>
          <a:xfrm>
            <a:off x="4773168" y="4187952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37759" y="4114800"/>
            <a:ext cx="2304288" cy="28346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00" b="0">
                <a:solidFill>
                  <a:srgbClr val="1B1F2A"/>
                </a:solidFill>
                <a:latin typeface="Apple SD Gothic Neo"/>
              </a:defRPr>
            </a:pPr>
            <a:r>
              <a:t>updatedUserValue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84464" y="2157984"/>
            <a:ext cx="2907792" cy="2487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40496" y="2414016"/>
            <a:ext cx="224028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1A67A"/>
                </a:solidFill>
                <a:latin typeface="Apple SD Gothic Neo"/>
              </a:defRPr>
            </a:pPr>
            <a:r>
              <a:t>출력과 영향</a:t>
            </a:r>
          </a:p>
        </p:txBody>
      </p:sp>
      <p:sp>
        <p:nvSpPr>
          <p:cNvPr id="33" name="Oval 32"/>
          <p:cNvSpPr/>
          <p:nvPr/>
        </p:nvSpPr>
        <p:spPr>
          <a:xfrm>
            <a:off x="8613648" y="294436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78240" y="2871216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verifyProof(...) == true</a:t>
            </a:r>
          </a:p>
        </p:txBody>
      </p:sp>
      <p:sp>
        <p:nvSpPr>
          <p:cNvPr id="35" name="Oval 34"/>
          <p:cNvSpPr/>
          <p:nvPr/>
        </p:nvSpPr>
        <p:spPr>
          <a:xfrm>
            <a:off x="8613648" y="327355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778240" y="3200400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applyVaultUpdate 호출</a:t>
            </a:r>
          </a:p>
        </p:txBody>
      </p:sp>
      <p:sp>
        <p:nvSpPr>
          <p:cNvPr id="37" name="Oval 36"/>
          <p:cNvSpPr/>
          <p:nvPr/>
        </p:nvSpPr>
        <p:spPr>
          <a:xfrm>
            <a:off x="8613648" y="360273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778240" y="3529584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channelTokenVault root 교체</a:t>
            </a:r>
          </a:p>
        </p:txBody>
      </p:sp>
      <p:sp>
        <p:nvSpPr>
          <p:cNvPr id="39" name="Oval 38"/>
          <p:cNvSpPr/>
          <p:nvPr/>
        </p:nvSpPr>
        <p:spPr>
          <a:xfrm>
            <a:off x="8613648" y="393192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778240" y="3858768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root vector hash 재계산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05840" y="5212080"/>
            <a:ext cx="10113264" cy="47548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34440" y="5349240"/>
            <a:ext cx="9656064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50" b="1">
                <a:solidFill>
                  <a:srgbClr val="FFFFFF"/>
                </a:solidFill>
                <a:latin typeface="Apple SD Gothic Neo"/>
              </a:defRPr>
            </a:pPr>
            <a:r>
              <a:t>핵심: Groth16Verifier는 범용 DApp semantics를 보지 않고, channelTokenVault accounting만 빠르게 증명한다.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VERIFIER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공통점은 root update, 차이점은 public surface다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두 verifier 모두 상태 갱신을 proof로 제한하지만, 공개 데이터의 종류와 책임 범위는 다르다.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084831"/>
            <a:ext cx="5074920" cy="2944368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359152"/>
            <a:ext cx="251460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1">
                <a:solidFill>
                  <a:srgbClr val="2563EB"/>
                </a:solidFill>
                <a:latin typeface="Apple SD Gothic Neo"/>
              </a:defRPr>
            </a:pPr>
            <a:r>
              <a:t>TokamakVerifier</a:t>
            </a:r>
          </a:p>
        </p:txBody>
      </p:sp>
      <p:sp>
        <p:nvSpPr>
          <p:cNvPr id="11" name="Oval 10"/>
          <p:cNvSpPr/>
          <p:nvPr/>
        </p:nvSpPr>
        <p:spPr>
          <a:xfrm>
            <a:off x="1078992" y="288950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3584" y="2816352"/>
            <a:ext cx="404164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DApp function 의미를 포함한다.</a:t>
            </a:r>
          </a:p>
        </p:txBody>
      </p:sp>
      <p:sp>
        <p:nvSpPr>
          <p:cNvPr id="13" name="Oval 12"/>
          <p:cNvSpPr/>
          <p:nvPr/>
        </p:nvSpPr>
        <p:spPr>
          <a:xfrm>
            <a:off x="1078992" y="325526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3584" y="3182112"/>
            <a:ext cx="404164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aPubUser / aPubBlock과 metadata를 함께 해석한다.</a:t>
            </a:r>
          </a:p>
        </p:txBody>
      </p:sp>
      <p:sp>
        <p:nvSpPr>
          <p:cNvPr id="15" name="Oval 14"/>
          <p:cNvSpPr/>
          <p:nvPr/>
        </p:nvSpPr>
        <p:spPr>
          <a:xfrm>
            <a:off x="1078992" y="362102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43584" y="3547872"/>
            <a:ext cx="404164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storage write와 event observation에 영향을 준다.</a:t>
            </a:r>
          </a:p>
        </p:txBody>
      </p:sp>
      <p:sp>
        <p:nvSpPr>
          <p:cNvPr id="17" name="Oval 16"/>
          <p:cNvSpPr/>
          <p:nvPr/>
        </p:nvSpPr>
        <p:spPr>
          <a:xfrm>
            <a:off x="1078992" y="398678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43584" y="3913632"/>
            <a:ext cx="404164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범위가 넓고 DApp마다 public input 의미가 달라진다.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82512" y="2084831"/>
            <a:ext cx="5074920" cy="2944368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56832" y="2359152"/>
            <a:ext cx="251460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1">
                <a:solidFill>
                  <a:srgbClr val="F59E0B"/>
                </a:solidFill>
                <a:latin typeface="Apple SD Gothic Neo"/>
              </a:defRPr>
            </a:pPr>
            <a:r>
              <a:t>Groth16Verifier</a:t>
            </a:r>
          </a:p>
        </p:txBody>
      </p:sp>
      <p:sp>
        <p:nvSpPr>
          <p:cNvPr id="21" name="Oval 20"/>
          <p:cNvSpPr/>
          <p:nvPr/>
        </p:nvSpPr>
        <p:spPr>
          <a:xfrm>
            <a:off x="6729984" y="288950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94576" y="2816352"/>
            <a:ext cx="399592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channelTokenVault leaf update만 본다.</a:t>
            </a:r>
          </a:p>
        </p:txBody>
      </p:sp>
      <p:sp>
        <p:nvSpPr>
          <p:cNvPr id="23" name="Oval 22"/>
          <p:cNvSpPr/>
          <p:nvPr/>
        </p:nvSpPr>
        <p:spPr>
          <a:xfrm>
            <a:off x="6729984" y="325526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94576" y="3182112"/>
            <a:ext cx="399592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고정된 5개 public signal을 사용한다.</a:t>
            </a:r>
          </a:p>
        </p:txBody>
      </p:sp>
      <p:sp>
        <p:nvSpPr>
          <p:cNvPr id="25" name="Oval 24"/>
          <p:cNvSpPr/>
          <p:nvPr/>
        </p:nvSpPr>
        <p:spPr>
          <a:xfrm>
            <a:off x="6729984" y="362102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94576" y="3547872"/>
            <a:ext cx="399592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deposit / withdraw accounting에 영향을 준다.</a:t>
            </a:r>
          </a:p>
        </p:txBody>
      </p:sp>
      <p:sp>
        <p:nvSpPr>
          <p:cNvPr id="27" name="Oval 26"/>
          <p:cNvSpPr/>
          <p:nvPr/>
        </p:nvSpPr>
        <p:spPr>
          <a:xfrm>
            <a:off x="6729984" y="398678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94576" y="3913632"/>
            <a:ext cx="399592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범위가 좁아 proof 생성과 사용자 흐름이 빠르다.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05840" y="5413248"/>
            <a:ext cx="10113264" cy="43891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234440" y="5541264"/>
            <a:ext cx="9656064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50" b="1">
                <a:solidFill>
                  <a:srgbClr val="FFFFFF"/>
                </a:solidFill>
                <a:latin typeface="Apple SD Gothic Neo"/>
              </a:defRPr>
            </a:pPr>
            <a:r>
              <a:t>정리: Tokamak은 범용성과 표현력을, Groth16은 공통 입출금의 좁은 책임 범위와 빠른 UX를 담당한다.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토큰 이동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Custody와 Accounting은 의도적으로 분리된다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canonical token은 공유 L1 vault에 남고, 채널 상태는 accounting과 note를 기록한다.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824" y="2944368"/>
            <a:ext cx="1527048" cy="530352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3017520"/>
            <a:ext cx="1399031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L1 wallet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36976" y="2651760"/>
            <a:ext cx="2093976" cy="786384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00984" y="2724912"/>
            <a:ext cx="1965960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L1TokenVault</a:t>
            </a:r>
          </a:p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canonical custody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17336" y="2651760"/>
            <a:ext cx="2176272" cy="786384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1344" y="2724912"/>
            <a:ext cx="2048255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channelTokenVault</a:t>
            </a:r>
          </a:p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Merkle accounting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70848" y="2651760"/>
            <a:ext cx="2249424" cy="786384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34856" y="2724912"/>
            <a:ext cx="2121408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Private-State DApp</a:t>
            </a:r>
          </a:p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liquid balance + notes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2404872" y="3044952"/>
            <a:ext cx="832104" cy="164592"/>
          </a:xfrm>
          <a:prstGeom prst="line">
            <a:avLst/>
          </a:prstGeom>
          <a:ln w="254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330952" y="3044952"/>
            <a:ext cx="786384" cy="0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293608" y="3044952"/>
            <a:ext cx="777240" cy="0"/>
          </a:xfrm>
          <a:prstGeom prst="line">
            <a:avLst/>
          </a:prstGeom>
          <a:ln w="25400">
            <a:solidFill>
              <a:srgbClr val="6D5B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280160" y="4462272"/>
            <a:ext cx="9637776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0">
                <a:solidFill>
                  <a:srgbClr val="5C667A"/>
                </a:solidFill>
                <a:latin typeface="Apple SD Gothic Neo"/>
              </a:defRPr>
            </a:pPr>
            <a:r>
              <a:t>fund/claim은 bridge-level available balance를 움직이고, deposit/withdraw channel은 Groth16 updateTree proof로 channel-token-vault root를 갱신한다.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4983480"/>
            <a:ext cx="9052560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join toll은 별도 treasury에 기록되며, exit refund는 시간 감쇠 스케줄과 zero channel balance 조건을 따른다.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PRIVATE-STATE 예제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Bridge-Coupled zk-Note Payment DApp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private-state는 TON custody를 L1에 유지하면서 채널 로컬 상태에 balances, commitments, nullifiers를 기록한다.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" y="2331720"/>
            <a:ext cx="4572000" cy="17922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9536" y="2331720"/>
            <a:ext cx="45720" cy="1792224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2496312"/>
            <a:ext cx="4169663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L2AccountingVault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" y="2880360"/>
            <a:ext cx="4169663" cy="11338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accounting-only liquid balance를 추적한다. controller만 balance를 변경하며 canonical custody는 아니다.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66560" y="2331720"/>
            <a:ext cx="4572000" cy="17922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766560" y="2331720"/>
            <a:ext cx="45720" cy="1792224"/>
          </a:xfrm>
          <a:prstGeom prst="rect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67728" y="2496312"/>
            <a:ext cx="4169663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PrivateStateController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67728" y="2880360"/>
            <a:ext cx="4169663" cy="11338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mint, transfer, redeem으로 note lifecycle을 제공한다. commitment 중복과 nullifier 재사용을 거부한다.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522976" y="3218688"/>
            <a:ext cx="115214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737360" y="4800600"/>
            <a:ext cx="8732520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700" b="1">
                <a:solidFill>
                  <a:srgbClr val="2563EB"/>
                </a:solidFill>
                <a:latin typeface="Apple SD Gothic Neo"/>
              </a:defRPr>
            </a:pPr>
            <a:r>
              <a:t>Managed storage vector: [PrivateStateController, L2AccountingVault]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PRIVATE-STATE DISCLOSURE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Note Transfer Without Transaction Replay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private-state는 UTXO-like note ownership transfer를 proof로 제출하고, Ethereum에는 제한된 public surface만 남긴다.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" y="2139696"/>
            <a:ext cx="3072384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1" y="2395728"/>
            <a:ext cx="26060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D94A4A"/>
                </a:solidFill>
                <a:latin typeface="Apple SD Gothic Neo"/>
              </a:defRPr>
            </a:pPr>
            <a:r>
              <a:t>Plain transfer semantics</a:t>
            </a:r>
          </a:p>
        </p:txBody>
      </p:sp>
      <p:sp>
        <p:nvSpPr>
          <p:cNvPr id="11" name="Oval 10"/>
          <p:cNvSpPr/>
          <p:nvPr/>
        </p:nvSpPr>
        <p:spPr>
          <a:xfrm>
            <a:off x="1115568" y="2926080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0160" y="2852928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amount</a:t>
            </a:r>
          </a:p>
        </p:txBody>
      </p:sp>
      <p:sp>
        <p:nvSpPr>
          <p:cNvPr id="13" name="Oval 12"/>
          <p:cNvSpPr/>
          <p:nvPr/>
        </p:nvSpPr>
        <p:spPr>
          <a:xfrm>
            <a:off x="1115568" y="325526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80160" y="3182112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from owner</a:t>
            </a:r>
          </a:p>
        </p:txBody>
      </p:sp>
      <p:sp>
        <p:nvSpPr>
          <p:cNvPr id="15" name="Oval 14"/>
          <p:cNvSpPr/>
          <p:nvPr/>
        </p:nvSpPr>
        <p:spPr>
          <a:xfrm>
            <a:off x="1115568" y="3584448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511296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to owner</a:t>
            </a:r>
          </a:p>
        </p:txBody>
      </p:sp>
      <p:sp>
        <p:nvSpPr>
          <p:cNvPr id="17" name="Oval 16"/>
          <p:cNvSpPr/>
          <p:nvPr/>
        </p:nvSpPr>
        <p:spPr>
          <a:xfrm>
            <a:off x="1115568" y="3913632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3840480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note salt / witness</a:t>
            </a:r>
          </a:p>
        </p:txBody>
      </p:sp>
      <p:sp>
        <p:nvSpPr>
          <p:cNvPr id="19" name="Oval 18"/>
          <p:cNvSpPr/>
          <p:nvPr/>
        </p:nvSpPr>
        <p:spPr>
          <a:xfrm>
            <a:off x="1115568" y="4242816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80160" y="4169664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spending authorization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80560" y="2139696"/>
            <a:ext cx="3072384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27448" y="2395728"/>
            <a:ext cx="26060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ZKP public surface</a:t>
            </a:r>
          </a:p>
        </p:txBody>
      </p:sp>
      <p:sp>
        <p:nvSpPr>
          <p:cNvPr id="23" name="Oval 22"/>
          <p:cNvSpPr/>
          <p:nvPr/>
        </p:nvSpPr>
        <p:spPr>
          <a:xfrm>
            <a:off x="4809744" y="292608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74336" y="2852928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commitments</a:t>
            </a:r>
          </a:p>
        </p:txBody>
      </p:sp>
      <p:sp>
        <p:nvSpPr>
          <p:cNvPr id="25" name="Oval 24"/>
          <p:cNvSpPr/>
          <p:nvPr/>
        </p:nvSpPr>
        <p:spPr>
          <a:xfrm>
            <a:off x="4809744" y="325526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74336" y="3182112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nullifiers</a:t>
            </a:r>
          </a:p>
        </p:txBody>
      </p:sp>
      <p:sp>
        <p:nvSpPr>
          <p:cNvPr id="27" name="Oval 26"/>
          <p:cNvSpPr/>
          <p:nvPr/>
        </p:nvSpPr>
        <p:spPr>
          <a:xfrm>
            <a:off x="4809744" y="358444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74336" y="3511296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storage root update</a:t>
            </a:r>
          </a:p>
        </p:txBody>
      </p:sp>
      <p:sp>
        <p:nvSpPr>
          <p:cNvPr id="29" name="Oval 28"/>
          <p:cNvSpPr/>
          <p:nvPr/>
        </p:nvSpPr>
        <p:spPr>
          <a:xfrm>
            <a:off x="4809744" y="3913632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74336" y="3840480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encrypted note event</a:t>
            </a:r>
          </a:p>
        </p:txBody>
      </p:sp>
      <p:sp>
        <p:nvSpPr>
          <p:cNvPr id="31" name="Oval 30"/>
          <p:cNvSpPr/>
          <p:nvPr/>
        </p:nvSpPr>
        <p:spPr>
          <a:xfrm>
            <a:off x="4809744" y="4242816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74336" y="4169664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function metadata proof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74736" y="2139696"/>
            <a:ext cx="2889504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0" y="2395728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1A67A"/>
                </a:solidFill>
                <a:latin typeface="Apple SD Gothic Neo"/>
              </a:defRPr>
            </a:pPr>
            <a:r>
              <a:t>Ethereum sees</a:t>
            </a:r>
          </a:p>
        </p:txBody>
      </p:sp>
      <p:sp>
        <p:nvSpPr>
          <p:cNvPr id="35" name="Oval 34"/>
          <p:cNvSpPr/>
          <p:nvPr/>
        </p:nvSpPr>
        <p:spPr>
          <a:xfrm>
            <a:off x="8503920" y="292608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512" y="2852928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00" b="0">
                <a:solidFill>
                  <a:srgbClr val="1B1F2A"/>
                </a:solidFill>
                <a:latin typeface="Apple SD Gothic Neo"/>
              </a:defRPr>
            </a:pPr>
            <a:r>
              <a:t>accepted proof</a:t>
            </a:r>
          </a:p>
        </p:txBody>
      </p:sp>
      <p:sp>
        <p:nvSpPr>
          <p:cNvPr id="37" name="Oval 36"/>
          <p:cNvSpPr/>
          <p:nvPr/>
        </p:nvSpPr>
        <p:spPr>
          <a:xfrm>
            <a:off x="8503920" y="325526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68512" y="3182112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00" b="0">
                <a:solidFill>
                  <a:srgbClr val="1B1F2A"/>
                </a:solidFill>
                <a:latin typeface="Apple SD Gothic Neo"/>
              </a:defRPr>
            </a:pPr>
            <a:r>
              <a:t>root movement</a:t>
            </a:r>
          </a:p>
        </p:txBody>
      </p:sp>
      <p:sp>
        <p:nvSpPr>
          <p:cNvPr id="39" name="Oval 38"/>
          <p:cNvSpPr/>
          <p:nvPr/>
        </p:nvSpPr>
        <p:spPr>
          <a:xfrm>
            <a:off x="8503920" y="358444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68512" y="3511296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00" b="0">
                <a:solidFill>
                  <a:srgbClr val="1B1F2A"/>
                </a:solidFill>
                <a:latin typeface="Apple SD Gothic Neo"/>
              </a:defRPr>
            </a:pPr>
            <a:r>
              <a:t>commitment / nullifier ids</a:t>
            </a:r>
          </a:p>
        </p:txBody>
      </p:sp>
      <p:sp>
        <p:nvSpPr>
          <p:cNvPr id="41" name="Oval 40"/>
          <p:cNvSpPr/>
          <p:nvPr/>
        </p:nvSpPr>
        <p:spPr>
          <a:xfrm>
            <a:off x="8503920" y="391363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68512" y="3840480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00" b="0">
                <a:solidFill>
                  <a:srgbClr val="1B1F2A"/>
                </a:solidFill>
                <a:latin typeface="Apple SD Gothic Neo"/>
              </a:defRPr>
            </a:pPr>
            <a:r>
              <a:t>encrypted delivery</a:t>
            </a:r>
          </a:p>
        </p:txBody>
      </p:sp>
      <p:sp>
        <p:nvSpPr>
          <p:cNvPr id="43" name="Oval 42"/>
          <p:cNvSpPr/>
          <p:nvPr/>
        </p:nvSpPr>
        <p:spPr>
          <a:xfrm>
            <a:off x="8503920" y="424281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668512" y="4169664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00" b="0">
                <a:solidFill>
                  <a:srgbClr val="1B1F2A"/>
                </a:solidFill>
                <a:latin typeface="Apple SD Gothic Neo"/>
              </a:defRPr>
            </a:pPr>
            <a:r>
              <a:t>not plaintext transfer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05840" y="5321808"/>
            <a:ext cx="10113264" cy="457200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234440" y="5449824"/>
            <a:ext cx="9656064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60" b="1">
                <a:solidFill>
                  <a:srgbClr val="FFFFFF"/>
                </a:solidFill>
                <a:latin typeface="Apple SD Gothic Neo"/>
              </a:defRPr>
            </a:pPr>
            <a:r>
              <a:t>브릿지는 note transfer semantics를 replay하지 않고, verifier와 metadata가 허용한 public surface만 받아들인다.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NOTE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가치는 세 가지 표현을 거쳐 이동한다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bridge liquidity, L2 accounting, private note는 서로 다른 protocol object다.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852928"/>
            <a:ext cx="1197864" cy="530352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브릿지 입금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883664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249424" y="2852928"/>
            <a:ext cx="1197864" cy="530352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3432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채널 입금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447288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813048" y="2852928"/>
            <a:ext cx="1197864" cy="530352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77056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note mint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010912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376672" y="2852928"/>
            <a:ext cx="1197864" cy="530352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40680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note transfer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74536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940296" y="2852928"/>
            <a:ext cx="1197864" cy="530352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04304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note redeem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138160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503920" y="2852928"/>
            <a:ext cx="1197864" cy="530352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67928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채널 출금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701784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10067544" y="2852928"/>
            <a:ext cx="1197864" cy="530352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31552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브릿지 출금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87552" y="4096512"/>
            <a:ext cx="3008376" cy="731520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70432" y="4325112"/>
            <a:ext cx="2642616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L1 custody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90288" y="4096512"/>
            <a:ext cx="3008376" cy="73152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73168" y="4325112"/>
            <a:ext cx="2642616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liquid L2 accounting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93024" y="4096512"/>
            <a:ext cx="3008376" cy="731520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75904" y="4325112"/>
            <a:ext cx="2642616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private notes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프라이버시 경계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Programmed Disclosure이지 Invisible Activity가 아니다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proof acceptance 이후 어떤 public observation을 남길지는 DApp 설계가 결정한다.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824" y="2286000"/>
            <a:ext cx="4754880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9576" y="2578608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800" b="1">
                <a:solidFill>
                  <a:srgbClr val="21A67A"/>
                </a:solidFill>
                <a:latin typeface="Apple SD Gothic Neo"/>
              </a:defRPr>
            </a:pPr>
            <a:r>
              <a:t>Public contract state에서 숨겨지는 것</a:t>
            </a:r>
          </a:p>
        </p:txBody>
      </p:sp>
      <p:sp>
        <p:nvSpPr>
          <p:cNvPr id="11" name="Oval 10"/>
          <p:cNvSpPr/>
          <p:nvPr/>
        </p:nvSpPr>
        <p:spPr>
          <a:xfrm>
            <a:off x="1261872" y="316382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6463" y="309067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note plaintext</a:t>
            </a:r>
          </a:p>
        </p:txBody>
      </p:sp>
      <p:sp>
        <p:nvSpPr>
          <p:cNvPr id="13" name="Oval 12"/>
          <p:cNvSpPr/>
          <p:nvPr/>
        </p:nvSpPr>
        <p:spPr>
          <a:xfrm>
            <a:off x="1261872" y="357530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26463" y="350215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note ownership meaning</a:t>
            </a:r>
          </a:p>
        </p:txBody>
      </p:sp>
      <p:sp>
        <p:nvSpPr>
          <p:cNvPr id="15" name="Oval 14"/>
          <p:cNvSpPr/>
          <p:nvPr/>
        </p:nvSpPr>
        <p:spPr>
          <a:xfrm>
            <a:off x="1261872" y="398678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6463" y="391363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sender-recipient provenance</a:t>
            </a:r>
          </a:p>
        </p:txBody>
      </p:sp>
      <p:sp>
        <p:nvSpPr>
          <p:cNvPr id="17" name="Oval 16"/>
          <p:cNvSpPr/>
          <p:nvPr/>
        </p:nvSpPr>
        <p:spPr>
          <a:xfrm>
            <a:off x="1261872" y="439826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26463" y="432511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complete private note history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56248" y="2286000"/>
            <a:ext cx="4754880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0" y="2578608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800" b="1">
                <a:solidFill>
                  <a:srgbClr val="F59E0B"/>
                </a:solidFill>
                <a:latin typeface="Apple SD Gothic Neo"/>
              </a:defRPr>
            </a:pPr>
            <a:r>
              <a:t>보이는 monitoring surface</a:t>
            </a:r>
          </a:p>
        </p:txBody>
      </p:sp>
      <p:sp>
        <p:nvSpPr>
          <p:cNvPr id="21" name="Oval 20"/>
          <p:cNvSpPr/>
          <p:nvPr/>
        </p:nvSpPr>
        <p:spPr>
          <a:xfrm>
            <a:off x="6931152" y="3127248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95744" y="3054096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joins, deposits, withdrawals</a:t>
            </a:r>
          </a:p>
        </p:txBody>
      </p:sp>
      <p:sp>
        <p:nvSpPr>
          <p:cNvPr id="23" name="Oval 22"/>
          <p:cNvSpPr/>
          <p:nvPr/>
        </p:nvSpPr>
        <p:spPr>
          <a:xfrm>
            <a:off x="6931152" y="347472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95744" y="3401568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accepted transitions</a:t>
            </a:r>
          </a:p>
        </p:txBody>
      </p:sp>
      <p:sp>
        <p:nvSpPr>
          <p:cNvPr id="25" name="Oval 24"/>
          <p:cNvSpPr/>
          <p:nvPr/>
        </p:nvSpPr>
        <p:spPr>
          <a:xfrm>
            <a:off x="6931152" y="3822191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95744" y="3749039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root movement와 storage writes</a:t>
            </a:r>
          </a:p>
        </p:txBody>
      </p:sp>
      <p:sp>
        <p:nvSpPr>
          <p:cNvPr id="27" name="Oval 26"/>
          <p:cNvSpPr/>
          <p:nvPr/>
        </p:nvSpPr>
        <p:spPr>
          <a:xfrm>
            <a:off x="6931152" y="416966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95744" y="4096512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commitments와 nullifiers</a:t>
            </a:r>
          </a:p>
        </p:txBody>
      </p:sp>
      <p:sp>
        <p:nvSpPr>
          <p:cNvPr id="29" name="Oval 28"/>
          <p:cNvSpPr/>
          <p:nvPr/>
        </p:nvSpPr>
        <p:spPr>
          <a:xfrm>
            <a:off x="6931152" y="4517136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95744" y="4443983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encrypted note-delivery events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TRUST BOUNDARY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브릿지 신뢰 가정의 두 질문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브릿지의 신뢰 가정은 상태 업데이트 건실성과 사용자 프라이버시에서 서로 다르게 나타난다.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148840"/>
            <a:ext cx="4992624" cy="23591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2395728"/>
            <a:ext cx="91440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질문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2724912"/>
            <a:ext cx="4343400" cy="5669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000" b="1">
                <a:solidFill>
                  <a:srgbClr val="1B1F2A"/>
                </a:solidFill>
                <a:latin typeface="Apple SD Gothic Neo"/>
              </a:defRPr>
            </a:pPr>
            <a:r>
              <a:t>브릿지가 채널 상태를 업데이트할 때</a:t>
            </a:r>
          </a:p>
          <a:p>
            <a:pPr>
              <a:defRPr sz="2000" b="1">
                <a:solidFill>
                  <a:srgbClr val="1B1F2A"/>
                </a:solidFill>
                <a:latin typeface="Apple SD Gothic Neo"/>
              </a:defRPr>
            </a:pPr>
            <a:r>
              <a:t>누구를 신뢰하는가?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547872"/>
            <a:ext cx="4261104" cy="5852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70" b="0">
                <a:solidFill>
                  <a:srgbClr val="5C667A"/>
                </a:solidFill>
                <a:latin typeface="Apple SD Gothic Neo"/>
              </a:defRPr>
            </a:pPr>
            <a:r>
              <a:t>답: runtime submitter나 prover를 신뢰하지 않는 방향으로 설계된다. 상태 전진은 proof와 metadata check가 동시에 통과해야 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2148840"/>
            <a:ext cx="4992624" cy="23591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2395728"/>
            <a:ext cx="91440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1A67A"/>
                </a:solidFill>
                <a:latin typeface="Apple SD Gothic Neo"/>
              </a:defRPr>
            </a:pPr>
            <a:r>
              <a:t>질문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724912"/>
            <a:ext cx="4343400" cy="5669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000" b="1">
                <a:solidFill>
                  <a:srgbClr val="1B1F2A"/>
                </a:solidFill>
                <a:latin typeface="Apple SD Gothic Neo"/>
              </a:defRPr>
            </a:pPr>
            <a:r>
              <a:t>채널 사용자의 프라이버시는</a:t>
            </a:r>
          </a:p>
          <a:p>
            <a:pPr>
              <a:defRPr sz="2000" b="1">
                <a:solidFill>
                  <a:srgbClr val="1B1F2A"/>
                </a:solidFill>
                <a:latin typeface="Apple SD Gothic Neo"/>
              </a:defRPr>
            </a:pPr>
            <a:r>
              <a:t>브릿지가 보장하는가?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3547872"/>
            <a:ext cx="4261104" cy="5852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70" b="0">
                <a:solidFill>
                  <a:srgbClr val="5C667A"/>
                </a:solidFill>
                <a:latin typeface="Apple SD Gothic Neo"/>
              </a:defRPr>
            </a:pPr>
            <a:r>
              <a:t>답: 브릿지는 DApp이 선언한 disclosure boundary를 집행한다. 실제 privacy는 circuit, event, encryption, client workflow에 의존한다.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8" y="5157216"/>
            <a:ext cx="10076688" cy="53035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312664"/>
            <a:ext cx="956462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20" b="1">
                <a:solidFill>
                  <a:srgbClr val="FFFFFF"/>
                </a:solidFill>
                <a:latin typeface="Apple SD Gothic Neo"/>
              </a:defRPr>
            </a:pPr>
            <a:r>
              <a:t>핵심 구분: state integrity는 bridge-enforced proof 문제이고, privacy는 DApp-programmed disclosure 문제다.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STATE INTEGRITY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상태 업데이트 건실성에는 어떤 신뢰가 남는가?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브릿지는 제출자를 믿는 대신, proof가 어떤 상태 의미를 주장하는지 확인한다.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2139696"/>
            <a:ext cx="2999232" cy="2578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23774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D94A4A"/>
                </a:solidFill>
                <a:latin typeface="Apple SD Gothic Neo"/>
              </a:defRPr>
            </a:pPr>
            <a:r>
              <a:t>신뢰하지 않는 것</a:t>
            </a:r>
          </a:p>
        </p:txBody>
      </p:sp>
      <p:sp>
        <p:nvSpPr>
          <p:cNvPr id="11" name="Oval 10"/>
          <p:cNvSpPr/>
          <p:nvPr/>
        </p:nvSpPr>
        <p:spPr>
          <a:xfrm>
            <a:off x="1078992" y="2926080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3584" y="2852928"/>
            <a:ext cx="20756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submitter의 주장</a:t>
            </a:r>
          </a:p>
        </p:txBody>
      </p:sp>
      <p:sp>
        <p:nvSpPr>
          <p:cNvPr id="13" name="Oval 12"/>
          <p:cNvSpPr/>
          <p:nvPr/>
        </p:nvSpPr>
        <p:spPr>
          <a:xfrm>
            <a:off x="1078992" y="3273552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3584" y="3200400"/>
            <a:ext cx="20756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prover의 선의</a:t>
            </a:r>
          </a:p>
        </p:txBody>
      </p:sp>
      <p:sp>
        <p:nvSpPr>
          <p:cNvPr id="15" name="Oval 14"/>
          <p:cNvSpPr/>
          <p:nvPr/>
        </p:nvSpPr>
        <p:spPr>
          <a:xfrm>
            <a:off x="1078992" y="362102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43584" y="3547872"/>
            <a:ext cx="20756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off-chain workspace의 무결성</a:t>
            </a:r>
          </a:p>
        </p:txBody>
      </p:sp>
      <p:sp>
        <p:nvSpPr>
          <p:cNvPr id="17" name="Oval 16"/>
          <p:cNvSpPr/>
          <p:nvPr/>
        </p:nvSpPr>
        <p:spPr>
          <a:xfrm>
            <a:off x="1078992" y="3968496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43584" y="3895344"/>
            <a:ext cx="20756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임의 ABI selector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98848" y="2139696"/>
            <a:ext cx="3401568" cy="2578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0" y="2377440"/>
            <a:ext cx="274320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브릿지가 체크하는 것</a:t>
            </a:r>
          </a:p>
        </p:txBody>
      </p:sp>
      <p:sp>
        <p:nvSpPr>
          <p:cNvPr id="21" name="Oval 20"/>
          <p:cNvSpPr/>
          <p:nvPr/>
        </p:nvSpPr>
        <p:spPr>
          <a:xfrm>
            <a:off x="4828032" y="292608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92624" y="2852928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currentRootVectorHash</a:t>
            </a:r>
          </a:p>
        </p:txBody>
      </p:sp>
      <p:sp>
        <p:nvSpPr>
          <p:cNvPr id="23" name="Oval 22"/>
          <p:cNvSpPr/>
          <p:nvPr/>
        </p:nvSpPr>
        <p:spPr>
          <a:xfrm>
            <a:off x="4828032" y="324612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92624" y="3172968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function metadata proof</a:t>
            </a:r>
          </a:p>
        </p:txBody>
      </p:sp>
      <p:sp>
        <p:nvSpPr>
          <p:cNvPr id="25" name="Oval 24"/>
          <p:cNvSpPr/>
          <p:nvPr/>
        </p:nvSpPr>
        <p:spPr>
          <a:xfrm>
            <a:off x="4828032" y="356616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92624" y="3493008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preprocess hash</a:t>
            </a:r>
          </a:p>
        </p:txBody>
      </p:sp>
      <p:sp>
        <p:nvSpPr>
          <p:cNvPr id="27" name="Oval 26"/>
          <p:cNvSpPr/>
          <p:nvPr/>
        </p:nvSpPr>
        <p:spPr>
          <a:xfrm>
            <a:off x="4828032" y="388620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92624" y="3813048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aPubBlockHash</a:t>
            </a:r>
          </a:p>
        </p:txBody>
      </p:sp>
      <p:sp>
        <p:nvSpPr>
          <p:cNvPr id="29" name="Oval 28"/>
          <p:cNvSpPr/>
          <p:nvPr/>
        </p:nvSpPr>
        <p:spPr>
          <a:xfrm>
            <a:off x="4828032" y="420624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92624" y="4133087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Tokamak / Groth verifier result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613648" y="2139696"/>
            <a:ext cx="2542032" cy="2578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51392" y="2377440"/>
            <a:ext cx="201168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F59E0B"/>
                </a:solidFill>
                <a:latin typeface="Apple SD Gothic Neo"/>
              </a:defRPr>
            </a:pPr>
            <a:r>
              <a:t>남는 신뢰 가정</a:t>
            </a:r>
          </a:p>
        </p:txBody>
      </p:sp>
      <p:sp>
        <p:nvSpPr>
          <p:cNvPr id="33" name="Oval 32"/>
          <p:cNvSpPr/>
          <p:nvPr/>
        </p:nvSpPr>
        <p:spPr>
          <a:xfrm>
            <a:off x="8924544" y="292608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89136" y="2852928"/>
            <a:ext cx="166420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70" b="0">
                <a:solidFill>
                  <a:srgbClr val="1B1F2A"/>
                </a:solidFill>
                <a:latin typeface="Apple SD Gothic Neo"/>
              </a:defRPr>
            </a:pPr>
            <a:r>
              <a:t>verifier와 circuit correctness</a:t>
            </a:r>
          </a:p>
        </p:txBody>
      </p:sp>
      <p:sp>
        <p:nvSpPr>
          <p:cNvPr id="35" name="Oval 34"/>
          <p:cNvSpPr/>
          <p:nvPr/>
        </p:nvSpPr>
        <p:spPr>
          <a:xfrm>
            <a:off x="8924544" y="329184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89136" y="3218688"/>
            <a:ext cx="166420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70" b="0">
                <a:solidFill>
                  <a:srgbClr val="1B1F2A"/>
                </a:solidFill>
                <a:latin typeface="Apple SD Gothic Neo"/>
              </a:defRPr>
            </a:pPr>
            <a:r>
              <a:t>등록 metadata의 정확성</a:t>
            </a:r>
          </a:p>
        </p:txBody>
      </p:sp>
      <p:sp>
        <p:nvSpPr>
          <p:cNvPr id="37" name="Oval 36"/>
          <p:cNvSpPr/>
          <p:nvPr/>
        </p:nvSpPr>
        <p:spPr>
          <a:xfrm>
            <a:off x="8924544" y="365760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89136" y="3584448"/>
            <a:ext cx="166420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70" b="0">
                <a:solidFill>
                  <a:srgbClr val="1B1F2A"/>
                </a:solidFill>
                <a:latin typeface="Apple SD Gothic Neo"/>
              </a:defRPr>
            </a:pPr>
            <a:r>
              <a:t>upgrade/admin governance</a:t>
            </a:r>
          </a:p>
        </p:txBody>
      </p:sp>
      <p:sp>
        <p:nvSpPr>
          <p:cNvPr id="39" name="Oval 38"/>
          <p:cNvSpPr/>
          <p:nvPr/>
        </p:nvSpPr>
        <p:spPr>
          <a:xfrm>
            <a:off x="8924544" y="402336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89136" y="3950208"/>
            <a:ext cx="166420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70" b="0">
                <a:solidFill>
                  <a:srgbClr val="1B1F2A"/>
                </a:solidFill>
                <a:latin typeface="Apple SD Gothic Neo"/>
              </a:defRPr>
            </a:pPr>
            <a:r>
              <a:t>recovery availability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05840" y="5285232"/>
            <a:ext cx="10113264" cy="43891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34440" y="5404104"/>
            <a:ext cx="9656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50" b="1">
                <a:solidFill>
                  <a:srgbClr val="FFFFFF"/>
                </a:solidFill>
                <a:latin typeface="Apple SD Gothic Neo"/>
              </a:defRPr>
            </a:pPr>
            <a:r>
              <a:t>결론: runtime actor trust는 낮지만, cryptography implementation, metadata registration, governance control에는 신뢰가 집중된다.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PRIVACY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프라이버시는 어디까지 브릿지의 책임인가?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브릿지는 privacy를 자동 생성하지 않는다. DApp이 공개할 정보와 숨길 정보를 프로그램해야 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084831"/>
            <a:ext cx="3182112" cy="2615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340864"/>
            <a:ext cx="25603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브릿지가 집행하는 것</a:t>
            </a:r>
          </a:p>
        </p:txBody>
      </p:sp>
      <p:sp>
        <p:nvSpPr>
          <p:cNvPr id="11" name="Oval 10"/>
          <p:cNvSpPr/>
          <p:nvPr/>
        </p:nvSpPr>
        <p:spPr>
          <a:xfrm>
            <a:off x="1152144" y="288950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16736" y="2816352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registered function만 실행</a:t>
            </a:r>
          </a:p>
        </p:txBody>
      </p:sp>
      <p:sp>
        <p:nvSpPr>
          <p:cNvPr id="13" name="Oval 12"/>
          <p:cNvSpPr/>
          <p:nvPr/>
        </p:nvSpPr>
        <p:spPr>
          <a:xfrm>
            <a:off x="1152144" y="324612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16736" y="3172968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허용된 storage-write만 관찰</a:t>
            </a:r>
          </a:p>
        </p:txBody>
      </p:sp>
      <p:sp>
        <p:nvSpPr>
          <p:cNvPr id="15" name="Oval 14"/>
          <p:cNvSpPr/>
          <p:nvPr/>
        </p:nvSpPr>
        <p:spPr>
          <a:xfrm>
            <a:off x="1152144" y="3602736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6736" y="3529584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public input layout 해석</a:t>
            </a:r>
          </a:p>
        </p:txBody>
      </p:sp>
      <p:sp>
        <p:nvSpPr>
          <p:cNvPr id="17" name="Oval 16"/>
          <p:cNvSpPr/>
          <p:nvPr/>
        </p:nvSpPr>
        <p:spPr>
          <a:xfrm>
            <a:off x="1152144" y="3959352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16736" y="3886200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accepted transition만 기록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17136" y="2084831"/>
            <a:ext cx="3182112" cy="2615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73168" y="2340864"/>
            <a:ext cx="25603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1A67A"/>
                </a:solidFill>
                <a:latin typeface="Apple SD Gothic Neo"/>
              </a:defRPr>
            </a:pPr>
            <a:r>
              <a:t>DApp이 보장해야 하는 것</a:t>
            </a:r>
          </a:p>
        </p:txBody>
      </p:sp>
      <p:sp>
        <p:nvSpPr>
          <p:cNvPr id="21" name="Oval 20"/>
          <p:cNvSpPr/>
          <p:nvPr/>
        </p:nvSpPr>
        <p:spPr>
          <a:xfrm>
            <a:off x="4846320" y="288950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10912" y="2816352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private witness가 public input에 새지 않음</a:t>
            </a:r>
          </a:p>
        </p:txBody>
      </p:sp>
      <p:sp>
        <p:nvSpPr>
          <p:cNvPr id="23" name="Oval 22"/>
          <p:cNvSpPr/>
          <p:nvPr/>
        </p:nvSpPr>
        <p:spPr>
          <a:xfrm>
            <a:off x="4846320" y="324612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10912" y="3172968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event가 의미를 과다 노출하지 않음</a:t>
            </a:r>
          </a:p>
        </p:txBody>
      </p:sp>
      <p:sp>
        <p:nvSpPr>
          <p:cNvPr id="25" name="Oval 24"/>
          <p:cNvSpPr/>
          <p:nvPr/>
        </p:nvSpPr>
        <p:spPr>
          <a:xfrm>
            <a:off x="4846320" y="360273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10912" y="3529584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note encryption과 key management</a:t>
            </a:r>
          </a:p>
        </p:txBody>
      </p:sp>
      <p:sp>
        <p:nvSpPr>
          <p:cNvPr id="27" name="Oval 26"/>
          <p:cNvSpPr/>
          <p:nvPr/>
        </p:nvSpPr>
        <p:spPr>
          <a:xfrm>
            <a:off x="4846320" y="395935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10912" y="3886200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client workflow의 unlinkability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11312" y="2084831"/>
            <a:ext cx="2907792" cy="2615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49056" y="2340864"/>
            <a:ext cx="2249424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F59E0B"/>
                </a:solidFill>
                <a:latin typeface="Apple SD Gothic Neo"/>
              </a:defRPr>
            </a:pPr>
            <a:r>
              <a:t>그래도 보이는 것</a:t>
            </a:r>
          </a:p>
        </p:txBody>
      </p:sp>
      <p:sp>
        <p:nvSpPr>
          <p:cNvPr id="31" name="Oval 30"/>
          <p:cNvSpPr/>
          <p:nvPr/>
        </p:nvSpPr>
        <p:spPr>
          <a:xfrm>
            <a:off x="8522208" y="288950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0" y="281635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join / deposit / withdraw / exit</a:t>
            </a:r>
          </a:p>
        </p:txBody>
      </p:sp>
      <p:sp>
        <p:nvSpPr>
          <p:cNvPr id="33" name="Oval 32"/>
          <p:cNvSpPr/>
          <p:nvPr/>
        </p:nvSpPr>
        <p:spPr>
          <a:xfrm>
            <a:off x="8522208" y="320954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0" y="313639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root movement</a:t>
            </a:r>
          </a:p>
        </p:txBody>
      </p:sp>
      <p:sp>
        <p:nvSpPr>
          <p:cNvPr id="35" name="Oval 34"/>
          <p:cNvSpPr/>
          <p:nvPr/>
        </p:nvSpPr>
        <p:spPr>
          <a:xfrm>
            <a:off x="8522208" y="352958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0" y="345643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commitment / nullifier</a:t>
            </a:r>
          </a:p>
        </p:txBody>
      </p:sp>
      <p:sp>
        <p:nvSpPr>
          <p:cNvPr id="37" name="Oval 36"/>
          <p:cNvSpPr/>
          <p:nvPr/>
        </p:nvSpPr>
        <p:spPr>
          <a:xfrm>
            <a:off x="8522208" y="384962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0" y="377647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encrypted note delivery</a:t>
            </a:r>
          </a:p>
        </p:txBody>
      </p:sp>
      <p:sp>
        <p:nvSpPr>
          <p:cNvPr id="39" name="Oval 38"/>
          <p:cNvSpPr/>
          <p:nvPr/>
        </p:nvSpPr>
        <p:spPr>
          <a:xfrm>
            <a:off x="8522208" y="416966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0" y="409651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timing과 edge metadata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05840" y="5285232"/>
            <a:ext cx="10113264" cy="43891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34440" y="5404104"/>
            <a:ext cx="9656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80" b="1">
                <a:solidFill>
                  <a:srgbClr val="FFFFFF"/>
                </a:solidFill>
                <a:latin typeface="Apple SD Gothic Neo"/>
              </a:defRPr>
            </a:pPr>
            <a:r>
              <a:t>결론: privacy guarantee는 bridge-wide property가 아니라 DApp-programmed property다.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SECURITY INVARIANTS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브릿지는 모호한 상태 의미를 거부한다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구현체의 안전 가정은 명시적인 admissibility constraint로 나타난다.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31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824" y="2267712"/>
            <a:ext cx="10442448" cy="98755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2432304"/>
            <a:ext cx="246430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DApp storage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706624"/>
            <a:ext cx="2464308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exists! S_d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1588" y="2432304"/>
            <a:ext cx="246430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function uniqueness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1588" y="2706624"/>
            <a:ext cx="2464308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(d,f) -&gt; (p,L)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88436" y="2404872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0" y="2432304"/>
            <a:ext cx="246430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channel uniqueness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2706624"/>
            <a:ext cx="2464308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exists! C_c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9048" y="2404872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82811" y="2432304"/>
            <a:ext cx="246430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leaf index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82811" y="2706624"/>
            <a:ext cx="2464308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LeafIndex(k)=k mod 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709659" y="2404872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77824" y="3858768"/>
            <a:ext cx="3182112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7824" y="3858768"/>
            <a:ext cx="45720" cy="1188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" y="4023359"/>
            <a:ext cx="2779776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Storage-vector ordering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" y="4407407"/>
            <a:ext cx="2779776" cy="5303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root vector, storage-write descriptor, snapshot, proof input은 같은 DApp-wide storage order를 사용해야 한다.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17136" y="3858768"/>
            <a:ext cx="3182112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17136" y="3858768"/>
            <a:ext cx="45720" cy="1188720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18304" y="4023359"/>
            <a:ext cx="2779776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Proof-gated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18304" y="4407407"/>
            <a:ext cx="2779776" cy="5303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state update는 proof verification과 bridge metadata check가 모두 성공할 때만 의미를 갖는다.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56448" y="3858768"/>
            <a:ext cx="3182112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56448" y="3858768"/>
            <a:ext cx="45720" cy="1188720"/>
          </a:xfrm>
          <a:prstGeom prst="rect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57616" y="4023359"/>
            <a:ext cx="2779776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No arbitrary ABI execution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57616" y="4407407"/>
            <a:ext cx="2779776" cy="5303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배포 bytecode에 selector가 존재한다는 이유만으로 브릿지가 실행을 받아들이지는 않는다.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구현 매핑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개념에서 Contracts와 Scripts로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현재 코드베이스는 stable protocol role과 deployment detail을 분리한다.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32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121408"/>
            <a:ext cx="10561320" cy="3273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2331720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Shared control plane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2331720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BridgeCore, DAppManager, L1TokenVault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2761487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Per-channel 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2761487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ChannelManager, ChannelDeployer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60704" y="2642615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3191256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General execution proof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3191256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TokamakVerifier and generated setup parameters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60704" y="3072384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70432" y="3621024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Vault accounting proof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3621024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Groth16Verifier and updateTree verifier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60704" y="3502152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70432" y="4050791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DApp registration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0" y="4050791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bridge/scripts/admin-add-dapp.mjs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60704" y="3931920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70432" y="4480559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Bridge deployment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46320" y="4480559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bridge/scripts/deploy-bridge.mjs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60704" y="4361688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70432" y="4910327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Private-state CLI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46320" y="4910327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packages/apps/private-state/cli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60704" y="4791455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개발자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채널을 구현하고 운영하는 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contracts, synthesizer metadata, CLI proof generation이 하나의 bridge-coupled path로 연결된다.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33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78992" y="239572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43584" y="2596896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43584" y="267919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64792" y="259689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bridge stack 배포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749039" y="2779776"/>
            <a:ext cx="484633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416552" y="239572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581144" y="2596896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81144" y="267919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02352" y="259689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private-state DApp 배포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086600" y="2779776"/>
            <a:ext cx="484632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54112" y="239572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918704" y="2596896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18704" y="267919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39912" y="259689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example synthesize와 preprocess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988552" y="3163824"/>
            <a:ext cx="0" cy="877824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1078992" y="404164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243584" y="4242816"/>
            <a:ext cx="384048" cy="384048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43584" y="432511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64792" y="424281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DApp metadata 등록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749039" y="4425696"/>
            <a:ext cx="484633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4416552" y="404164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581144" y="4242816"/>
            <a:ext cx="384048" cy="384048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81144" y="432511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02352" y="424281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channel create 또는 join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086600" y="4425696"/>
            <a:ext cx="484632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7754112" y="404164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918704" y="4242816"/>
            <a:ext cx="384048" cy="384048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18704" y="432511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39912" y="424281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proof-backed wallet operation 제출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TRADEOFFS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열린 연구 및 엔지니어링 질문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이 설계는 일부 global flexibility보다 explicit policy와 isolation을 선택한다.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34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" y="2176272"/>
            <a:ext cx="4956048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9536" y="2176272"/>
            <a:ext cx="45720" cy="126187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2340864"/>
            <a:ext cx="455371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Isolation vs composability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" y="2724912"/>
            <a:ext cx="4553712" cy="603503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per-channel execution은 강한 safety boundary를 주지만, cross-channel composition이 주된 최적화 대상은 아니다.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82512" y="2176272"/>
            <a:ext cx="4956048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82512" y="2176272"/>
            <a:ext cx="45720" cy="12618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2340864"/>
            <a:ext cx="455371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Immutable policy vs upgradeability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724912"/>
            <a:ext cx="4553712" cy="603503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channel policy bug는 보통 in-place rewrite가 아니라 새 channel이나 migration path를 요구한다.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9536" y="3931920"/>
            <a:ext cx="4956048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59536" y="3931920"/>
            <a:ext cx="45720" cy="1261872"/>
          </a:xfrm>
          <a:prstGeom prst="rect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4096511"/>
            <a:ext cx="455371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Finite Merkle leaf capacity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" y="4480559"/>
            <a:ext cx="4553712" cy="603503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storage key는 finite leaf domain에 투영되므로 capacity와 collision risk는 channel lifetime concern이다.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82512" y="3931920"/>
            <a:ext cx="4956048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82512" y="3931920"/>
            <a:ext cx="45720" cy="1261872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0" y="4096511"/>
            <a:ext cx="455371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DApp-specific disclosure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4480559"/>
            <a:ext cx="4553712" cy="603503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compliance, auditability, selective disclosure는 DApp별로 프로그램하고 문서화해야 한다.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LIFECYCLE RISK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Finite Leaf와 Channel Lifecycle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finite Merkle tree는 key collision risk를 만들고, join toll refund schedule은 slot 점유 비용을 시간 함수로 만든다.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35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048256"/>
            <a:ext cx="4645152" cy="33467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267712"/>
            <a:ext cx="402336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1">
                <a:solidFill>
                  <a:srgbClr val="1B1F2A"/>
                </a:solidFill>
                <a:latin typeface="Apple SD Gothic Neo"/>
              </a:defRPr>
            </a:pPr>
            <a:r>
              <a:t>현재 구현의 leaf projection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78992" y="2670048"/>
            <a:ext cx="4059936" cy="786384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2816352"/>
            <a:ext cx="3749039" cy="42062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ple SD Gothic Neo"/>
              </a:defRPr>
            </a:pPr>
            <a:r>
              <a:t>N = 2^d,   d = 36</a:t>
            </a:r>
          </a:p>
          <a:p>
            <a:pPr algn="ctr">
              <a:defRPr sz="1500" b="1">
                <a:solidFill>
                  <a:srgbClr val="FFFFFF"/>
                </a:solidFill>
                <a:latin typeface="Apple SD Gothic Neo"/>
              </a:defRPr>
            </a:pPr>
            <a:r>
              <a:t>LeafIndex(k) = k mod 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685032"/>
            <a:ext cx="4114800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5C667A"/>
                </a:solidFill>
                <a:latin typeface="Apple SD Gothic Neo"/>
              </a:defRPr>
            </a:pPr>
            <a:r>
              <a:t>고정된 future nullifier leaf에 대해, 미래 storage key가 Poisson rate λ로 도착하면: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78992" y="4059936"/>
            <a:ext cx="4059936" cy="512064"/>
          </a:xfrm>
          <a:prstGeom prst="roundRect">
            <a:avLst/>
          </a:prstGeom>
          <a:solidFill>
            <a:srgbClr val="F6F8FC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215384"/>
            <a:ext cx="3840480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20" b="1">
                <a:solidFill>
                  <a:srgbClr val="1B1F2A"/>
                </a:solidFill>
                <a:latin typeface="Apple SD Gothic Neo"/>
              </a:defRPr>
            </a:pPr>
            <a:r>
              <a:t>P_collision(t) = 1 - exp(-λ · 1440t · 2^-d)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" y="4718304"/>
            <a:ext cx="4069080" cy="34747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70" b="0">
                <a:solidFill>
                  <a:srgbClr val="5C667A"/>
                </a:solidFill>
                <a:latin typeface="Apple SD Gothic Neo"/>
              </a:defRPr>
            </a:pPr>
            <a:r>
              <a:t>t는 days 단위. 그래프는 λ = 1 leaf/minute 모델이며, 보라색 선이 current d = 36이다.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06440" y="2029968"/>
            <a:ext cx="5413248" cy="3401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collision-prob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1032" y="2176272"/>
            <a:ext cx="5074920" cy="3072384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969264" y="5532120"/>
            <a:ext cx="10222992" cy="493776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33856" y="5678424"/>
            <a:ext cx="989380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70" b="1">
                <a:solidFill>
                  <a:srgbClr val="FFFFFF"/>
                </a:solidFill>
                <a:latin typeface="Apple SD Gothic Neo"/>
              </a:defRPr>
            </a:pPr>
            <a:r>
              <a:t>refund = paidJoinToll × bps(elapsed) / 10,000    |    default bps: ≤6h 75%, ≤24h 50%, ≤3d 25%, &gt;3d 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70448" y="5358384"/>
            <a:ext cx="4892040" cy="1463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780" b="0">
                <a:solidFill>
                  <a:srgbClr val="5C667A"/>
                </a:solidFill>
                <a:latin typeface="Apple SD Gothic Neo"/>
              </a:defRPr>
            </a:pPr>
            <a:r>
              <a:t>출처: bridge-private-state mainnet security review의 collision model + BridgeCore/ChannelManager 현 구현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기억해야 할 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Channels는 validity-proven DApp-specific execution을 위한 bridge fabric이다.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36</a:t>
            </a:r>
          </a:p>
        </p:txBody>
      </p:sp>
      <p:sp>
        <p:nvSpPr>
          <p:cNvPr id="9" name="Oval 8"/>
          <p:cNvSpPr/>
          <p:nvPr/>
        </p:nvSpPr>
        <p:spPr>
          <a:xfrm>
            <a:off x="1216152" y="237744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80744" y="2304288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Ethereum은 custody와 validity anchor로 남는다.</a:t>
            </a:r>
          </a:p>
        </p:txBody>
      </p:sp>
      <p:sp>
        <p:nvSpPr>
          <p:cNvPr id="11" name="Oval 10"/>
          <p:cNvSpPr/>
          <p:nvPr/>
        </p:nvSpPr>
        <p:spPr>
          <a:xfrm>
            <a:off x="1216152" y="2907792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80744" y="2834640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브릿지는 arbitrary ABI interpretation이 아니라 registered metadata로 실행을 admission한다.</a:t>
            </a:r>
          </a:p>
        </p:txBody>
      </p:sp>
      <p:sp>
        <p:nvSpPr>
          <p:cNvPr id="13" name="Oval 12"/>
          <p:cNvSpPr/>
          <p:nvPr/>
        </p:nvSpPr>
        <p:spPr>
          <a:xfrm>
            <a:off x="1216152" y="343814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80744" y="3364991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각 채널은 DApp policy, verifier binding, function root, storage vector를 snapshot한다.</a:t>
            </a:r>
          </a:p>
        </p:txBody>
      </p:sp>
      <p:sp>
        <p:nvSpPr>
          <p:cNvPr id="15" name="Oval 14"/>
          <p:cNvSpPr/>
          <p:nvPr/>
        </p:nvSpPr>
        <p:spPr>
          <a:xfrm>
            <a:off x="1216152" y="3968496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80744" y="3895344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Tokamak proof와 Groth16 accounting proof는 서로 다른 bridge responsibility를 맡는다.</a:t>
            </a:r>
          </a:p>
        </p:txBody>
      </p:sp>
      <p:sp>
        <p:nvSpPr>
          <p:cNvPr id="17" name="Oval 16"/>
          <p:cNvSpPr/>
          <p:nvPr/>
        </p:nvSpPr>
        <p:spPr>
          <a:xfrm>
            <a:off x="1216152" y="449884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80744" y="4425696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private-state는 공개 L1 entry/exit 위에서 DApp-programmed privacy를 보여준다.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63040" y="5413248"/>
            <a:ext cx="9253728" cy="47548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19072" y="5550408"/>
            <a:ext cx="8741664" cy="2194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ple SD Gothic Neo"/>
              </a:defRPr>
            </a:pPr>
            <a:r>
              <a:t>핵심 질문은 proof가 verify되는가뿐 아니라, 어떤 policy가 그 proof에 의미를 부여하는가이다.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