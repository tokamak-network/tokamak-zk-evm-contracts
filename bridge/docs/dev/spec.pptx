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24927" y="0"/>
            <a:ext cx="4773168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909560" y="768096"/>
            <a:ext cx="3145536" cy="877824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68512" y="2240280"/>
            <a:ext cx="2478024" cy="877824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17536" y="3712463"/>
            <a:ext cx="3337560" cy="877824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9427464" y="1645920"/>
            <a:ext cx="0" cy="594360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802368" y="3118104"/>
            <a:ext cx="0" cy="594359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1005840"/>
            <a:ext cx="66751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 Display"/>
              </a:defRPr>
            </a:pPr>
            <a:r>
              <a:t>Tokamak Private App Channels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157984"/>
            <a:ext cx="6126480" cy="4754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CFD8E8"/>
                </a:solidFill>
                <a:latin typeface="Aptos"/>
              </a:defRPr>
            </a:pPr>
            <a:r>
              <a:t>Bridge-coupled validity-proven DApp channels for</a:t>
            </a:r>
          </a:p>
          <a:p>
            <a:pPr>
              <a:defRPr sz="1700" b="0">
                <a:solidFill>
                  <a:srgbClr val="CFD8E8"/>
                </a:solidFill>
                <a:latin typeface="Aptos"/>
              </a:defRPr>
            </a:pPr>
            <a:r>
              <a:t>Ethereum-settled confidential application state.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27832"/>
            <a:ext cx="1719072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291839"/>
            <a:ext cx="1664207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Ethereum settlement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8608" y="3227832"/>
            <a:ext cx="1847088" cy="292608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39" y="3291839"/>
            <a:ext cx="179222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DApp policy snapshots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90288" y="3227832"/>
            <a:ext cx="1618488" cy="292608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3291839"/>
            <a:ext cx="156362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Proof-backed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760720"/>
            <a:ext cx="59436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AEBAD0"/>
                </a:solidFill>
                <a:latin typeface="Aptos"/>
              </a:defRPr>
            </a:pPr>
            <a:r>
              <a:t>Target audience: graduate researchers and protocol developers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09728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BridgeCore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587752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ChannelManager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4069080"/>
            <a:ext cx="265176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DApp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740664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tos Display"/>
              </a:defRPr>
            </a:pPr>
            <a:r>
              <a:t>Why App-Specific Channels?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498079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The system narrows the execution domain so privacy, custody, and proof meaning are easier to reason about.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331720"/>
            <a:ext cx="45720" cy="14173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Custody ambiguity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Private execution should not move the canonical asset into an opaque operator custody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331720"/>
            <a:ext cx="4572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Proof interpretation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A proof is only meaningful when the bridge knows which function, storage surface, and public-input layout it describes.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2331720"/>
            <a:ext cx="45720" cy="141732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Privacy overclaiming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The bridge lowers the settlement disclosure surface, but semantic privacy must be programmed by each DApp.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297680"/>
            <a:ext cx="22860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tos Display"/>
              </a:defRPr>
            </a:pPr>
            <a:r>
              <a:t>Design response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47823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709160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tos"/>
              </a:defRPr>
            </a:pPr>
            <a:r>
              <a:t>Keep canonical custody and proof acceptance on Ethereum.</a:t>
            </a:r>
          </a:p>
        </p:txBody>
      </p:sp>
      <p:sp>
        <p:nvSpPr>
          <p:cNvPr id="24" name="Oval 23"/>
          <p:cNvSpPr/>
          <p:nvPr/>
        </p:nvSpPr>
        <p:spPr>
          <a:xfrm>
            <a:off x="786384" y="51846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111496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tos"/>
              </a:defRPr>
            </a:pPr>
            <a:r>
              <a:t>Admit execution through bridge-managed DApp metadata.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55869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513832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tos"/>
              </a:defRPr>
            </a:pPr>
            <a:r>
              <a:t>Snapshot the channel policy when users choose to join.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PURPOSE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740664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tos Display"/>
              </a:defRPr>
            </a:pPr>
            <a:r>
              <a:t>The Core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498079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Users join a specific channel policy, not a mutable generic rollup.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tos Display"/>
              </a:defRPr>
            </a:pPr>
            <a:r>
              <a:t>Generic rollup mindset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tos"/>
              </a:defRPr>
            </a:pPr>
            <a:r>
              <a:t>One global execution environment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tos"/>
              </a:defRPr>
            </a:pPr>
            <a:r>
              <a:t>Application policy is often downstream of rollup policy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tos"/>
              </a:defRPr>
            </a:pPr>
            <a:r>
              <a:t>Privacy assumptions can become implicit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tos Display"/>
              </a:defRPr>
            </a:pPr>
            <a:r>
              <a:t>Private App Channel mindset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tos"/>
              </a:defRPr>
            </a:pPr>
            <a:r>
              <a:t>One registered DApp per channel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tos"/>
              </a:defRPr>
            </a:pPr>
            <a:r>
              <a:t>Immutable policy snapshot at creation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tos"/>
              </a:defRPr>
            </a:pPr>
            <a:r>
              <a:t>DApp-programmed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709160" y="5074920"/>
            <a:ext cx="274320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tos"/>
              </a:defRPr>
            </a:pPr>
            <a:r>
              <a:t>policy choice becomes explicit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SYSTEM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740664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tos Display"/>
              </a:defRPr>
            </a:pPr>
            <a:r>
              <a:t>Actors, Contracts, and State Domains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498079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The bridge fabric is shared, while each channel is a DApp-scoped execution domain.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633472"/>
            <a:ext cx="1810512" cy="658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06624"/>
            <a:ext cx="1682495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User / CLI / Prover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5264" y="1828800"/>
            <a:ext cx="1673352" cy="60350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1901952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5264" y="2962656"/>
            <a:ext cx="1673352" cy="60350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9272" y="3035808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5264" y="4096512"/>
            <a:ext cx="1673352" cy="60350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4169664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33872" y="2633472"/>
            <a:ext cx="1993392" cy="658368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2706624"/>
            <a:ext cx="1865376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ChannelManager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31936" y="1965960"/>
            <a:ext cx="1883664" cy="548640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203911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TokamakVerifier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31936" y="3310128"/>
            <a:ext cx="1883664" cy="54864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5944" y="3383280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Groth16Verifier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31936" y="4654296"/>
            <a:ext cx="1883664" cy="54864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727448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DApp storage vector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478024" y="2130552"/>
            <a:ext cx="777240" cy="82296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78024" y="2953512"/>
            <a:ext cx="777240" cy="31089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28616" y="2130552"/>
            <a:ext cx="905256" cy="82296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28616" y="2953512"/>
            <a:ext cx="905256" cy="31089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928616" y="2953512"/>
            <a:ext cx="905256" cy="14447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827264" y="2240280"/>
            <a:ext cx="804672" cy="71323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27264" y="2953512"/>
            <a:ext cx="804672" cy="63093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27264" y="2953512"/>
            <a:ext cx="804672" cy="197510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017520" y="1335024"/>
            <a:ext cx="24688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tos"/>
              </a:defRPr>
            </a:pPr>
            <a:r>
              <a:t>Shared L1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2130552"/>
            <a:ext cx="256032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tos"/>
              </a:defRPr>
            </a:pPr>
            <a:r>
              <a:t>Per-channel execution surface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RESEARCH DIFFERENTIATION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740664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tos Display"/>
              </a:defRPr>
            </a:pPr>
            <a:r>
              <a:t>What Is Different?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498079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The bridge is DApp-aware at admission time and DApp-agnostic at settlement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94560"/>
            <a:ext cx="4572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Metadata-driven admission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Registered metadata defines the bridge vocabulary for function selectors, preprocess hashes, storage roots, and public-input offsets.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94560"/>
            <a:ext cx="45720" cy="173736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Immutable channel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Existing channels keep the verifier snapshot, function root, managed storage vector, and refund policy they accepted at creation.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94560"/>
            <a:ext cx="45720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Split proof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Tokamak proofs cover general DApp execution; Groth16 updateTree proofs cover channel-token-vault accounting.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" y="4617720"/>
            <a:ext cx="10213848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773168"/>
            <a:ext cx="973836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tos"/>
              </a:defRPr>
            </a:pPr>
            <a:r>
              <a:t>Research lens: validity proofs, metadata admission, and channel-local policy replace a monolithic rollup while preserving Ethereum settlement.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CHANNEL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740664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tos Display"/>
              </a:defRPr>
            </a:pPr>
            <a:r>
              <a:t>What Is Fixed at Channel Creation?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498079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A channel snapshots the execution grammar that users are about to accept.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60704" y="2404872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tos"/>
              </a:defRPr>
            </a:pPr>
            <a:r>
              <a:t>DApp metadata digest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26864" y="2404872"/>
            <a:ext cx="201168" cy="20116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tos"/>
              </a:defRPr>
            </a:pPr>
            <a:r>
              <a:t>function metadata root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3023" y="2404872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tos"/>
              </a:defRPr>
            </a:pPr>
            <a:r>
              <a:t>verifier snapshot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0704" y="3374136"/>
            <a:ext cx="201168" cy="201168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903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tos"/>
              </a:defRPr>
            </a:pPr>
            <a:r>
              <a:t>managed storage vector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26864" y="3374136"/>
            <a:ext cx="201168" cy="201168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6519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tos"/>
              </a:defRPr>
            </a:pPr>
            <a:r>
              <a:t>token-vault index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1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93023" y="3374136"/>
            <a:ext cx="201168" cy="201168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tos"/>
              </a:defRPr>
            </a:pPr>
            <a:r>
              <a:t>join toll / refund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160520"/>
            <a:ext cx="71323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0704" y="4343400"/>
            <a:ext cx="201168" cy="201168"/>
          </a:xfrm>
          <a:prstGeom prst="ellipse">
            <a:avLst/>
          </a:prstGeom>
          <a:solidFill>
            <a:srgbClr val="354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99032" y="4325112"/>
            <a:ext cx="64922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tos"/>
              </a:defRPr>
            </a:pPr>
            <a:r>
              <a:t>genesis proof context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212080"/>
            <a:ext cx="980236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Aptos"/>
              </a:defRPr>
            </a:pPr>
            <a:r>
              <a:t>Future metadata or verifier changes affect future channels; they do not silently rewrite already-created channels.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BRIDGE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740664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tos Display"/>
              </a:defRPr>
            </a:pPr>
            <a:r>
              <a:t>Shared Control Plane, Isolated Channels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498079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Root contracts coordinate custody and admission; channel managers track channel-local commitments.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Shared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tos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tos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tos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tos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Per-Channel Execution Domains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Channel A</a:t>
            </a:r>
          </a:p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Channel B</a:t>
            </a:r>
          </a:p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Channel C</a:t>
            </a:r>
          </a:p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tos"/>
              </a:defRPr>
            </a:pPr>
            <a:r>
              <a:t>Isolation is the safety default: one channel should not rewrite another channel's accepted state.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DAPP REGISTRATION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740664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tos Display"/>
              </a:defRPr>
            </a:pPr>
            <a:r>
              <a:t>Metadata Is the Admission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498079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A Solidity function is not enough; the bridge admits only registered proof vocabulary.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tos Display"/>
              </a:defRPr>
            </a:pPr>
            <a:r>
              <a:t>Registration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8712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tos"/>
              </a:defRPr>
            </a:pPr>
            <a:r>
              <a:t>managed storage vector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2186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1455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tos"/>
              </a:defRPr>
            </a:pPr>
            <a:r>
              <a:t>pre-allocated storage keys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4930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4198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tos"/>
              </a:defRPr>
            </a:pPr>
            <a:r>
              <a:t>user storage slots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37673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369417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tos"/>
              </a:defRPr>
            </a:pPr>
            <a:r>
              <a:t>supported function list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61872" y="396849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tos"/>
              </a:defRPr>
            </a:pPr>
            <a:r>
              <a:t>preprocess hash per function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" y="43159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42428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tos"/>
              </a:defRPr>
            </a:pPr>
            <a:r>
              <a:t>instance layout offsets</a:t>
            </a:r>
          </a:p>
        </p:txBody>
      </p:sp>
      <p:sp>
        <p:nvSpPr>
          <p:cNvPr id="23" name="Oval 22"/>
          <p:cNvSpPr/>
          <p:nvPr/>
        </p:nvSpPr>
        <p:spPr>
          <a:xfrm>
            <a:off x="1097280" y="4590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1872" y="45171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tos"/>
              </a:defRPr>
            </a:pPr>
            <a:r>
              <a:t>storage-write metadata</a:t>
            </a:r>
          </a:p>
        </p:txBody>
      </p:sp>
      <p:sp>
        <p:nvSpPr>
          <p:cNvPr id="25" name="Oval 24"/>
          <p:cNvSpPr/>
          <p:nvPr/>
        </p:nvSpPr>
        <p:spPr>
          <a:xfrm>
            <a:off x="1097280" y="48646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47914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tos"/>
              </a:defRPr>
            </a:pPr>
            <a:r>
              <a:t>event-log metadata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tos Display"/>
              </a:defRPr>
            </a:pPr>
            <a:r>
              <a:t>Runtime decision</a:t>
            </a:r>
          </a:p>
        </p:txBody>
      </p:sp>
      <p:sp>
        <p:nvSpPr>
          <p:cNvPr id="29" name="Oval 28"/>
          <p:cNvSpPr/>
          <p:nvPr/>
        </p:nvSpPr>
        <p:spPr>
          <a:xfrm>
            <a:off x="6739128" y="29535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880360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tos"/>
              </a:defRPr>
            </a:pPr>
            <a:r>
              <a:t>Does this DApp exist?</a:t>
            </a:r>
          </a:p>
        </p:txBody>
      </p:sp>
      <p:sp>
        <p:nvSpPr>
          <p:cNvPr id="31" name="Oval 30"/>
          <p:cNvSpPr/>
          <p:nvPr/>
        </p:nvSpPr>
        <p:spPr>
          <a:xfrm>
            <a:off x="6739128" y="33375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264408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tos"/>
              </a:defRPr>
            </a:pPr>
            <a:r>
              <a:t>Is the function root admissible?</a:t>
            </a:r>
          </a:p>
        </p:txBody>
      </p:sp>
      <p:sp>
        <p:nvSpPr>
          <p:cNvPr id="33" name="Oval 32"/>
          <p:cNvSpPr/>
          <p:nvPr/>
        </p:nvSpPr>
        <p:spPr>
          <a:xfrm>
            <a:off x="6739128" y="3721607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648456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tos"/>
              </a:defRPr>
            </a:pPr>
            <a:r>
              <a:t>Does the preprocess hash match?</a:t>
            </a:r>
          </a:p>
        </p:txBody>
      </p:sp>
      <p:sp>
        <p:nvSpPr>
          <p:cNvPr id="35" name="Oval 34"/>
          <p:cNvSpPr/>
          <p:nvPr/>
        </p:nvSpPr>
        <p:spPr>
          <a:xfrm>
            <a:off x="6739128" y="41056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4032504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tos"/>
              </a:defRPr>
            </a:pPr>
            <a:r>
              <a:t>Do storage-write indices stay in the managed vector?</a:t>
            </a:r>
          </a:p>
        </p:txBody>
      </p:sp>
      <p:sp>
        <p:nvSpPr>
          <p:cNvPr id="37" name="Oval 36"/>
          <p:cNvSpPr/>
          <p:nvPr/>
        </p:nvSpPr>
        <p:spPr>
          <a:xfrm>
            <a:off x="6739128" y="44897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4416552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tos"/>
              </a:defRPr>
            </a:pPr>
            <a:r>
              <a:t>Do public-input offsets decode expected fields?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CHANNEL 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740664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tos Display"/>
              </a:defRPr>
            </a:pPr>
            <a:r>
              <a:t>From Registered DApp to Live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498079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Creation is permissionless at the bridge level after a DApp is registered.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tos"/>
              </a:defRPr>
            </a:pPr>
            <a:r>
              <a:t>Check DApp metadata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tos"/>
              </a:defRPr>
            </a:pPr>
            <a:r>
              <a:t>Bind leader and asset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tos"/>
              </a:defRPr>
            </a:pPr>
            <a:r>
              <a:t>Snapshot verifiers and function root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tos"/>
              </a:defRPr>
            </a:pPr>
            <a:r>
              <a:t>Deploy ChannelManager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tos"/>
              </a:defRPr>
            </a:pPr>
            <a:r>
              <a:t>Initialize commitment and proof context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tos"/>
              </a:defRPr>
            </a:pPr>
            <a:r>
              <a:t>The creator chooses only exposed channel parameters. The execution grammar comes from registration metadata.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STATE TRANSITIONS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740664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tos Display"/>
              </a:defRPr>
            </a:pPr>
            <a:r>
              <a:t>Proof-Backed Bridge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498079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The L1 bridge verifies proof meaning before accepting a new channel commitment.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61488"/>
            <a:ext cx="1719072" cy="71323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CLI builds proof</a:t>
            </a:r>
          </a:p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input bundle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04872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2761488"/>
            <a:ext cx="1719072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Tokamak proof</a:t>
            </a:r>
          </a:p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verifies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54296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84648" y="2761488"/>
            <a:ext cx="1719072" cy="71323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6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Metadata checks</a:t>
            </a:r>
          </a:p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decode public inputs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03720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34071" y="2761488"/>
            <a:ext cx="1719072" cy="71323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root-vector hash</a:t>
            </a:r>
          </a:p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advances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53143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83496" y="2761488"/>
            <a:ext cx="1719072" cy="71323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7504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Observed writes</a:t>
            </a:r>
          </a:p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are emitted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434840"/>
            <a:ext cx="879652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64792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tos"/>
              </a:defRPr>
            </a:pPr>
            <a:r>
              <a:t>current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tos"/>
              </a:defRPr>
            </a:pPr>
            <a:r>
              <a:t>H(R_current)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6968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tos"/>
              </a:defRPr>
            </a:pPr>
            <a:r>
              <a:t>proof claim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6968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tos"/>
              </a:defRPr>
            </a:pPr>
            <a:r>
              <a:t>pi validates 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23816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9144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tos"/>
              </a:defRPr>
            </a:pPr>
            <a:r>
              <a:t>next 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9144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tos"/>
              </a:defRPr>
            </a:pPr>
            <a:r>
              <a:t>H(R_updated)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5992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TOKEN MOVEMENT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740664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000" b="1">
                <a:solidFill>
                  <a:srgbClr val="101828"/>
                </a:solidFill>
                <a:latin typeface="Aptos Display"/>
              </a:defRPr>
            </a:pPr>
            <a:r>
              <a:t>Custody and Accounting Are Deliberately Split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498079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Canonical tokens remain in the shared L1 vault; channel state records accounting and notes.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tos"/>
              </a:defRPr>
            </a:pPr>
            <a:r>
              <a:t>Deposit / withdraw accounting uses Groth16 updateTree proofs. Rich DApp execution uses Tokamak proofs over registered metadata.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PRIVATE-STATE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740664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tos Display"/>
              </a:defRPr>
            </a:pPr>
            <a:r>
              <a:t>A 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498079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Private-state keeps TON custody on L1 while channel-local state records balances, commitments, and nullifiers.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Accounting-only liquid balances. The controller mutates balances; the vault is not canonical custody.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User-facing note lifecycle: mint from liquid balance, transfer notes, redeem notes back to liquid balance.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tos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NOTE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740664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tos Display"/>
              </a:defRPr>
            </a:pPr>
            <a:r>
              <a:t>Value Moves Through Three Representations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498079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Bridge liquidity, L2 accounting, and private notes are separate protocol objects.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tos"/>
              </a:defRPr>
            </a:pPr>
            <a:r>
              <a:t>deposit bridge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8366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249424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tos"/>
              </a:defRPr>
            </a:pPr>
            <a:r>
              <a:t>deposit channel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47288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13048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tos"/>
              </a:defRPr>
            </a:pPr>
            <a:r>
              <a:t>mint notes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0912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tos"/>
              </a:defRPr>
            </a:pPr>
            <a:r>
              <a:t>transfer notes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74536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940296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4304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tos"/>
              </a:defRPr>
            </a:pPr>
            <a:r>
              <a:t>redeem notes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38160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03920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6792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tos"/>
              </a:defRPr>
            </a:pPr>
            <a:r>
              <a:t>withdraw channel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0178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67544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3155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tos"/>
              </a:defRPr>
            </a:pPr>
            <a:r>
              <a:t>withdraw bridge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" y="4096512"/>
            <a:ext cx="3008376" cy="73152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tos"/>
              </a:defRPr>
            </a:pPr>
            <a:r>
              <a:t>L1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90288" y="4096512"/>
            <a:ext cx="3008376" cy="7315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3168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tos"/>
              </a:defRPr>
            </a:pPr>
            <a:r>
              <a:t>liquid L2 accounting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3024" y="4096512"/>
            <a:ext cx="3008376" cy="73152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5904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tos"/>
              </a:defRPr>
            </a:pPr>
            <a:r>
              <a:t>private notes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PRIVACY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740664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000" b="1">
                <a:solidFill>
                  <a:srgbClr val="101828"/>
                </a:solidFill>
                <a:latin typeface="Aptos Display"/>
              </a:defRPr>
            </a:pPr>
            <a:r>
              <a:t>Programmed Disclosure, Not Invisible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498079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The DApp decides which public observations exist after proof acceptance.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tos Display"/>
              </a:defRPr>
            </a:pPr>
            <a:r>
              <a:t>Hidden from public contract state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tos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tos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tos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tos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tos Display"/>
              </a:defRPr>
            </a:pPr>
            <a:r>
              <a:t>Visible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638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tos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5753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tos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9867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tos"/>
              </a:defRPr>
            </a:pPr>
            <a:r>
              <a:t>commitments and nullifiers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3982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tos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SECURITY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740664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tos Display"/>
              </a:defRPr>
            </a:pPr>
            <a:r>
              <a:t>The Bridge Rejects Ambiguous State Meaning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498079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The abstract spec turns implementation assumptions into explicit admissibility constraints.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67712"/>
            <a:ext cx="1044244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tos"/>
              </a:defRPr>
            </a:pPr>
            <a:r>
              <a:t>DApp 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tos"/>
              </a:defRPr>
            </a:pPr>
            <a:r>
              <a:t>exists! S_d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1588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tos"/>
              </a:defRPr>
            </a:pPr>
            <a:r>
              <a:t>function uniqueness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1588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tos"/>
              </a:defRPr>
            </a:pPr>
            <a:r>
              <a:t>(d,f) -&gt; (p,L)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8436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tos"/>
              </a:defRPr>
            </a:pPr>
            <a:r>
              <a:t>channel uniqueness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tos"/>
              </a:defRPr>
            </a:pPr>
            <a:r>
              <a:t>exists! C_c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82811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tos"/>
              </a:defRPr>
            </a:pPr>
            <a:r>
              <a:t>leaf 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2811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tos"/>
              </a:defRPr>
            </a:pPr>
            <a:r>
              <a:t>LeafIndex(k)=k mod 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09659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824" y="3858768"/>
            <a:ext cx="45720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Storage-vector ordering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Every root vector, storage-write descriptor, snapshot, and proof input must use the same DApp-wide storage order.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7136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17136" y="3858768"/>
            <a:ext cx="45720" cy="118872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8304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Proof-gated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A state update becomes meaningful only when proof verification and bridge metadata checks both succeed.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3858768"/>
            <a:ext cx="45720" cy="11887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No arbitrary ABI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The bridge does not accept a selector merely because it exists in deployed bytecode.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IMPLEMENTATION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740664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tos Display"/>
              </a:defRPr>
            </a:pPr>
            <a:r>
              <a:t>Concepts to Contracts and Scripts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498079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The current codebase separates stable protocol roles from volatile deployment details.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21408"/>
            <a:ext cx="10561320" cy="3273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31720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tos"/>
              </a:defRPr>
            </a:pPr>
            <a:r>
              <a:t>Shared control 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31720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BridgeCore, DAppManager, L1TokenVault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76148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tos"/>
              </a:defRPr>
            </a:pPr>
            <a:r>
              <a:t>Per-channel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76148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ChannelManager, ChannelDeployer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264261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191256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tos"/>
              </a:defRPr>
            </a:pPr>
            <a:r>
              <a:t>General execution 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191256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TokamakVerifier and generated setup parameters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3072384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3621024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tos"/>
              </a:defRPr>
            </a:pPr>
            <a:r>
              <a:t>Vault accounting proof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21024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Groth16Verifier and updateTree verifier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3502152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050791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tos"/>
              </a:defRPr>
            </a:pPr>
            <a:r>
              <a:t>DApp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050791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bridge/scripts/admin-add-dapp.mjs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3931920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480559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tos"/>
              </a:defRPr>
            </a:pPr>
            <a:r>
              <a:t>Bridge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480559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bridge/scripts/deploy-bridge.mjs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4361688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1032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tos"/>
              </a:defRPr>
            </a:pPr>
            <a:r>
              <a:t>Private-state CLI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91032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packages/apps/private-state/cli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" y="479145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DEVELOPER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740664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tos Display"/>
              </a:defRPr>
            </a:pPr>
            <a:r>
              <a:t>How to Implement and Operate a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498079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The workflow turns contracts, synthesizer metadata, and CLI proof generation into one bridge-coupled path.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4358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tos"/>
              </a:defRPr>
            </a:pPr>
            <a:r>
              <a:t>Deploy bridge stack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49039" y="277977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1655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8114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tos"/>
              </a:defRPr>
            </a:pPr>
            <a:r>
              <a:t>Deploy private-state DApp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86600" y="277977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5411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870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tos"/>
              </a:defRPr>
            </a:pPr>
            <a:r>
              <a:t>Synthesize and preprocess examples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88552" y="3163824"/>
            <a:ext cx="0" cy="87782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7899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358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479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tos"/>
              </a:defRPr>
            </a:pPr>
            <a:r>
              <a:t>Register DApp metadata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49039" y="442569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1655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8114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114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235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tos"/>
              </a:defRPr>
            </a:pPr>
            <a:r>
              <a:t>Create or join a channel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86600" y="442569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75411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1870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3991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tos"/>
              </a:defRPr>
            </a:pPr>
            <a:r>
              <a:t>Submit proof-backed wallet operations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TRADEOFFS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740664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tos Display"/>
              </a:defRPr>
            </a:pPr>
            <a:r>
              <a:t>Open Research and Engineering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498079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The design chooses explicit policy and isolation over some forms of global flexibility.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176272"/>
            <a:ext cx="45720" cy="12618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Isolation vs composability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Per-channel execution gives tight safety boundaries, but cross-channel composition is not the primary optimization 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2176272"/>
            <a:ext cx="45720" cy="12618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Immutable policy vs upgradeability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Channel policy bugs normally require a new channel or migration path rather than in-place rewriting.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9536" y="3931920"/>
            <a:ext cx="45720" cy="1261872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Finite Merkle leaf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Storage keys are projected into a finite leaf domain, so capacity and collision risk are channel-lifetime concerns.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82512" y="3931920"/>
            <a:ext cx="45720" cy="126187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DApp-specific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Compliance, auditability, and selective disclosure must be programmed and documented per DApp.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740664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tos Display"/>
              </a:defRPr>
            </a:pPr>
            <a:r>
              <a:t>What to 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498079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Tokamak Private App Channels are a bridge fabric for validity-proven DApp-specific execution.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1B1F2A"/>
                </a:solidFill>
                <a:latin typeface="Aptos"/>
              </a:defRPr>
            </a:pPr>
            <a:r>
              <a:t>Ethereum remains the custody and validity anchor.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1B1F2A"/>
                </a:solidFill>
                <a:latin typeface="Aptos"/>
              </a:defRPr>
            </a:pPr>
            <a:r>
              <a:t>The bridge admits execution through registered metadata, not arbitrary ABI interpretation.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1B1F2A"/>
                </a:solidFill>
                <a:latin typeface="Aptos"/>
              </a:defRPr>
            </a:pPr>
            <a:r>
              <a:t>Each channel snapshots its DApp policy, verifier bindings, function root, and storage vector.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1B1F2A"/>
                </a:solidFill>
                <a:latin typeface="Aptos"/>
              </a:defRPr>
            </a:pPr>
            <a:r>
              <a:t>Tokamak proofs and Groth16 accounting proofs serve different bridge responsibilities.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1B1F2A"/>
                </a:solidFill>
                <a:latin typeface="Aptos"/>
              </a:defRPr>
            </a:pPr>
            <a:r>
              <a:t>Private-state demonstrates DApp-programmed privacy with transparent L1 entry and exit.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The central question is not only whether a proof verifies, but what policy gives that proof meaning.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