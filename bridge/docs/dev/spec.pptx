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04688"/>
            <a:ext cx="5943600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2026년 5월 27일</a:t>
            </a:r>
          </a:p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장재혁</a:t>
            </a:r>
          </a:p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Tokamak 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설계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한 문장으로 보는 Private App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Bridge는 transaction을 replay하지 않고, 등록된 DApp metadata와 verifier로 proof/public input의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788920"/>
            <a:ext cx="1426464" cy="62179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862072"/>
            <a:ext cx="129844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8" y="2706624"/>
            <a:ext cx="1755648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생성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policy snapshot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706624"/>
            <a:ext cx="1755648" cy="786384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transition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proof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706624"/>
            <a:ext cx="1755648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706624"/>
            <a:ext cx="1755648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 / asset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settlement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04288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17136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0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Bridge: custody, admission,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DApp: transition semantics,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disclosure boundary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Channel: immutable policy,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local state domain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파생물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Solidity DApp은 metadata로 브릿지에 들어온다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DApp deployment를 runtime call target으로 쓰지 않고, compiler가 만든 metadata vocabulary를 admission 기준으로 사용한다.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1645920" cy="6766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587752"/>
            <a:ext cx="1517904" cy="5303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Solidity DApp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86000" y="2852928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62072" y="2514600"/>
            <a:ext cx="1645920" cy="676656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79" y="2587752"/>
            <a:ext cx="1517904" cy="5303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solidity compiler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07992" y="2852928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84064" y="2514600"/>
            <a:ext cx="1645920" cy="676656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8072" y="2587752"/>
            <a:ext cx="1517904" cy="5303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deployed bytecode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729984" y="2852928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06056" y="2514600"/>
            <a:ext cx="1645920" cy="676656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0064" y="2587752"/>
            <a:ext cx="1517904" cy="5303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Tokamak zk-EVM</a:t>
            </a:r>
          </a:p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compiler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51976" y="2852928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528048" y="2514600"/>
            <a:ext cx="1645920" cy="676656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92056" y="2587752"/>
            <a:ext cx="1517904" cy="5303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DApp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4096512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297680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Ethereum deployment의 역할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4617720"/>
            <a:ext cx="2697480" cy="4206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19" b="0">
                <a:solidFill>
                  <a:srgbClr val="5C667A"/>
                </a:solidFill>
                <a:latin typeface="Apple SD Gothic Neo"/>
              </a:defRPr>
            </a:pPr>
            <a:r>
              <a:t>compiler 입력 bytecode를 만들고, 개발자가 Solidity 로직을 점검할 접근성을 제공한다.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3984" y="4096512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0016" y="4297680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Apple SD Gothic Neo"/>
              </a:defRPr>
            </a:pPr>
            <a:r>
              <a:t>Bridge가 직접 하지 않는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0016" y="4617720"/>
            <a:ext cx="2697480" cy="4206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19" b="0">
                <a:solidFill>
                  <a:srgbClr val="5C667A"/>
                </a:solidFill>
                <a:latin typeface="Apple SD Gothic Neo"/>
              </a:defRPr>
            </a:pPr>
            <a:r>
              <a:t>DApp deployment를 호출해 transaction을 replay하거나 Solidity runtime을 실행하지 않는다.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3296" y="4096512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9327" y="4297680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Bridge가 실제로 쓰는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617720"/>
            <a:ext cx="2697480" cy="4206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19" b="0">
                <a:solidFill>
                  <a:srgbClr val="5C667A"/>
                </a:solidFill>
                <a:latin typeface="Apple SD Gothic Neo"/>
              </a:defRPr>
            </a:pPr>
            <a:r>
              <a:t>function metadata, storage vector, preprocess hash, public input layout 같은 registration artifact다.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METADATA 신뢰 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compiler 산출물은 온체인 검증 대상이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metadata는 bridge admission의 언어이지만, bytecode에서 metadata가 올바르게 파생되었는지는 운영 절차와 리뷰의 책임이다.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212848"/>
            <a:ext cx="4809744" cy="239572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2999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2926080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브릿지 운영자가 올바른 DApp metadata를 등록한다.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3832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5024" y="3310128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Solidity bytecode -&gt; zk-EVM compiler 산출물이 의도한 DApp 의미와 일치한다.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3767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5024" y="3694176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metadata review와 배포 artifact 관리가 channel 생성 전에 끝난다.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2212848"/>
            <a:ext cx="4809744" cy="239572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온체인이 검증하는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6821424" y="29992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2926080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등록된 metadata digest</a:t>
            </a:r>
          </a:p>
        </p:txBody>
      </p:sp>
      <p:sp>
        <p:nvSpPr>
          <p:cNvPr id="21" name="Oval 20"/>
          <p:cNvSpPr/>
          <p:nvPr/>
        </p:nvSpPr>
        <p:spPr>
          <a:xfrm>
            <a:off x="6821424" y="33467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6016" y="3273552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channel 생성 시 expected digest 일치</a:t>
            </a:r>
          </a:p>
        </p:txBody>
      </p:sp>
      <p:sp>
        <p:nvSpPr>
          <p:cNvPr id="23" name="Oval 22"/>
          <p:cNvSpPr/>
          <p:nvPr/>
        </p:nvSpPr>
        <p:spPr>
          <a:xfrm>
            <a:off x="6821424" y="36941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6016" y="3621024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function root, verifier snapshot, managed storage vector</a:t>
            </a:r>
          </a:p>
        </p:txBody>
      </p:sp>
      <p:sp>
        <p:nvSpPr>
          <p:cNvPr id="25" name="Oval 24"/>
          <p:cNvSpPr/>
          <p:nvPr/>
        </p:nvSpPr>
        <p:spPr>
          <a:xfrm>
            <a:off x="6821424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3968496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proof/public input이 등록 vocabulary 안에 있는지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7552" y="5285232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5413248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10" b="1">
                <a:solidFill>
                  <a:srgbClr val="FFFFFF"/>
                </a:solidFill>
                <a:latin typeface="Apple SD Gothic Neo"/>
              </a:defRPr>
            </a:pPr>
            <a:r>
              <a:t>정리: proof 검증은 온체인에서 강제되지만, metadata가 올바른 bytecode에서 왔다는 사실은 등록 거버넌스와 artifact 검증에 의존한다.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2249424"/>
            <a:ext cx="1719072" cy="2194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2304288"/>
            <a:ext cx="1591056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2563EB"/>
                </a:solidFill>
                <a:latin typeface="Apple SD Gothic Neo"/>
              </a:defRPr>
            </a:pPr>
            <a:r>
              <a:t>L1 block 안의 bridge tx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383280"/>
            <a:ext cx="18470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L2 block proof + 공개 데이터가</a:t>
            </a:r>
          </a:p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bridge tx에 담긴다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2" name="Oval 41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393192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2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14032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68896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7888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2752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81744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VERIFIER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두 verifier는 같은 root vector를 다른 경로로 갱신한다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TokamakVerifier는 범용 실행 경로이고, Groth16Verifier는 channelTokenVault 전용 빠른 경로다.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48840"/>
            <a:ext cx="3090672" cy="166420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60704" y="286207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5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DApp별 함수 실행 proof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" y="315467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5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vector 전체 갱신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" y="3447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5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root도 포함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0288" y="2084831"/>
            <a:ext cx="2999232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2340864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354052"/>
                </a:solidFill>
                <a:latin typeface="Apple SD Gothic Neo"/>
              </a:defRPr>
            </a:pPr>
            <a:r>
              <a:t>Channel root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4901184" y="2816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743200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 storage roots</a:t>
            </a:r>
          </a:p>
        </p:txBody>
      </p:sp>
      <p:sp>
        <p:nvSpPr>
          <p:cNvPr id="21" name="Oval 20"/>
          <p:cNvSpPr/>
          <p:nvPr/>
        </p:nvSpPr>
        <p:spPr>
          <a:xfrm>
            <a:off x="4901184" y="31089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035808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901184" y="34015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328416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기타 channel-local roots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2148840"/>
            <a:ext cx="3090672" cy="166420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7" name="Oval 26"/>
          <p:cNvSpPr/>
          <p:nvPr/>
        </p:nvSpPr>
        <p:spPr>
          <a:xfrm>
            <a:off x="8558784" y="286207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전용</a:t>
            </a:r>
          </a:p>
        </p:txBody>
      </p:sp>
      <p:sp>
        <p:nvSpPr>
          <p:cNvPr id="29" name="Oval 28"/>
          <p:cNvSpPr/>
          <p:nvPr/>
        </p:nvSpPr>
        <p:spPr>
          <a:xfrm>
            <a:off x="8558784" y="3154679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deposit / withdraw 공통 경로</a:t>
            </a:r>
          </a:p>
        </p:txBody>
      </p:sp>
      <p:sp>
        <p:nvSpPr>
          <p:cNvPr id="31" name="Oval 30"/>
          <p:cNvSpPr/>
          <p:nvPr/>
        </p:nvSpPr>
        <p:spPr>
          <a:xfrm>
            <a:off x="8558784" y="34472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빠른 proof 생성이 목적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77056" y="2999232"/>
            <a:ext cx="7132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589520" y="2999232"/>
            <a:ext cx="694944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5840" y="4553712"/>
            <a:ext cx="10113264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782312"/>
            <a:ext cx="9564624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1B1F2A"/>
                </a:solidFill>
                <a:latin typeface="Apple SD Gothic Neo"/>
              </a:defRPr>
            </a:pPr>
            <a:r>
              <a:t>왜 나누는가? 범용 DApp 실행은 Tokamak 경로가 맡고, 모든 DApp이 공유하는 입출금 accounting은 Groth16 빠른 경로로 사용자 대기 시간을 줄인다.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범용 DApp 실행 proof를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DApp별 transition semantics는 registered metadata와 Tokamak public input이 함께 의미를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ChannelManager 실행 경로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45536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executeChannelTransaction(...)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5112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438144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DApp-specific tx 제출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8039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730752"/>
            <a:ext cx="23042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private-state mint / transfer / redeem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입력으로 보는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proofPart1 / proofPart2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82112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functionPreprocessPart1/2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511296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aPubUser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40480"/>
            <a:ext cx="23042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47888" y="2139696"/>
            <a:ext cx="2999232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0" y="2395728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6D5BD0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31" name="Oval 30"/>
          <p:cNvSpPr/>
          <p:nvPr/>
        </p:nvSpPr>
        <p:spPr>
          <a:xfrm>
            <a:off x="8577072" y="292608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41664" y="2852928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verify(...) == true</a:t>
            </a:r>
          </a:p>
        </p:txBody>
      </p:sp>
      <p:sp>
        <p:nvSpPr>
          <p:cNvPr id="33" name="Oval 32"/>
          <p:cNvSpPr/>
          <p:nvPr/>
        </p:nvSpPr>
        <p:spPr>
          <a:xfrm>
            <a:off x="8577072" y="3255264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3182112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currentRootVectorHash 갱신</a:t>
            </a:r>
          </a:p>
        </p:txBody>
      </p:sp>
      <p:sp>
        <p:nvSpPr>
          <p:cNvPr id="35" name="Oval 34"/>
          <p:cNvSpPr/>
          <p:nvPr/>
        </p:nvSpPr>
        <p:spPr>
          <a:xfrm>
            <a:off x="8577072" y="3584448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41664" y="3511296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CurrentRootVectorObserved</a:t>
            </a:r>
          </a:p>
        </p:txBody>
      </p:sp>
      <p:sp>
        <p:nvSpPr>
          <p:cNvPr id="37" name="Oval 36"/>
          <p:cNvSpPr/>
          <p:nvPr/>
        </p:nvSpPr>
        <p:spPr>
          <a:xfrm>
            <a:off x="8577072" y="3913632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41664" y="3840480"/>
            <a:ext cx="207568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StorageWriteObserved / event logs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핵심: TokamakVerifier는 channelTokenVault root를 포함한 root vector 전체 업데이트를 검증할 수 있는 범용 경로다.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channelTokenVault root 전용 빠른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입출금은 DApp별 함수 실행이 아니라 모든 DApp이 공유하는 channel accounting 문제다.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57984"/>
            <a:ext cx="305409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414016"/>
            <a:ext cx="24688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4436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71216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L1TokenVault 실행 경로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3697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63824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depositToChannelVault(...)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456432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withdrawFromChannelVault(...)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749039"/>
            <a:ext cx="2167127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balance leaf 변경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43984" y="2157984"/>
            <a:ext cx="323697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2414016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고정 public signals</a:t>
            </a:r>
          </a:p>
        </p:txBody>
      </p:sp>
      <p:sp>
        <p:nvSpPr>
          <p:cNvPr id="21" name="Oval 20"/>
          <p:cNvSpPr/>
          <p:nvPr/>
        </p:nvSpPr>
        <p:spPr>
          <a:xfrm>
            <a:off x="4773168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2871216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currentRoot</a:t>
            </a:r>
          </a:p>
        </p:txBody>
      </p:sp>
      <p:sp>
        <p:nvSpPr>
          <p:cNvPr id="23" name="Oval 22"/>
          <p:cNvSpPr/>
          <p:nvPr/>
        </p:nvSpPr>
        <p:spPr>
          <a:xfrm>
            <a:off x="4773168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59" y="3182112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updatedRoot</a:t>
            </a:r>
          </a:p>
        </p:txBody>
      </p:sp>
      <p:sp>
        <p:nvSpPr>
          <p:cNvPr id="25" name="Oval 24"/>
          <p:cNvSpPr/>
          <p:nvPr/>
        </p:nvSpPr>
        <p:spPr>
          <a:xfrm>
            <a:off x="4773168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3493008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updatedUserKey</a:t>
            </a:r>
          </a:p>
        </p:txBody>
      </p:sp>
      <p:sp>
        <p:nvSpPr>
          <p:cNvPr id="27" name="Oval 26"/>
          <p:cNvSpPr/>
          <p:nvPr/>
        </p:nvSpPr>
        <p:spPr>
          <a:xfrm>
            <a:off x="4773168" y="387705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59" y="3803904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currentUserValue</a:t>
            </a:r>
          </a:p>
        </p:txBody>
      </p:sp>
      <p:sp>
        <p:nvSpPr>
          <p:cNvPr id="29" name="Oval 28"/>
          <p:cNvSpPr/>
          <p:nvPr/>
        </p:nvSpPr>
        <p:spPr>
          <a:xfrm>
            <a:off x="4773168" y="41879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59" y="4114800"/>
            <a:ext cx="2304288" cy="2834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updatedUserValue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4464" y="2157984"/>
            <a:ext cx="2907792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0496" y="2414016"/>
            <a:ext cx="22402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33" name="Oval 32"/>
          <p:cNvSpPr/>
          <p:nvPr/>
        </p:nvSpPr>
        <p:spPr>
          <a:xfrm>
            <a:off x="8613648" y="29443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287121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verifyProof(...) == true</a:t>
            </a:r>
          </a:p>
        </p:txBody>
      </p:sp>
      <p:sp>
        <p:nvSpPr>
          <p:cNvPr id="35" name="Oval 34"/>
          <p:cNvSpPr/>
          <p:nvPr/>
        </p:nvSpPr>
        <p:spPr>
          <a:xfrm>
            <a:off x="8613648" y="32735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320040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applyVaultUpdate 호출</a:t>
            </a:r>
          </a:p>
        </p:txBody>
      </p:sp>
      <p:sp>
        <p:nvSpPr>
          <p:cNvPr id="37" name="Oval 36"/>
          <p:cNvSpPr/>
          <p:nvPr/>
        </p:nvSpPr>
        <p:spPr>
          <a:xfrm>
            <a:off x="8613648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78240" y="352958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교체</a:t>
            </a:r>
          </a:p>
        </p:txBody>
      </p:sp>
      <p:sp>
        <p:nvSpPr>
          <p:cNvPr id="39" name="Oval 38"/>
          <p:cNvSpPr/>
          <p:nvPr/>
        </p:nvSpPr>
        <p:spPr>
          <a:xfrm>
            <a:off x="8613648" y="39319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385876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vector hash 재계산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핵심: Groth16Verifier는 범용 DApp semantics를 보지 않고, channelTokenVault accounting만 빠르게 증명한다.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VERIFIER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공통점은 root update, 차이점은 public surface다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두 verifier 모두 상태 갱신을 proof로 제한하지만, 공개 데이터의 종류와 책임 범위는 다르다.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5074920" cy="2944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1635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DApp function 의미를 포함한다.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8211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aPubUser / aPubBlock과 metadata를 함께 해석한다.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storage write와 event observation에 영향을 준다.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867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91363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범위가 넓고 DApp마다 public input 의미가 달라진다.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2084831"/>
            <a:ext cx="5074920" cy="294436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1" name="Oval 20"/>
          <p:cNvSpPr/>
          <p:nvPr/>
        </p:nvSpPr>
        <p:spPr>
          <a:xfrm>
            <a:off x="6729984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281635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channelTokenVault leaf update만 본다.</a:t>
            </a:r>
          </a:p>
        </p:txBody>
      </p:sp>
      <p:sp>
        <p:nvSpPr>
          <p:cNvPr id="23" name="Oval 22"/>
          <p:cNvSpPr/>
          <p:nvPr/>
        </p:nvSpPr>
        <p:spPr>
          <a:xfrm>
            <a:off x="6729984" y="3255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318211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고정된 5개 public signal을 사용한다.</a:t>
            </a:r>
          </a:p>
        </p:txBody>
      </p:sp>
      <p:sp>
        <p:nvSpPr>
          <p:cNvPr id="25" name="Oval 24"/>
          <p:cNvSpPr/>
          <p:nvPr/>
        </p:nvSpPr>
        <p:spPr>
          <a:xfrm>
            <a:off x="6729984" y="36210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354787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deposit / withdraw accounting에 영향을 준다.</a:t>
            </a:r>
          </a:p>
        </p:txBody>
      </p:sp>
      <p:sp>
        <p:nvSpPr>
          <p:cNvPr id="27" name="Oval 26"/>
          <p:cNvSpPr/>
          <p:nvPr/>
        </p:nvSpPr>
        <p:spPr>
          <a:xfrm>
            <a:off x="6729984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391363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범위가 좁아 proof 생성과 사용자 흐름이 빠르다.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5413248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554126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정리: Tokamak은 범용성과 표현력을, Groth16은 공통 입출금의 좁은 책임 범위와 빠른 UX를 담당한다.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38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