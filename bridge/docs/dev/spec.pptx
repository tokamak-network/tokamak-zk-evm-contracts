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424927" y="0"/>
            <a:ext cx="4773168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09560" y="768096"/>
            <a:ext cx="3145536" cy="877824"/>
          </a:xfrm>
          <a:prstGeom prst="roundRect">
            <a:avLst/>
          </a:prstGeom>
          <a:solidFill>
            <a:srgbClr val="243B63"/>
          </a:solidFill>
          <a:ln w="12700">
            <a:solidFill>
              <a:srgbClr val="4F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68512" y="2240280"/>
            <a:ext cx="2478024" cy="877824"/>
          </a:xfrm>
          <a:prstGeom prst="roundRect">
            <a:avLst/>
          </a:prstGeom>
          <a:solidFill>
            <a:srgbClr val="173F46"/>
          </a:solidFill>
          <a:ln w="12700">
            <a:solidFill>
              <a:srgbClr val="44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17536" y="3712463"/>
            <a:ext cx="3337560" cy="877824"/>
          </a:xfrm>
          <a:prstGeom prst="roundRect">
            <a:avLst/>
          </a:prstGeom>
          <a:solidFill>
            <a:srgbClr val="254637"/>
          </a:solidFill>
          <a:ln w="12700">
            <a:solidFill>
              <a:srgbClr val="40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9427464" y="1645920"/>
            <a:ext cx="0" cy="594360"/>
          </a:xfrm>
          <a:prstGeom prst="line">
            <a:avLst/>
          </a:prstGeom>
          <a:ln w="25400">
            <a:solidFill>
              <a:srgbClr val="93C5F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802368" y="3118104"/>
            <a:ext cx="0" cy="594359"/>
          </a:xfrm>
          <a:prstGeom prst="line">
            <a:avLst/>
          </a:prstGeom>
          <a:ln w="25400">
            <a:solidFill>
              <a:srgbClr val="7DD3F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" y="1005840"/>
            <a:ext cx="66751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157984"/>
            <a:ext cx="621792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CFD8E8"/>
                </a:solidFill>
                <a:latin typeface="Apple SD Gothic Neo"/>
              </a:defRPr>
            </a:pPr>
            <a:r>
              <a:t>Ethereum에 정산되는 자산을 기준으로</a:t>
            </a:r>
          </a:p>
          <a:p>
            <a:pPr>
              <a:defRPr sz="1700" b="0">
                <a:solidFill>
                  <a:srgbClr val="CFD8E8"/>
                </a:solidFill>
                <a:latin typeface="Apple SD Gothic Neo"/>
              </a:defRPr>
            </a:pPr>
            <a:r>
              <a:t>DApp별 프라이버시 실행 채널을 구성하는 브릿지 모델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27832"/>
            <a:ext cx="1444752" cy="29260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3291839"/>
            <a:ext cx="138988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Ethereum 정산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04288" y="3227832"/>
            <a:ext cx="1645920" cy="292608"/>
          </a:xfrm>
          <a:prstGeom prst="round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3291839"/>
            <a:ext cx="1591056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DApp 정책 스냅샷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3087" y="3227832"/>
            <a:ext cx="1508760" cy="292608"/>
          </a:xfrm>
          <a:prstGeom prst="roundRect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60520" y="3291839"/>
            <a:ext cx="1453895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Apple SD Gothic Neo"/>
              </a:defRPr>
            </a:pPr>
            <a:r>
              <a:t>증명 기반 상태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60720"/>
            <a:ext cx="59436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AEBAD0"/>
                </a:solidFill>
                <a:latin typeface="Apple SD Gothic Neo"/>
              </a:defRPr>
            </a:pPr>
            <a:r>
              <a:t>대상: 대학원 연구자와 프로토콜 개발자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09728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587752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069080"/>
            <a:ext cx="265176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DApp State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왜 App-Specific Channel인가?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실행 범위를 DApp 단위로 좁히면 프라이버시, 자산 보관, 증명의 의미를 더 명확하게 정의할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331720"/>
            <a:ext cx="45720" cy="14173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자산 보관의 모호성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프라이빗 실행이 canonical asset을 불투명한 운영자 보관 모델로 옮기면 정산 신뢰 경계가 흐려진다.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331720"/>
            <a:ext cx="45720" cy="1417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증명 의미의 모호성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증명은 어떤 함수, 저장소 표면, public input layout을 설명하는지 브릿지가 알 때만 의미가 있다.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56448" y="233172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56448" y="2331720"/>
            <a:ext cx="45720" cy="1417320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6" y="2496312"/>
            <a:ext cx="29352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프라이버시 과잉 주장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880360"/>
            <a:ext cx="2935224" cy="7589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브릿지는 공개 표면을 줄일 수 있지만, 의미론적 프라이버시는 각 DApp이 직접 프로그램해야 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" y="4297680"/>
            <a:ext cx="22860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설계 응답</a:t>
            </a:r>
          </a:p>
        </p:txBody>
      </p:sp>
      <p:sp>
        <p:nvSpPr>
          <p:cNvPr id="22" name="Oval 21"/>
          <p:cNvSpPr/>
          <p:nvPr/>
        </p:nvSpPr>
        <p:spPr>
          <a:xfrm>
            <a:off x="786384" y="47823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" y="4709160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canonical custody와 proof acceptance를 Ethereum에 둔다.</a:t>
            </a:r>
          </a:p>
        </p:txBody>
      </p:sp>
      <p:sp>
        <p:nvSpPr>
          <p:cNvPr id="24" name="Oval 23"/>
          <p:cNvSpPr/>
          <p:nvPr/>
        </p:nvSpPr>
        <p:spPr>
          <a:xfrm>
            <a:off x="786384" y="51846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5111496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브릿지가 관리하는 DApp metadata로 실행을 admission한다.</a:t>
            </a:r>
          </a:p>
        </p:txBody>
      </p:sp>
      <p:sp>
        <p:nvSpPr>
          <p:cNvPr id="26" name="Oval 25"/>
          <p:cNvSpPr/>
          <p:nvPr/>
        </p:nvSpPr>
        <p:spPr>
          <a:xfrm>
            <a:off x="786384" y="55869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513832"/>
            <a:ext cx="9162288" cy="3749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사용자가 참여하는 시점의 channel policy를 스냅샷으로 고정한다.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핵심 테제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사용자는 mutable generic rollup이 아니라 특정 channel policy에 참여한다.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D94A4A"/>
                </a:solidFill>
                <a:latin typeface="Apple SD Gothic Neo"/>
              </a:defRPr>
            </a:pPr>
            <a:r>
              <a:t>Generic rollup 관점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32095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하나의 전역 실행 환경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6667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Application policy가 rollup policy의 하위 문제로 밀림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412394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프라이버시 가정이 암묵화되기 쉬움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56832" y="2240280"/>
            <a:ext cx="4828032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2606040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Private App Channel 관점</a:t>
            </a:r>
          </a:p>
        </p:txBody>
      </p:sp>
      <p:sp>
        <p:nvSpPr>
          <p:cNvPr id="19" name="Oval 18"/>
          <p:cNvSpPr/>
          <p:nvPr/>
        </p:nvSpPr>
        <p:spPr>
          <a:xfrm>
            <a:off x="7040880" y="32095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05472" y="31363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채널마다 하나의 registered DApp</a:t>
            </a:r>
          </a:p>
        </p:txBody>
      </p:sp>
      <p:sp>
        <p:nvSpPr>
          <p:cNvPr id="21" name="Oval 20"/>
          <p:cNvSpPr/>
          <p:nvPr/>
        </p:nvSpPr>
        <p:spPr>
          <a:xfrm>
            <a:off x="7040880" y="36667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5472" y="3593592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생성 시점의 immutable policy snapshot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0" y="4123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05472" y="4050791"/>
            <a:ext cx="3493008" cy="4297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DApp이 직접 설계하는 disclosure model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456432"/>
            <a:ext cx="768096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389120" y="5074920"/>
            <a:ext cx="33832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policy choice가 명시적인 사용자 선택이 된다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시스템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참여자, 컨트랙트, 상태 도메인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 fabric은 공유되지만 각 채널은 DApp 단위의 실행 도메인이다.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926080"/>
            <a:ext cx="1810512" cy="658368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1682495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User / CLI / Prover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5264" y="2139696"/>
            <a:ext cx="1673352" cy="603504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9272" y="2212848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55264" y="3246120"/>
            <a:ext cx="1673352" cy="60350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9272" y="3319272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5264" y="4352544"/>
            <a:ext cx="1673352" cy="60350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9272" y="4425696"/>
            <a:ext cx="1545336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33872" y="2926080"/>
            <a:ext cx="1993392" cy="658368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2999232"/>
            <a:ext cx="1865376" cy="512063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ChannelManager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31936" y="2286000"/>
            <a:ext cx="1883664" cy="54864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235915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TokamakVerifier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31936" y="3611880"/>
            <a:ext cx="1883664" cy="54864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5944" y="368503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Groth16Verifier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31936" y="4937760"/>
            <a:ext cx="1883664" cy="54864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5010912"/>
            <a:ext cx="1755648" cy="40233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storage vector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2478024" y="2441448"/>
            <a:ext cx="777240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478024" y="3255264"/>
            <a:ext cx="777240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928616" y="2441448"/>
            <a:ext cx="905256" cy="813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28616" y="3255264"/>
            <a:ext cx="905256" cy="292608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4928616" y="3255264"/>
            <a:ext cx="905256" cy="1399032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7827264" y="2560320"/>
            <a:ext cx="804672" cy="69494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827264" y="3255264"/>
            <a:ext cx="804672" cy="63093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827264" y="3255264"/>
            <a:ext cx="804672" cy="1956816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2926080" y="184708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공유 L1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2395728"/>
            <a:ext cx="2697480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5C667A"/>
                </a:solidFill>
                <a:latin typeface="Apple SD Gothic Neo"/>
              </a:defRPr>
            </a:pPr>
            <a:r>
              <a:t>채널별 실행 표면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연구 차별성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무엇이 다른가?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admission 시점에는 DApp-aware이고, 정산 시점에는 자산 보관 규칙을 일반화한다.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94560"/>
            <a:ext cx="4572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5256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Metadata-driven admission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등록 metadata가 function selector, preprocess hash, storage root, public input offset에 대한 브릿지 vocabulary를 정의한다.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194560"/>
            <a:ext cx="45720" cy="173736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channel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7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기존 채널은 생성 시점에 수락한 verifier snapshot, function root, managed storage vector, refund policy를 유지한다.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65592" y="2194560"/>
            <a:ext cx="3310128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65592" y="2194560"/>
            <a:ext cx="45720" cy="1737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290779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Split proof roles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743200"/>
            <a:ext cx="2907792" cy="10789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Tokamak proof는 DApp 실행을, Groth16 updateTree proof는 channel-token-vault accounting을 담당한다.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" y="4617720"/>
            <a:ext cx="10213848" cy="65836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4440" y="4773168"/>
            <a:ext cx="973836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Apple SD Gothic Neo"/>
              </a:defRPr>
            </a:pPr>
            <a:r>
              <a:t>연구 관점: monolithic rollup 대신 validity proof, metadata admission, channel-local policy를 결합해 Ethereum 정산을 보존한다.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CHANNEL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 생성 시 무엇이 고정되는가?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채널은 사용자가 수락하려는 실행 문법을 스냅샷으로 보존한다.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60704" y="2404872"/>
            <a:ext cx="201168" cy="20116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903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DApp metadata digest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62272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26864" y="2404872"/>
            <a:ext cx="201168" cy="20116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function metadata root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2221992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93023" y="2404872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31352" y="2386584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verifier snapshot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3374136"/>
            <a:ext cx="201168" cy="201168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903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62272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3374136"/>
            <a:ext cx="201168" cy="201168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6519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token-vault index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1" y="3191256"/>
            <a:ext cx="297180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93023" y="3374136"/>
            <a:ext cx="201168" cy="201168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31352" y="335584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join toll / refund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6112" y="4160520"/>
            <a:ext cx="713232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4343400"/>
            <a:ext cx="201168" cy="201168"/>
          </a:xfrm>
          <a:prstGeom prst="ellipse">
            <a:avLst/>
          </a:prstGeom>
          <a:solidFill>
            <a:srgbClr val="354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99032" y="4325112"/>
            <a:ext cx="64922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400" b="1">
                <a:solidFill>
                  <a:srgbClr val="1B1F2A"/>
                </a:solidFill>
                <a:latin typeface="Apple SD Gothic Neo"/>
              </a:defRPr>
            </a:pPr>
            <a:r>
              <a:t>genesis aPubBlockHash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212080"/>
            <a:ext cx="9802368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이후 metadata나 verifier가 바뀌어도 이미 생성된 채널의 정책은 조용히 재작성되지 않는다.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브릿지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공유 Control Plane, 격리된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루트 컨트랙트는 custody와 admission을 조정하고, ChannelManager는 채널별 commitment를 추적한다.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212848"/>
            <a:ext cx="10789920" cy="1024128"/>
          </a:xfrm>
          <a:prstGeom prst="roundRect">
            <a:avLst/>
          </a:prstGeom>
          <a:solidFill>
            <a:srgbClr val="EAF0F8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338328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공유 Ethereum Control Plane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BridgeCore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DAppManager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71616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35624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22792" y="2770632"/>
            <a:ext cx="1993392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843784"/>
            <a:ext cx="1865376" cy="26517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ChannelDeployer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4088" y="3822191"/>
            <a:ext cx="10789920" cy="1115568"/>
          </a:xfrm>
          <a:prstGeom prst="roundRect">
            <a:avLst/>
          </a:prstGeom>
          <a:solidFill>
            <a:srgbClr val="F1F6F2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05072"/>
            <a:ext cx="365760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채널별 실행 도메인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8016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416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A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8600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617720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B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62356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955279" y="4407408"/>
            <a:ext cx="260604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9288" y="4480560"/>
            <a:ext cx="2478024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 C</a:t>
            </a:r>
          </a:p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ChannelManager + state commitment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61120" y="3236976"/>
            <a:ext cx="0" cy="585215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024128" y="5321808"/>
            <a:ext cx="9985248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기본 안전성은 isolation이다. 한 채널은 다른 채널이 수락한 상태 의미를 재작성할 수 없어야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DAPP 등록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Metadata가 Admission Boundary다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Solidity 함수 존재만으로는 부족하다. 브릿지는 등록된 proof vocabulary만 받아들인다.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등록 payload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29443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61872" y="28712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managed storage vector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32186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31455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정확히 하나의 channel-token-vault storage</a:t>
            </a:r>
          </a:p>
        </p:txBody>
      </p:sp>
      <p:sp>
        <p:nvSpPr>
          <p:cNvPr id="15" name="Oval 14"/>
          <p:cNvSpPr/>
          <p:nvPr/>
        </p:nvSpPr>
        <p:spPr>
          <a:xfrm>
            <a:off x="1097280" y="34930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34198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pre-allocated storage keys</a:t>
            </a:r>
          </a:p>
        </p:txBody>
      </p:sp>
      <p:sp>
        <p:nvSpPr>
          <p:cNvPr id="17" name="Oval 16"/>
          <p:cNvSpPr/>
          <p:nvPr/>
        </p:nvSpPr>
        <p:spPr>
          <a:xfrm>
            <a:off x="1097280" y="376732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1872" y="369417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user storage slots</a:t>
            </a:r>
          </a:p>
        </p:txBody>
      </p:sp>
      <p:sp>
        <p:nvSpPr>
          <p:cNvPr id="19" name="Oval 18"/>
          <p:cNvSpPr/>
          <p:nvPr/>
        </p:nvSpPr>
        <p:spPr>
          <a:xfrm>
            <a:off x="1097280" y="40416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61872" y="396849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supported function list</a:t>
            </a:r>
          </a:p>
        </p:txBody>
      </p:sp>
      <p:sp>
        <p:nvSpPr>
          <p:cNvPr id="21" name="Oval 20"/>
          <p:cNvSpPr/>
          <p:nvPr/>
        </p:nvSpPr>
        <p:spPr>
          <a:xfrm>
            <a:off x="1097280" y="431596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424281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function별 preprocess hash</a:t>
            </a:r>
          </a:p>
        </p:txBody>
      </p:sp>
      <p:sp>
        <p:nvSpPr>
          <p:cNvPr id="23" name="Oval 22"/>
          <p:cNvSpPr/>
          <p:nvPr/>
        </p:nvSpPr>
        <p:spPr>
          <a:xfrm>
            <a:off x="1097280" y="459028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61872" y="451713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storage-write metadata</a:t>
            </a:r>
          </a:p>
        </p:txBody>
      </p:sp>
      <p:sp>
        <p:nvSpPr>
          <p:cNvPr id="25" name="Oval 24"/>
          <p:cNvSpPr/>
          <p:nvPr/>
        </p:nvSpPr>
        <p:spPr>
          <a:xfrm>
            <a:off x="1097280" y="486460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4791456"/>
            <a:ext cx="3218688" cy="2468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event-log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64224" y="2148840"/>
            <a:ext cx="4389120" cy="3063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5976" y="2395728"/>
            <a:ext cx="31089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1B1F2A"/>
                </a:solidFill>
                <a:latin typeface="Apple SD Gothic Neo"/>
              </a:defRPr>
            </a:pPr>
            <a:r>
              <a:t>Runtime decision</a:t>
            </a:r>
          </a:p>
        </p:txBody>
      </p:sp>
      <p:sp>
        <p:nvSpPr>
          <p:cNvPr id="29" name="Oval 28"/>
          <p:cNvSpPr/>
          <p:nvPr/>
        </p:nvSpPr>
        <p:spPr>
          <a:xfrm>
            <a:off x="6739128" y="295351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2880360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이 DApp이 등록되어 있는가?</a:t>
            </a:r>
          </a:p>
        </p:txBody>
      </p:sp>
      <p:sp>
        <p:nvSpPr>
          <p:cNvPr id="31" name="Oval 30"/>
          <p:cNvSpPr/>
          <p:nvPr/>
        </p:nvSpPr>
        <p:spPr>
          <a:xfrm>
            <a:off x="6739128" y="333756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264408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function root가 admissible한가?</a:t>
            </a:r>
          </a:p>
        </p:txBody>
      </p:sp>
      <p:sp>
        <p:nvSpPr>
          <p:cNvPr id="33" name="Oval 32"/>
          <p:cNvSpPr/>
          <p:nvPr/>
        </p:nvSpPr>
        <p:spPr>
          <a:xfrm>
            <a:off x="6739128" y="3721607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3648456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preprocess hash가 일치하는가?</a:t>
            </a:r>
          </a:p>
        </p:txBody>
      </p:sp>
      <p:sp>
        <p:nvSpPr>
          <p:cNvPr id="35" name="Oval 34"/>
          <p:cNvSpPr/>
          <p:nvPr/>
        </p:nvSpPr>
        <p:spPr>
          <a:xfrm>
            <a:off x="6739128" y="410565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4032504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storage-write index가 managed vector 안에 있는가?</a:t>
            </a:r>
          </a:p>
        </p:txBody>
      </p:sp>
      <p:sp>
        <p:nvSpPr>
          <p:cNvPr id="37" name="Oval 36"/>
          <p:cNvSpPr/>
          <p:nvPr/>
        </p:nvSpPr>
        <p:spPr>
          <a:xfrm>
            <a:off x="6739128" y="44897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4416552"/>
            <a:ext cx="31729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0">
                <a:solidFill>
                  <a:srgbClr val="1B1F2A"/>
                </a:solidFill>
                <a:latin typeface="Apple SD Gothic Neo"/>
              </a:defRPr>
            </a:pPr>
            <a:r>
              <a:t>event topic 수와 public input layout이 허용 범위인가?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257800" y="3657600"/>
            <a:ext cx="886968" cy="0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채널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Registered DApp에서 Live Channel로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DApp 등록 후에는 누구나 해당 metadata digest를 기대값으로 제시해 채널 생성을 요청할 수 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9</a:t>
            </a:r>
          </a:p>
        </p:txBody>
      </p:sp>
      <p:sp>
        <p:nvSpPr>
          <p:cNvPr id="9" name="Oval 8"/>
          <p:cNvSpPr/>
          <p:nvPr/>
        </p:nvSpPr>
        <p:spPr>
          <a:xfrm>
            <a:off x="1426464" y="224028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metadata digest 확인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3744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538728" y="2240280"/>
            <a:ext cx="512064" cy="512064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90088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9816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leader와 asset binding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36008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650992" y="2240280"/>
            <a:ext cx="512064" cy="512064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50992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02352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verifier와 function root snapshot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748272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7763256" y="2240280"/>
            <a:ext cx="512064" cy="512064"/>
          </a:xfrm>
          <a:prstGeom prst="ellipse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3256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14616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24344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ChannelManager 배포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60536" y="3346704"/>
            <a:ext cx="402336" cy="0"/>
          </a:xfrm>
          <a:prstGeom prst="line">
            <a:avLst/>
          </a:prstGeom>
          <a:ln w="25400">
            <a:solidFill>
              <a:srgbClr val="5C6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9875519" y="2240280"/>
            <a:ext cx="512064" cy="512064"/>
          </a:xfrm>
          <a:prstGeom prst="ellipse">
            <a:avLst/>
          </a:prstGeom>
          <a:solidFill>
            <a:srgbClr val="00A6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19" y="2359152"/>
            <a:ext cx="512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26880" y="2788920"/>
            <a:ext cx="1618488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6607" y="3072384"/>
            <a:ext cx="1399032" cy="38404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root hash와 aPubBlockHash 초기화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98448" y="4690872"/>
            <a:ext cx="9601200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생성자는 exposed channel parameter만 선택한다. 실행 문법은 등록 metadata와 verifier snapshot에서 온다.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ZKP 목적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ZKP를 왜 쓰는가?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많은 블록체인 파생 시스템에서 ZKP는 scalability 또는 privacy를 위해 쓰인다. 여기서 중심 목적은 privacy 강화다.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F59E0B"/>
                </a:solidFill>
                <a:latin typeface="Apple SD Gothic Neo"/>
              </a:defRPr>
            </a:pPr>
            <a:r>
              <a:t>Scalability use</a:t>
            </a:r>
          </a:p>
        </p:txBody>
      </p:sp>
      <p:sp>
        <p:nvSpPr>
          <p:cNvPr id="11" name="Oval 10"/>
          <p:cNvSpPr/>
          <p:nvPr/>
        </p:nvSpPr>
        <p:spPr>
          <a:xfrm>
            <a:off x="1188720" y="29809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많은 transaction을 압축</a:t>
            </a:r>
          </a:p>
        </p:txBody>
      </p:sp>
      <p:sp>
        <p:nvSpPr>
          <p:cNvPr id="13" name="Oval 12"/>
          <p:cNvSpPr/>
          <p:nvPr/>
        </p:nvSpPr>
        <p:spPr>
          <a:xfrm>
            <a:off x="1188720" y="3364992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L1 execution cost 절감</a:t>
            </a:r>
          </a:p>
        </p:txBody>
      </p:sp>
      <p:sp>
        <p:nvSpPr>
          <p:cNvPr id="15" name="Oval 14"/>
          <p:cNvSpPr/>
          <p:nvPr/>
        </p:nvSpPr>
        <p:spPr>
          <a:xfrm>
            <a:off x="1188720" y="37490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rollup throughput 개선</a:t>
            </a:r>
          </a:p>
        </p:txBody>
      </p:sp>
      <p:sp>
        <p:nvSpPr>
          <p:cNvPr id="17" name="Oval 16"/>
          <p:cNvSpPr/>
          <p:nvPr/>
        </p:nvSpPr>
        <p:spPr>
          <a:xfrm>
            <a:off x="1188720" y="413308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semantics가 public일 수 있음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139696"/>
            <a:ext cx="4864608" cy="24871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2552" y="2414016"/>
            <a:ext cx="4023360" cy="27432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900" b="1">
                <a:solidFill>
                  <a:srgbClr val="21A67A"/>
                </a:solidFill>
                <a:latin typeface="Apple SD Gothic Neo"/>
              </a:defRPr>
            </a:pPr>
            <a:r>
              <a:t>Privacy use</a:t>
            </a:r>
          </a:p>
        </p:txBody>
      </p:sp>
      <p:sp>
        <p:nvSpPr>
          <p:cNvPr id="21" name="Oval 20"/>
          <p:cNvSpPr/>
          <p:nvPr/>
        </p:nvSpPr>
        <p:spPr>
          <a:xfrm>
            <a:off x="6793992" y="298094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3" y="2907792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원본 transaction / witness 비공개</a:t>
            </a:r>
          </a:p>
        </p:txBody>
      </p:sp>
      <p:sp>
        <p:nvSpPr>
          <p:cNvPr id="23" name="Oval 22"/>
          <p:cNvSpPr/>
          <p:nvPr/>
        </p:nvSpPr>
        <p:spPr>
          <a:xfrm>
            <a:off x="6793992" y="336499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58583" y="3291840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public input만 L1에 노출</a:t>
            </a:r>
          </a:p>
        </p:txBody>
      </p:sp>
      <p:sp>
        <p:nvSpPr>
          <p:cNvPr id="25" name="Oval 24"/>
          <p:cNvSpPr/>
          <p:nvPr/>
        </p:nvSpPr>
        <p:spPr>
          <a:xfrm>
            <a:off x="6793992" y="374904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58583" y="3675888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state transition validity만 검증</a:t>
            </a:r>
          </a:p>
        </p:txBody>
      </p:sp>
      <p:sp>
        <p:nvSpPr>
          <p:cNvPr id="27" name="Oval 26"/>
          <p:cNvSpPr/>
          <p:nvPr/>
        </p:nvSpPr>
        <p:spPr>
          <a:xfrm>
            <a:off x="6793992" y="413308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8583" y="4059936"/>
            <a:ext cx="3858768" cy="3566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0">
                <a:solidFill>
                  <a:srgbClr val="1B1F2A"/>
                </a:solidFill>
                <a:latin typeface="Apple SD Gothic Neo"/>
              </a:defRPr>
            </a:pPr>
            <a:r>
              <a:t>DApp별 disclosure boundary 설계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78992" y="5230368"/>
            <a:ext cx="10040112" cy="51206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16736" y="5376672"/>
            <a:ext cx="9582912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Tokamak Private App Channels에서 ZKP는 L1 replay를 피하면서 DApp 상태 전이의 건실성을 보장하는 privacy foundation이다.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BRIDGE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트랜잭션을 replay하지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DApp transaction 원문을 실행하지 않고, registered metadata와 verifier로 proof의 의미를 검증한다.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834640"/>
            <a:ext cx="1755648" cy="64008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907792"/>
            <a:ext cx="1627631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Private DApp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transaction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72384" y="2834640"/>
            <a:ext cx="1280160" cy="640080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6391" y="2907792"/>
            <a:ext cx="1152143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Prover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91456" y="2834640"/>
            <a:ext cx="1115568" cy="640080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55464" y="2907792"/>
            <a:ext cx="987552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1B1F2A"/>
                </a:solidFill>
                <a:latin typeface="Apple SD Gothic Neo"/>
              </a:defRPr>
            </a:pPr>
            <a:r>
              <a:t>ZKP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82512" y="2724912"/>
            <a:ext cx="2176272" cy="859536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798064"/>
            <a:ext cx="2048255" cy="713231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Bridge verifier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+ metadata check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62288" y="2834640"/>
            <a:ext cx="1554480" cy="64008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26296" y="2907792"/>
            <a:ext cx="1426464" cy="493775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Channel root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update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615184" y="3154680"/>
            <a:ext cx="45720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352544" y="3154680"/>
            <a:ext cx="43891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907024" y="3154680"/>
            <a:ext cx="475488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558784" y="3154680"/>
            <a:ext cx="60350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32688" y="4251960"/>
            <a:ext cx="4553712" cy="658368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62272"/>
            <a:ext cx="4096512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Replay model: L1이 transaction semantics를 직접 실행하거나 해석한다.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07024" y="4251960"/>
            <a:ext cx="4736592" cy="658368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44768" y="4462272"/>
            <a:ext cx="42976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 verification model: L1은 proof, public input, metadata만 확인한다.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78992" y="5321808"/>
            <a:ext cx="10040112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16736" y="5449824"/>
            <a:ext cx="9582912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Ethereum은 원본 transaction을 보지 않아도 transition validity를 받아들일 수 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상태 전이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Proof-Backed Bridge Execution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verification model이 실제 ChannelManager 경로에서 어떻게 실행되는지 보여준다.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61488"/>
            <a:ext cx="1719072" cy="71323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CLI가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input bundle 구성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04872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935224" y="2761488"/>
            <a:ext cx="1719072" cy="713232"/>
          </a:xfrm>
          <a:prstGeom prst="roundRect">
            <a:avLst/>
          </a:prstGeom>
          <a:solidFill>
            <a:srgbClr val="E8FB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Tokamak proof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검증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54296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84648" y="2761488"/>
            <a:ext cx="1719072" cy="71323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48656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metadata check가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public input 해석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03720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34071" y="2761488"/>
            <a:ext cx="1719072" cy="71323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root-vector hash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갱신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53143" y="3118104"/>
            <a:ext cx="42062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83496" y="2761488"/>
            <a:ext cx="1719072" cy="71323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47504" y="2834640"/>
            <a:ext cx="1591055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observed write</a:t>
            </a:r>
          </a:p>
          <a:p>
            <a:pPr algn="ctr">
              <a:defRPr sz="1100" b="1">
                <a:solidFill>
                  <a:srgbClr val="1B1F2A"/>
                </a:solidFill>
                <a:latin typeface="Apple SD Gothic Neo"/>
              </a:defRPr>
            </a:pPr>
            <a:r>
              <a:t>이벤트 방출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1640" y="4434840"/>
            <a:ext cx="879652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64792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현재 상태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64792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H(R_current)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96968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증명 주장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6968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pi validates 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23816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29144" y="4599431"/>
            <a:ext cx="2785872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다음 상태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9144" y="4873752"/>
            <a:ext cx="2785872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H(R_updated)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55992" y="4572000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토큰 이동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Custody와 Accounting은 의도적으로 분리된다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canonical token은 공유 L1 vault에 남고, 채널 상태는 accounting과 note를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944368"/>
            <a:ext cx="1527048" cy="530352"/>
          </a:xfrm>
          <a:prstGeom prst="roundRect">
            <a:avLst/>
          </a:prstGeom>
          <a:solidFill>
            <a:srgbClr val="E9F1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3017520"/>
            <a:ext cx="1399031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 wallet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6976" y="2651760"/>
            <a:ext cx="2093976" cy="786384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00984" y="2724912"/>
            <a:ext cx="196596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L1TokenVault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canonical custody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2651760"/>
            <a:ext cx="2176272" cy="786384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1344" y="2724912"/>
            <a:ext cx="2048255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channelTokenVault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Merkle accounting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70848" y="2651760"/>
            <a:ext cx="2249424" cy="786384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4856" y="2724912"/>
            <a:ext cx="2121408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DApp</a:t>
            </a:r>
          </a:p>
          <a:p>
            <a:pPr algn="ctr"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liquid balance + notes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404872" y="3044952"/>
            <a:ext cx="832104" cy="164592"/>
          </a:xfrm>
          <a:prstGeom prst="line">
            <a:avLst/>
          </a:prstGeom>
          <a:ln w="2540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330952" y="3044952"/>
            <a:ext cx="786384" cy="0"/>
          </a:xfrm>
          <a:prstGeom prst="line">
            <a:avLst/>
          </a:prstGeom>
          <a:ln w="25400">
            <a:solidFill>
              <a:srgbClr val="21A6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293608" y="3044952"/>
            <a:ext cx="777240" cy="0"/>
          </a:xfrm>
          <a:prstGeom prst="line">
            <a:avLst/>
          </a:prstGeom>
          <a:ln w="25400">
            <a:solidFill>
              <a:srgbClr val="6D5B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280160" y="4462272"/>
            <a:ext cx="9637776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0">
                <a:solidFill>
                  <a:srgbClr val="5C667A"/>
                </a:solidFill>
                <a:latin typeface="Apple SD Gothic Neo"/>
              </a:defRPr>
            </a:pPr>
            <a:r>
              <a:t>fund/claim은 bridge-level available balance를 움직이고, deposit/withdraw channel은 Groth16 updateTree proof로 channel-token-vault root를 갱신한다.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4983480"/>
            <a:ext cx="905256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00" b="0">
                <a:solidFill>
                  <a:srgbClr val="5C667A"/>
                </a:solidFill>
                <a:latin typeface="Apple SD Gothic Neo"/>
              </a:defRPr>
            </a:pPr>
            <a:r>
              <a:t>join toll은 별도 treasury에 기록되며, exit refund는 시간 감쇠 스케줄과 zero channel balance 조건을 따른다.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예제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Bridge-Coupled zk-Note Payment DApp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TON custody를 L1에 유지하면서 채널 로컬 상태에 balances, commitments, nullifiers를 기록한다.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331720"/>
            <a:ext cx="45720" cy="1792224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L2AccountingVault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accounting-only liquid balance를 추적한다. controller만 balance를 변경하며 canonical custody는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2331720"/>
            <a:ext cx="4572000" cy="17922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66560" y="2331720"/>
            <a:ext cx="45720" cy="1792224"/>
          </a:xfrm>
          <a:prstGeom prst="rect">
            <a:avLst/>
          </a:prstGeom>
          <a:solidFill>
            <a:srgbClr val="6D5B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67728" y="2496312"/>
            <a:ext cx="4169663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PrivateStateController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880360"/>
            <a:ext cx="4169663" cy="11338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mint, transfer, redeem으로 note lifecycle을 제공한다. commitment 중복과 nullifier 재사용을 거부한다.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2976" y="3218688"/>
            <a:ext cx="1152144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737360" y="4800600"/>
            <a:ext cx="873252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700" b="1">
                <a:solidFill>
                  <a:srgbClr val="2563EB"/>
                </a:solidFill>
                <a:latin typeface="Apple SD Gothic Neo"/>
              </a:defRPr>
            </a:pPr>
            <a:r>
              <a:t>Managed storage vector: [PrivateStateController, L2AccountingVault]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PRIVATE-STATE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Note Transfer Without Transaction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private-state는 UTXO-like note ownership transfer를 proof로 제출하고, Ethereum에는 제한된 public surface만 남긴다.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Plain transfer semantics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amount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5526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from owner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3584448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to owner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391363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note salt / witness</a:t>
            </a:r>
          </a:p>
        </p:txBody>
      </p:sp>
      <p:sp>
        <p:nvSpPr>
          <p:cNvPr id="19" name="Oval 18"/>
          <p:cNvSpPr/>
          <p:nvPr/>
        </p:nvSpPr>
        <p:spPr>
          <a:xfrm>
            <a:off x="1115568" y="424281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spending authorization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2139696"/>
            <a:ext cx="307238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27448" y="2395728"/>
            <a:ext cx="26060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ZKP public surface</a:t>
            </a:r>
          </a:p>
        </p:txBody>
      </p:sp>
      <p:sp>
        <p:nvSpPr>
          <p:cNvPr id="23" name="Oval 22"/>
          <p:cNvSpPr/>
          <p:nvPr/>
        </p:nvSpPr>
        <p:spPr>
          <a:xfrm>
            <a:off x="4809744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4336" y="2852928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commitments</a:t>
            </a:r>
          </a:p>
        </p:txBody>
      </p:sp>
      <p:sp>
        <p:nvSpPr>
          <p:cNvPr id="25" name="Oval 24"/>
          <p:cNvSpPr/>
          <p:nvPr/>
        </p:nvSpPr>
        <p:spPr>
          <a:xfrm>
            <a:off x="4809744" y="325526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74336" y="3182112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nullifiers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35844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74336" y="3511296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storage root update</a:t>
            </a:r>
          </a:p>
        </p:txBody>
      </p:sp>
      <p:sp>
        <p:nvSpPr>
          <p:cNvPr id="29" name="Oval 28"/>
          <p:cNvSpPr/>
          <p:nvPr/>
        </p:nvSpPr>
        <p:spPr>
          <a:xfrm>
            <a:off x="4809744" y="391363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840480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encrypted note event</a:t>
            </a:r>
          </a:p>
        </p:txBody>
      </p:sp>
      <p:sp>
        <p:nvSpPr>
          <p:cNvPr id="31" name="Oval 30"/>
          <p:cNvSpPr/>
          <p:nvPr/>
        </p:nvSpPr>
        <p:spPr>
          <a:xfrm>
            <a:off x="4809744" y="424281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74336" y="4169664"/>
            <a:ext cx="22128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74736" y="2139696"/>
            <a:ext cx="2889504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2395728"/>
            <a:ext cx="23317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Ethereum sees</a:t>
            </a:r>
          </a:p>
        </p:txBody>
      </p:sp>
      <p:sp>
        <p:nvSpPr>
          <p:cNvPr id="35" name="Oval 34"/>
          <p:cNvSpPr/>
          <p:nvPr/>
        </p:nvSpPr>
        <p:spPr>
          <a:xfrm>
            <a:off x="8503920" y="292608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68512" y="2852928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accepted proof</a:t>
            </a:r>
          </a:p>
        </p:txBody>
      </p:sp>
      <p:sp>
        <p:nvSpPr>
          <p:cNvPr id="37" name="Oval 36"/>
          <p:cNvSpPr/>
          <p:nvPr/>
        </p:nvSpPr>
        <p:spPr>
          <a:xfrm>
            <a:off x="8503920" y="3255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182112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9" name="Oval 38"/>
          <p:cNvSpPr/>
          <p:nvPr/>
        </p:nvSpPr>
        <p:spPr>
          <a:xfrm>
            <a:off x="8503920" y="3584448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3511296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commitment / nullifier ids</a:t>
            </a:r>
          </a:p>
        </p:txBody>
      </p:sp>
      <p:sp>
        <p:nvSpPr>
          <p:cNvPr id="41" name="Oval 40"/>
          <p:cNvSpPr/>
          <p:nvPr/>
        </p:nvSpPr>
        <p:spPr>
          <a:xfrm>
            <a:off x="8503920" y="391363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3840480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encrypted delivery</a:t>
            </a:r>
          </a:p>
        </p:txBody>
      </p:sp>
      <p:sp>
        <p:nvSpPr>
          <p:cNvPr id="43" name="Oval 42"/>
          <p:cNvSpPr/>
          <p:nvPr/>
        </p:nvSpPr>
        <p:spPr>
          <a:xfrm>
            <a:off x="8503920" y="424281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4169664"/>
            <a:ext cx="1984248" cy="301751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00" b="0">
                <a:solidFill>
                  <a:srgbClr val="1B1F2A"/>
                </a:solidFill>
                <a:latin typeface="Apple SD Gothic Neo"/>
              </a:defRPr>
            </a:pPr>
            <a:r>
              <a:t>not plaintext transfer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5840" y="5321808"/>
            <a:ext cx="10113264" cy="457200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4440" y="5449824"/>
            <a:ext cx="9656064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60" b="1">
                <a:solidFill>
                  <a:srgbClr val="FFFFFF"/>
                </a:solidFill>
                <a:latin typeface="Apple SD Gothic Neo"/>
              </a:defRPr>
            </a:pPr>
            <a:r>
              <a:t>브릿지는 note transfer semantics를 replay하지 않고, verifier와 metadata가 허용한 public surface만 받아들인다.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NOTE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가치는 세 가지 표현을 거쳐 이동한다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bridge liquidity, L2 accounting, private note는 서로 다른 protocol object다.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입금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8366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249424" y="2852928"/>
            <a:ext cx="1197864" cy="530352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입금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47288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813048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mint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0912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376672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transfer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74536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940296" y="2852928"/>
            <a:ext cx="1197864" cy="530352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04304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note redeem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138160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03920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7928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채널 출금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01784" y="3118104"/>
            <a:ext cx="274320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067544" y="2852928"/>
            <a:ext cx="1197864" cy="530352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31552" y="2926080"/>
            <a:ext cx="1069848" cy="384047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050" b="1">
                <a:solidFill>
                  <a:srgbClr val="1B1F2A"/>
                </a:solidFill>
                <a:latin typeface="Apple SD Gothic Neo"/>
              </a:defRPr>
            </a:pPr>
            <a:r>
              <a:t>브릿지 출금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7552" y="4096512"/>
            <a:ext cx="3008376" cy="731520"/>
          </a:xfrm>
          <a:prstGeom prst="roundRect">
            <a:avLst/>
          </a:prstGeom>
          <a:solidFill>
            <a:srgbClr val="FFF4DE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70432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L1 custody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90288" y="4096512"/>
            <a:ext cx="3008376" cy="731520"/>
          </a:xfrm>
          <a:prstGeom prst="roundRect">
            <a:avLst/>
          </a:prstGeom>
          <a:solidFill>
            <a:srgbClr val="E8F7F0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liquid L2 accounting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93024" y="4096512"/>
            <a:ext cx="3008376" cy="731520"/>
          </a:xfrm>
          <a:prstGeom prst="roundRect">
            <a:avLst/>
          </a:prstGeom>
          <a:solidFill>
            <a:srgbClr val="F1EE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5904" y="4325112"/>
            <a:ext cx="2642616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private notes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프라이버시 경계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93268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800" b="1">
                <a:solidFill>
                  <a:srgbClr val="101828"/>
                </a:solidFill>
                <a:latin typeface="Apple SD Gothic Neo"/>
              </a:defRPr>
            </a:pPr>
            <a:r>
              <a:t>Programmed Disclosure이지 Invisible Activity가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proof acceptance 이후 어떤 public observation을 남길지는 DApp 설계가 결정한다.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21A67A"/>
                </a:solidFill>
                <a:latin typeface="Apple SD Gothic Neo"/>
              </a:defRPr>
            </a:pPr>
            <a:r>
              <a:t>Public contract state에서 숨겨지는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261872" y="316382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6463" y="309067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plaintext</a:t>
            </a:r>
          </a:p>
        </p:txBody>
      </p:sp>
      <p:sp>
        <p:nvSpPr>
          <p:cNvPr id="13" name="Oval 12"/>
          <p:cNvSpPr/>
          <p:nvPr/>
        </p:nvSpPr>
        <p:spPr>
          <a:xfrm>
            <a:off x="1261872" y="35753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6463" y="350215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note ownership meaning</a:t>
            </a:r>
          </a:p>
        </p:txBody>
      </p:sp>
      <p:sp>
        <p:nvSpPr>
          <p:cNvPr id="15" name="Oval 14"/>
          <p:cNvSpPr/>
          <p:nvPr/>
        </p:nvSpPr>
        <p:spPr>
          <a:xfrm>
            <a:off x="1261872" y="398678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6463" y="391363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sender-recipient provenance</a:t>
            </a:r>
          </a:p>
        </p:txBody>
      </p:sp>
      <p:sp>
        <p:nvSpPr>
          <p:cNvPr id="17" name="Oval 16"/>
          <p:cNvSpPr/>
          <p:nvPr/>
        </p:nvSpPr>
        <p:spPr>
          <a:xfrm>
            <a:off x="1261872" y="439826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26463" y="4325112"/>
            <a:ext cx="3493008" cy="38404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0">
                <a:solidFill>
                  <a:srgbClr val="1B1F2A"/>
                </a:solidFill>
                <a:latin typeface="Apple SD Gothic Neo"/>
              </a:defRPr>
            </a:pPr>
            <a:r>
              <a:t>complete private note history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6248" y="2286000"/>
            <a:ext cx="4754880" cy="2633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2578608"/>
            <a:ext cx="4023360" cy="29260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800" b="1">
                <a:solidFill>
                  <a:srgbClr val="F59E0B"/>
                </a:solidFill>
                <a:latin typeface="Apple SD Gothic Neo"/>
              </a:defRPr>
            </a:pPr>
            <a:r>
              <a:t>보이는 monitoring surface</a:t>
            </a:r>
          </a:p>
        </p:txBody>
      </p:sp>
      <p:sp>
        <p:nvSpPr>
          <p:cNvPr id="21" name="Oval 20"/>
          <p:cNvSpPr/>
          <p:nvPr/>
        </p:nvSpPr>
        <p:spPr>
          <a:xfrm>
            <a:off x="6931152" y="3127248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3054096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joins, deposits, withdrawals</a:t>
            </a:r>
          </a:p>
        </p:txBody>
      </p:sp>
      <p:sp>
        <p:nvSpPr>
          <p:cNvPr id="23" name="Oval 22"/>
          <p:cNvSpPr/>
          <p:nvPr/>
        </p:nvSpPr>
        <p:spPr>
          <a:xfrm>
            <a:off x="6931152" y="347472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95744" y="3401568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accepted transitions</a:t>
            </a:r>
          </a:p>
        </p:txBody>
      </p:sp>
      <p:sp>
        <p:nvSpPr>
          <p:cNvPr id="25" name="Oval 24"/>
          <p:cNvSpPr/>
          <p:nvPr/>
        </p:nvSpPr>
        <p:spPr>
          <a:xfrm>
            <a:off x="6931152" y="3822191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95744" y="3749039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root movement와 storage writes</a:t>
            </a:r>
          </a:p>
        </p:txBody>
      </p:sp>
      <p:sp>
        <p:nvSpPr>
          <p:cNvPr id="27" name="Oval 26"/>
          <p:cNvSpPr/>
          <p:nvPr/>
        </p:nvSpPr>
        <p:spPr>
          <a:xfrm>
            <a:off x="6931152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95744" y="4096512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commitments와 nullifiers</a:t>
            </a:r>
          </a:p>
        </p:txBody>
      </p:sp>
      <p:sp>
        <p:nvSpPr>
          <p:cNvPr id="29" name="Oval 28"/>
          <p:cNvSpPr/>
          <p:nvPr/>
        </p:nvSpPr>
        <p:spPr>
          <a:xfrm>
            <a:off x="6931152" y="4517136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95744" y="4443983"/>
            <a:ext cx="349300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1B1F2A"/>
                </a:solidFill>
                <a:latin typeface="Apple SD Gothic Neo"/>
              </a:defRPr>
            </a:pPr>
            <a:r>
              <a:t>encrypted note-delivery events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TRUST BOUNDARY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 신뢰 가정의 두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브릿지의 신뢰 가정은 상태 업데이트 건실성과 사용자 프라이버시에서 서로 다르게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pple SD Gothic Neo"/>
              </a:defRPr>
            </a:pPr>
            <a:r>
              <a:t>질문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채널 상태를 업데이트할 때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누구를 신뢰하는가?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runtime submitter나 prover를 신뢰하지 않는 방향으로 설계된다. 상태 전진은 proof와 metadata check가 동시에 통과해야 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148840"/>
            <a:ext cx="4992624" cy="23591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395728"/>
            <a:ext cx="914400" cy="21945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00" b="1">
                <a:solidFill>
                  <a:srgbClr val="21A67A"/>
                </a:solidFill>
                <a:latin typeface="Apple SD Gothic Neo"/>
              </a:defRPr>
            </a:pPr>
            <a:r>
              <a:t>질문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724912"/>
            <a:ext cx="4343400" cy="5669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채널 사용자의 프라이버시는</a:t>
            </a:r>
          </a:p>
          <a:p>
            <a:pPr>
              <a:defRPr sz="2000" b="1">
                <a:solidFill>
                  <a:srgbClr val="1B1F2A"/>
                </a:solidFill>
                <a:latin typeface="Apple SD Gothic Neo"/>
              </a:defRPr>
            </a:pPr>
            <a:r>
              <a:t>브릿지가 보장하는가?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547872"/>
            <a:ext cx="4261104" cy="585216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70" b="0">
                <a:solidFill>
                  <a:srgbClr val="5C667A"/>
                </a:solidFill>
                <a:latin typeface="Apple SD Gothic Neo"/>
              </a:defRPr>
            </a:pPr>
            <a:r>
              <a:t>답: 브릿지는 DApp이 선언한 disclosure boundary를 집행한다. 실제 privacy는 circuit, event, encryption, client workflow에 의존한다.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157216"/>
            <a:ext cx="10076688" cy="5303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312664"/>
            <a:ext cx="956462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320" b="1">
                <a:solidFill>
                  <a:srgbClr val="FFFFFF"/>
                </a:solidFill>
                <a:latin typeface="Apple SD Gothic Neo"/>
              </a:defRPr>
            </a:pPr>
            <a:r>
              <a:t>핵심 구분: state integrity는 bridge-enforced proof 문제이고, privacy는 DApp-programmed disclosure 문제다.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STATE INTEGRITY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상태 업데이트 건실성에는 어떤 신뢰가 남는가?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제출자를 믿는 대신, proof가 어떤 상태 의미를 주장하는지 확인한다.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29992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237744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D94A4A"/>
                </a:solidFill>
                <a:latin typeface="Apple SD Gothic Neo"/>
              </a:defRPr>
            </a:pPr>
            <a:r>
              <a:t>신뢰하지 않는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078992" y="2926080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852928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submitter의 주장</a:t>
            </a:r>
          </a:p>
        </p:txBody>
      </p:sp>
      <p:sp>
        <p:nvSpPr>
          <p:cNvPr id="13" name="Oval 12"/>
          <p:cNvSpPr/>
          <p:nvPr/>
        </p:nvSpPr>
        <p:spPr>
          <a:xfrm>
            <a:off x="1078992" y="3273552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3584" y="3200400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prover의 선의</a:t>
            </a:r>
          </a:p>
        </p:txBody>
      </p:sp>
      <p:sp>
        <p:nvSpPr>
          <p:cNvPr id="15" name="Oval 14"/>
          <p:cNvSpPr/>
          <p:nvPr/>
        </p:nvSpPr>
        <p:spPr>
          <a:xfrm>
            <a:off x="1078992" y="3621024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3547872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off-chain workspace의 무결성</a:t>
            </a:r>
          </a:p>
        </p:txBody>
      </p:sp>
      <p:sp>
        <p:nvSpPr>
          <p:cNvPr id="17" name="Oval 16"/>
          <p:cNvSpPr/>
          <p:nvPr/>
        </p:nvSpPr>
        <p:spPr>
          <a:xfrm>
            <a:off x="1078992" y="3968496"/>
            <a:ext cx="73152" cy="73152"/>
          </a:xfrm>
          <a:prstGeom prst="ellipse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43584" y="3895344"/>
            <a:ext cx="2075688" cy="32004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임의 ABI selector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98848" y="2139696"/>
            <a:ext cx="3401568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274320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체크하는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28032" y="292608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92624" y="285292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currentRootVectorHash</a:t>
            </a:r>
          </a:p>
        </p:txBody>
      </p:sp>
      <p:sp>
        <p:nvSpPr>
          <p:cNvPr id="23" name="Oval 22"/>
          <p:cNvSpPr/>
          <p:nvPr/>
        </p:nvSpPr>
        <p:spPr>
          <a:xfrm>
            <a:off x="4828032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17296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function metadata proof</a:t>
            </a:r>
          </a:p>
        </p:txBody>
      </p:sp>
      <p:sp>
        <p:nvSpPr>
          <p:cNvPr id="25" name="Oval 24"/>
          <p:cNvSpPr/>
          <p:nvPr/>
        </p:nvSpPr>
        <p:spPr>
          <a:xfrm>
            <a:off x="4828032" y="356616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2624" y="349300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preprocess hash</a:t>
            </a:r>
          </a:p>
        </p:txBody>
      </p:sp>
      <p:sp>
        <p:nvSpPr>
          <p:cNvPr id="27" name="Oval 26"/>
          <p:cNvSpPr/>
          <p:nvPr/>
        </p:nvSpPr>
        <p:spPr>
          <a:xfrm>
            <a:off x="4828032" y="388620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92624" y="3813048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aPubBlockHash</a:t>
            </a:r>
          </a:p>
        </p:txBody>
      </p:sp>
      <p:sp>
        <p:nvSpPr>
          <p:cNvPr id="29" name="Oval 28"/>
          <p:cNvSpPr/>
          <p:nvPr/>
        </p:nvSpPr>
        <p:spPr>
          <a:xfrm>
            <a:off x="4828032" y="42062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2624" y="4133087"/>
            <a:ext cx="253288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20" b="0">
                <a:solidFill>
                  <a:srgbClr val="1B1F2A"/>
                </a:solidFill>
                <a:latin typeface="Apple SD Gothic Neo"/>
              </a:defRPr>
            </a:pPr>
            <a:r>
              <a:t>Tokamak / Groth verifier result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13648" y="2139696"/>
            <a:ext cx="2542032" cy="2578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2377440"/>
            <a:ext cx="201168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남는 신뢰 가정</a:t>
            </a:r>
          </a:p>
        </p:txBody>
      </p:sp>
      <p:sp>
        <p:nvSpPr>
          <p:cNvPr id="33" name="Oval 32"/>
          <p:cNvSpPr/>
          <p:nvPr/>
        </p:nvSpPr>
        <p:spPr>
          <a:xfrm>
            <a:off x="8924544" y="292608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89136" y="285292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verifier와 circuit correctness</a:t>
            </a:r>
          </a:p>
        </p:txBody>
      </p:sp>
      <p:sp>
        <p:nvSpPr>
          <p:cNvPr id="35" name="Oval 34"/>
          <p:cNvSpPr/>
          <p:nvPr/>
        </p:nvSpPr>
        <p:spPr>
          <a:xfrm>
            <a:off x="8924544" y="329184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89136" y="321868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등록 metadata의 정확성</a:t>
            </a:r>
          </a:p>
        </p:txBody>
      </p:sp>
      <p:sp>
        <p:nvSpPr>
          <p:cNvPr id="37" name="Oval 36"/>
          <p:cNvSpPr/>
          <p:nvPr/>
        </p:nvSpPr>
        <p:spPr>
          <a:xfrm>
            <a:off x="8924544" y="365760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89136" y="358444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upgrade/admin governance</a:t>
            </a:r>
          </a:p>
        </p:txBody>
      </p:sp>
      <p:sp>
        <p:nvSpPr>
          <p:cNvPr id="39" name="Oval 38"/>
          <p:cNvSpPr/>
          <p:nvPr/>
        </p:nvSpPr>
        <p:spPr>
          <a:xfrm>
            <a:off x="8924544" y="4023360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89136" y="3950208"/>
            <a:ext cx="1664208" cy="33832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70" b="0">
                <a:solidFill>
                  <a:srgbClr val="1B1F2A"/>
                </a:solidFill>
                <a:latin typeface="Apple SD Gothic Neo"/>
              </a:defRPr>
            </a:pPr>
            <a:r>
              <a:t>recovery availability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50" b="1">
                <a:solidFill>
                  <a:srgbClr val="FFFFFF"/>
                </a:solidFill>
                <a:latin typeface="Apple SD Gothic Neo"/>
              </a:defRPr>
            </a:pPr>
            <a:r>
              <a:t>결론: runtime actor trust는 낮지만, cryptography implementation, metadata registration, governance control에는 신뢰가 집중된다.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PRIVACY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프라이버시는 어디까지 브릿지의 책임인가?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브릿지는 privacy를 자동 생성하지 않는다. DApp이 공개할 정보와 숨길 정보를 프로그램해야 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563EB"/>
                </a:solidFill>
                <a:latin typeface="Apple SD Gothic Neo"/>
              </a:defRPr>
            </a:pPr>
            <a:r>
              <a:t>브릿지가 집행하는 것</a:t>
            </a:r>
          </a:p>
        </p:txBody>
      </p:sp>
      <p:sp>
        <p:nvSpPr>
          <p:cNvPr id="11" name="Oval 10"/>
          <p:cNvSpPr/>
          <p:nvPr/>
        </p:nvSpPr>
        <p:spPr>
          <a:xfrm>
            <a:off x="1152144" y="288950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16736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registered function만 실행</a:t>
            </a:r>
          </a:p>
        </p:txBody>
      </p:sp>
      <p:sp>
        <p:nvSpPr>
          <p:cNvPr id="13" name="Oval 12"/>
          <p:cNvSpPr/>
          <p:nvPr/>
        </p:nvSpPr>
        <p:spPr>
          <a:xfrm>
            <a:off x="1152144" y="324612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허용된 storage-write만 관찰</a:t>
            </a:r>
          </a:p>
        </p:txBody>
      </p:sp>
      <p:sp>
        <p:nvSpPr>
          <p:cNvPr id="15" name="Oval 14"/>
          <p:cNvSpPr/>
          <p:nvPr/>
        </p:nvSpPr>
        <p:spPr>
          <a:xfrm>
            <a:off x="1152144" y="360273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public input layout 해석</a:t>
            </a:r>
          </a:p>
        </p:txBody>
      </p:sp>
      <p:sp>
        <p:nvSpPr>
          <p:cNvPr id="17" name="Oval 16"/>
          <p:cNvSpPr/>
          <p:nvPr/>
        </p:nvSpPr>
        <p:spPr>
          <a:xfrm>
            <a:off x="1152144" y="395935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1B1F2A"/>
                </a:solidFill>
                <a:latin typeface="Apple SD Gothic Neo"/>
              </a:defRPr>
            </a:pPr>
            <a:r>
              <a:t>accepted transition만 기록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084831"/>
            <a:ext cx="318211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73168" y="2340864"/>
            <a:ext cx="2560320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21A67A"/>
                </a:solidFill>
                <a:latin typeface="Apple SD Gothic Neo"/>
              </a:defRPr>
            </a:pPr>
            <a:r>
              <a:t>DApp이 보장해야 하는 것</a:t>
            </a:r>
          </a:p>
        </p:txBody>
      </p:sp>
      <p:sp>
        <p:nvSpPr>
          <p:cNvPr id="21" name="Oval 20"/>
          <p:cNvSpPr/>
          <p:nvPr/>
        </p:nvSpPr>
        <p:spPr>
          <a:xfrm>
            <a:off x="4846320" y="2889504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912" y="2816352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private witness가 public input에 새지 않음</a:t>
            </a:r>
          </a:p>
        </p:txBody>
      </p:sp>
      <p:sp>
        <p:nvSpPr>
          <p:cNvPr id="23" name="Oval 22"/>
          <p:cNvSpPr/>
          <p:nvPr/>
        </p:nvSpPr>
        <p:spPr>
          <a:xfrm>
            <a:off x="4846320" y="3246120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172968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event가 의미를 과다 노출하지 않음</a:t>
            </a:r>
          </a:p>
        </p:txBody>
      </p:sp>
      <p:sp>
        <p:nvSpPr>
          <p:cNvPr id="25" name="Oval 24"/>
          <p:cNvSpPr/>
          <p:nvPr/>
        </p:nvSpPr>
        <p:spPr>
          <a:xfrm>
            <a:off x="4846320" y="3602736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10912" y="3529584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note encryption과 key management</a:t>
            </a:r>
          </a:p>
        </p:txBody>
      </p:sp>
      <p:sp>
        <p:nvSpPr>
          <p:cNvPr id="27" name="Oval 26"/>
          <p:cNvSpPr/>
          <p:nvPr/>
        </p:nvSpPr>
        <p:spPr>
          <a:xfrm>
            <a:off x="4846320" y="3959352"/>
            <a:ext cx="73152" cy="73152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10912" y="3886200"/>
            <a:ext cx="2249424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client workflow의 unlinkability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2084831"/>
            <a:ext cx="2907792" cy="26151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49056" y="2340864"/>
            <a:ext cx="2249424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F59E0B"/>
                </a:solidFill>
                <a:latin typeface="Apple SD Gothic Neo"/>
              </a:defRPr>
            </a:pPr>
            <a:r>
              <a:t>그래도 보이는 것</a:t>
            </a:r>
          </a:p>
        </p:txBody>
      </p:sp>
      <p:sp>
        <p:nvSpPr>
          <p:cNvPr id="31" name="Oval 30"/>
          <p:cNvSpPr/>
          <p:nvPr/>
        </p:nvSpPr>
        <p:spPr>
          <a:xfrm>
            <a:off x="8522208" y="288950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0" y="281635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join / deposit / withdraw / exit</a:t>
            </a:r>
          </a:p>
        </p:txBody>
      </p:sp>
      <p:sp>
        <p:nvSpPr>
          <p:cNvPr id="33" name="Oval 32"/>
          <p:cNvSpPr/>
          <p:nvPr/>
        </p:nvSpPr>
        <p:spPr>
          <a:xfrm>
            <a:off x="8522208" y="320954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13639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root movement</a:t>
            </a:r>
          </a:p>
        </p:txBody>
      </p:sp>
      <p:sp>
        <p:nvSpPr>
          <p:cNvPr id="35" name="Oval 34"/>
          <p:cNvSpPr/>
          <p:nvPr/>
        </p:nvSpPr>
        <p:spPr>
          <a:xfrm>
            <a:off x="8522208" y="352958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345643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commitment / nullifier</a:t>
            </a:r>
          </a:p>
        </p:txBody>
      </p:sp>
      <p:sp>
        <p:nvSpPr>
          <p:cNvPr id="37" name="Oval 36"/>
          <p:cNvSpPr/>
          <p:nvPr/>
        </p:nvSpPr>
        <p:spPr>
          <a:xfrm>
            <a:off x="8522208" y="384962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77647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encrypted note delivery</a:t>
            </a:r>
          </a:p>
        </p:txBody>
      </p:sp>
      <p:sp>
        <p:nvSpPr>
          <p:cNvPr id="39" name="Oval 38"/>
          <p:cNvSpPr/>
          <p:nvPr/>
        </p:nvSpPr>
        <p:spPr>
          <a:xfrm>
            <a:off x="8522208" y="4169664"/>
            <a:ext cx="73152" cy="731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984248" cy="292607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1B1F2A"/>
                </a:solidFill>
                <a:latin typeface="Apple SD Gothic Neo"/>
              </a:defRPr>
            </a:pPr>
            <a:r>
              <a:t>timing과 edge metadata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5840" y="5285232"/>
            <a:ext cx="10113264" cy="43891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34440" y="5404104"/>
            <a:ext cx="9656064" cy="1828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80" b="1">
                <a:solidFill>
                  <a:srgbClr val="FFFFFF"/>
                </a:solidFill>
                <a:latin typeface="Apple SD Gothic Neo"/>
              </a:defRPr>
            </a:pPr>
            <a:r>
              <a:t>결론: privacy guarantee는 bridge-wide property가 아니라 DApp-programmed property다.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SECURITY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브릿지는 모호한 상태 의미를 거부한다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구현체의 안전 가정은 명시적인 admissibility constraint로 나타난다.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" y="2267712"/>
            <a:ext cx="10442448" cy="987552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DApp 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S_d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1588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function uniqueness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1588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(d,f) -&gt; (p,L)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88436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channel uniqueness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exists! C_c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8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82811" y="2432304"/>
            <a:ext cx="2464308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900" b="1">
                <a:solidFill>
                  <a:srgbClr val="A9B7D0"/>
                </a:solidFill>
                <a:latin typeface="Apple SD Gothic Neo"/>
              </a:defRPr>
            </a:pPr>
            <a:r>
              <a:t>leaf index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2811" y="2706624"/>
            <a:ext cx="2464308" cy="29260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  <a:latin typeface="Apple SD Gothic Neo"/>
              </a:defRPr>
            </a:pPr>
            <a:r>
              <a:t>LeafIndex(k)=k mod 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09659" y="2404872"/>
            <a:ext cx="9144" cy="713232"/>
          </a:xfrm>
          <a:prstGeom prst="rect">
            <a:avLst/>
          </a:prstGeom>
          <a:solidFill>
            <a:srgbClr val="4150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7824" y="3858768"/>
            <a:ext cx="45720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Storage-vector ordering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root vector, storage-write descriptor, snapshot, proof input은 같은 DApp-wide storage order를 사용해야 한다.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7136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3858768"/>
            <a:ext cx="45720" cy="1188720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18304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Proof-gated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state update는 proof verification과 bridge metadata check가 모두 성공할 때만 의미를 갖는다.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6448" y="3858768"/>
            <a:ext cx="3182112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3858768"/>
            <a:ext cx="45720" cy="1188720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4023359"/>
            <a:ext cx="2779776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No arbitrary ABI execution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7616" y="4407407"/>
            <a:ext cx="2779776" cy="53035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배포 bytecode에 selector가 존재한다는 이유만으로 브릿지가 실행을 받아들이지는 않는다.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구현 매핑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개념에서 Contracts와 Scripts로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현재 코드베이스는 stable protocol role과 deployment detail을 분리한다.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21408"/>
            <a:ext cx="10561320" cy="3273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2331720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Shared control 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331720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BridgeCore, DAppManager, L1TokenVault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76148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Per-channel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76148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ChannelManager, ChannelDeployer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0704" y="264261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191256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General execution 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191256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TokamakVerifier and generated setup parameters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0704" y="3072384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0432" y="3621024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Vault accounting proof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21024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Groth16Verifier and updateTree verifier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04" y="3502152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0432" y="4050791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DApp registration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050791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bridge/scripts/admin-add-dapp.mjs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0704" y="3931920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480559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Bridge deployment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480559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bridge/scripts/deploy-bridge.mjs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0704" y="4361688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10327"/>
            <a:ext cx="342900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350" b="1">
                <a:solidFill>
                  <a:srgbClr val="1B1F2A"/>
                </a:solidFill>
                <a:latin typeface="Apple SD Gothic Neo"/>
              </a:defRPr>
            </a:pPr>
            <a:r>
              <a:t>Private-state CLI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0327"/>
            <a:ext cx="5897880" cy="201168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Menlo"/>
              </a:defRPr>
            </a:pPr>
            <a:r>
              <a:t>packages/apps/private-state/cli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0704" y="4791455"/>
            <a:ext cx="1005840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개발자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채널을 구현하고 운영하는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contracts, synthesizer metadata, CLI proof generation이 하나의 bridge-coupled path로 연결된다.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4358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6479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bridge stack 배포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749039" y="277977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41655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8114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8114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private-state DApp 배포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086600" y="277977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54112" y="239572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918704" y="2596896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18704" y="267919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39912" y="259689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example synthesize와 preprocess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88552" y="3163824"/>
            <a:ext cx="0" cy="877824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7899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24358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4358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6479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DApp metadata 등록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49039" y="4425696"/>
            <a:ext cx="484633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1655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8114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0235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channel create 또는 join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086600" y="4425696"/>
            <a:ext cx="484632" cy="0"/>
          </a:xfrm>
          <a:prstGeom prst="line">
            <a:avLst/>
          </a:prstGeom>
          <a:ln w="254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754112" y="4041648"/>
            <a:ext cx="2670048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18704" y="4242816"/>
            <a:ext cx="384048" cy="384048"/>
          </a:xfrm>
          <a:prstGeom prst="ellipse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4325112"/>
            <a:ext cx="38404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Apple SD Gothic Neo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39912" y="4242816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1">
                <a:solidFill>
                  <a:srgbClr val="1B1F2A"/>
                </a:solidFill>
                <a:latin typeface="Apple SD Gothic Neo"/>
              </a:defRPr>
            </a:pPr>
            <a:r>
              <a:t>proof-backed wallet operation 제출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TRADEOFFS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열린 연구 및 엔지니어링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이 설계는 일부 global flexibility보다 explicit policy와 isolation을 선택한다.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176272"/>
            <a:ext cx="45720" cy="12618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Isolation vs composability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per-channel execution은 강한 safety boundary를 주지만, cross-channel composition이 주된 최적화 대상은 아니다.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82512" y="2176272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2512" y="2176272"/>
            <a:ext cx="45720" cy="12618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340864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Immutable policy vs upgradeability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724912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channel policy bug는 보통 in-place rewrite가 아니라 새 channel이나 migration path를 요구한다.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9536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59536" y="3931920"/>
            <a:ext cx="45720" cy="1261872"/>
          </a:xfrm>
          <a:prstGeom prst="rect">
            <a:avLst/>
          </a:prstGeom>
          <a:solidFill>
            <a:srgbClr val="D9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Finite Merkle leaf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storage key는 finite leaf domain에 투영되므로 capacity와 collision risk는 channel lifetime concern이다.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3931920"/>
            <a:ext cx="4956048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82512" y="3931920"/>
            <a:ext cx="45720" cy="1261872"/>
          </a:xfrm>
          <a:prstGeom prst="rect">
            <a:avLst/>
          </a:prstGeom>
          <a:solidFill>
            <a:srgbClr val="21A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096511"/>
            <a:ext cx="4553712" cy="25603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600" b="1">
                <a:solidFill>
                  <a:srgbClr val="1B1F2A"/>
                </a:solidFill>
                <a:latin typeface="Apple SD Gothic Neo"/>
              </a:defRPr>
            </a:pPr>
            <a:r>
              <a:t>DApp-specific disclosure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480559"/>
            <a:ext cx="4553712" cy="603503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250" b="0">
                <a:solidFill>
                  <a:srgbClr val="5C667A"/>
                </a:solidFill>
                <a:latin typeface="Apple SD Gothic Neo"/>
              </a:defRPr>
            </a:pPr>
            <a:r>
              <a:t>compliance, auditability, selective disclosure는 DApp별로 프로그램하고 문서화해야 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LIFECYCLE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Finite Leaf와 Channel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finite Merkle tree는 key collision risk를 만들고, join toll refund schedule은 slot 점유 비용을 시간 함수로 만든다.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2048256"/>
            <a:ext cx="4645152" cy="33467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267712"/>
            <a:ext cx="4023360" cy="23774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1">
                <a:solidFill>
                  <a:srgbClr val="1B1F2A"/>
                </a:solidFill>
                <a:latin typeface="Apple SD Gothic Neo"/>
              </a:defRPr>
            </a:pPr>
            <a:r>
              <a:t>현재 구현의 leaf projection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78992" y="2670048"/>
            <a:ext cx="4059936" cy="786384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2816352"/>
            <a:ext cx="3749039" cy="42062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N = 2^d,   d = 36</a:t>
            </a:r>
          </a:p>
          <a:p>
            <a:pPr algn="ctr">
              <a:defRPr sz="1500" b="1">
                <a:solidFill>
                  <a:srgbClr val="FFFFFF"/>
                </a:solidFill>
                <a:latin typeface="Apple SD Gothic Neo"/>
              </a:defRPr>
            </a:pPr>
            <a:r>
              <a:t>LeafIndex(k) = k mod 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685032"/>
            <a:ext cx="4114800" cy="32918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80" b="0">
                <a:solidFill>
                  <a:srgbClr val="5C667A"/>
                </a:solidFill>
                <a:latin typeface="Apple SD Gothic Neo"/>
              </a:defRPr>
            </a:pPr>
            <a:r>
              <a:t>고정된 future nullifier leaf에 대해, 미래 storage key가 Poisson rate λ로 도착하면: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4059936"/>
            <a:ext cx="4059936" cy="512064"/>
          </a:xfrm>
          <a:prstGeom prst="roundRect">
            <a:avLst/>
          </a:prstGeom>
          <a:solidFill>
            <a:srgbClr val="F6F8FC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215384"/>
            <a:ext cx="3840480" cy="20116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220" b="1">
                <a:solidFill>
                  <a:srgbClr val="1B1F2A"/>
                </a:solidFill>
                <a:latin typeface="Apple SD Gothic Neo"/>
              </a:defRPr>
            </a:pPr>
            <a:r>
              <a:t>P_collision(t) = 1 - exp(-λ · 1440t · 2^-d)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718304"/>
            <a:ext cx="4069080" cy="34747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070" b="0">
                <a:solidFill>
                  <a:srgbClr val="5C667A"/>
                </a:solidFill>
                <a:latin typeface="Apple SD Gothic Neo"/>
              </a:defRPr>
            </a:pPr>
            <a:r>
              <a:t>t는 days 단위. 그래프는 λ = 1 leaf/minute 모델이며, 보라색 선이 current d = 36이다.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06440" y="2029968"/>
            <a:ext cx="5413248" cy="3401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D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collision-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1032" y="2176272"/>
            <a:ext cx="5074920" cy="3072384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9264" y="5532120"/>
            <a:ext cx="10222992" cy="493776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5678424"/>
            <a:ext cx="9893808" cy="16459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170" b="1">
                <a:solidFill>
                  <a:srgbClr val="FFFFFF"/>
                </a:solidFill>
                <a:latin typeface="Apple SD Gothic Neo"/>
              </a:defRPr>
            </a:pPr>
            <a:r>
              <a:t>refund = paidJoinToll × bps(elapsed) / 10,000    |    default bps: ≤6h 75%, ≤24h 50%, ≤3d 25%, &gt;3d 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5358384"/>
            <a:ext cx="4892040" cy="146304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780" b="0">
                <a:solidFill>
                  <a:srgbClr val="5C667A"/>
                </a:solidFill>
                <a:latin typeface="Apple SD Gothic Neo"/>
              </a:defRPr>
            </a:pPr>
            <a:r>
              <a:t>출처: bridge-private-state mainnet security review의 collision model + BridgeCore/ChannelManager 현 구현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5303520" cy="22860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Apple SD Gothic Neo"/>
              </a:defRPr>
            </a:pPr>
            <a: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3400" b="1">
                <a:solidFill>
                  <a:srgbClr val="101828"/>
                </a:solidFill>
                <a:latin typeface="Apple SD Gothic Neo"/>
              </a:defRPr>
            </a:pPr>
            <a:r>
              <a:t>기억해야 할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7863840" cy="43891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5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Channels는 validity-proven DApp-specific execution을 위한 bridge fabric이다.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0352" y="6364224"/>
            <a:ext cx="11109960" cy="9144"/>
          </a:xfrm>
          <a:prstGeom prst="rect">
            <a:avLst/>
          </a:prstGeom>
          <a:solidFill>
            <a:srgbClr val="D8DD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73952"/>
            <a:ext cx="32918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Tokamak Private App Channels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92840" y="6473952"/>
            <a:ext cx="320040" cy="164592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 algn="r">
              <a:defRPr sz="800" b="0">
                <a:solidFill>
                  <a:srgbClr val="5C667A"/>
                </a:solidFill>
                <a:latin typeface="Apple SD Gothic Neo"/>
              </a:defRPr>
            </a:pPr>
            <a:r>
              <a:t>26</a:t>
            </a:r>
          </a:p>
        </p:txBody>
      </p:sp>
      <p:sp>
        <p:nvSpPr>
          <p:cNvPr id="9" name="Oval 8"/>
          <p:cNvSpPr/>
          <p:nvPr/>
        </p:nvSpPr>
        <p:spPr>
          <a:xfrm>
            <a:off x="1216152" y="2377440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0744" y="2304288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Ethereum은 custody와 validity anchor로 남는다.</a:t>
            </a:r>
          </a:p>
        </p:txBody>
      </p:sp>
      <p:sp>
        <p:nvSpPr>
          <p:cNvPr id="11" name="Oval 10"/>
          <p:cNvSpPr/>
          <p:nvPr/>
        </p:nvSpPr>
        <p:spPr>
          <a:xfrm>
            <a:off x="1216152" y="2907792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0744" y="2834640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브릿지는 arbitrary ABI interpretation이 아니라 registered metadata로 실행을 admission한다.</a:t>
            </a:r>
          </a:p>
        </p:txBody>
      </p:sp>
      <p:sp>
        <p:nvSpPr>
          <p:cNvPr id="13" name="Oval 12"/>
          <p:cNvSpPr/>
          <p:nvPr/>
        </p:nvSpPr>
        <p:spPr>
          <a:xfrm>
            <a:off x="1216152" y="3438144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0744" y="3364991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각 채널은 DApp policy, verifier binding, function root, storage vector를 snapshot한다.</a:t>
            </a:r>
          </a:p>
        </p:txBody>
      </p:sp>
      <p:sp>
        <p:nvSpPr>
          <p:cNvPr id="15" name="Oval 14"/>
          <p:cNvSpPr/>
          <p:nvPr/>
        </p:nvSpPr>
        <p:spPr>
          <a:xfrm>
            <a:off x="1216152" y="3968496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0744" y="3895344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Tokamak proof와 Groth16 accounting proof는 서로 다른 bridge responsibility를 맡는다.</a:t>
            </a:r>
          </a:p>
        </p:txBody>
      </p:sp>
      <p:sp>
        <p:nvSpPr>
          <p:cNvPr id="17" name="Oval 16"/>
          <p:cNvSpPr/>
          <p:nvPr/>
        </p:nvSpPr>
        <p:spPr>
          <a:xfrm>
            <a:off x="1216152" y="4498848"/>
            <a:ext cx="73152" cy="73152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80744" y="4425696"/>
            <a:ext cx="9162288" cy="502919"/>
          </a:xfrm>
          <a:prstGeom prst="rect">
            <a:avLst/>
          </a:prstGeom>
          <a:noFill/>
        </p:spPr>
        <p:txBody>
          <a:bodyPr wrap="square" lIns="18288" rIns="18288" tIns="9144" bIns="9144" anchor="t">
            <a:spAutoFit/>
          </a:bodyPr>
          <a:lstStyle/>
          <a:p>
            <a:pPr>
              <a:defRPr sz="1700" b="0">
                <a:solidFill>
                  <a:srgbClr val="1B1F2A"/>
                </a:solidFill>
                <a:latin typeface="Apple SD Gothic Neo"/>
              </a:defRPr>
            </a:pPr>
            <a:r>
              <a:t>private-state는 공개 L1 entry/exit 위에서 DApp-programmed privacy를 보여준다.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5413248"/>
            <a:ext cx="9253728" cy="475488"/>
          </a:xfrm>
          <a:prstGeom prst="roundRect">
            <a:avLst/>
          </a:prstGeom>
          <a:solidFill>
            <a:srgbClr val="152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19072" y="5550408"/>
            <a:ext cx="8741664" cy="21945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ple SD Gothic Neo"/>
              </a:defRPr>
            </a:pPr>
            <a:r>
              <a:t>핵심 질문은 proof가 verify되는가뿐 아니라, 어떤 policy가 그 proof에 의미를 부여하는가이다.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