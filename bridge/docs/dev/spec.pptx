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google.com/presentation/d/1D49fRElwkZYbEvQXB_rp5DEy22HFsabnXyeMQdNgjRw/edit?usp=sharin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06640" y="0"/>
            <a:ext cx="4791456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6720840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3300" b="1">
                <a:solidFill>
                  <a:srgbClr val="FFFFFF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993392"/>
            <a:ext cx="6309360" cy="7498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800" b="0">
                <a:solidFill>
                  <a:srgbClr val="DEE7F6"/>
                </a:solidFill>
                <a:latin typeface="Apple SD Gothic Neo"/>
              </a:defRPr>
            </a:pPr>
            <a:r>
              <a:t>Ethereum은 상태 전이를 검증해야 한다.</a:t>
            </a:r>
          </a:p>
          <a:p>
            <a:pPr>
              <a:defRPr sz="1800" b="0">
                <a:solidFill>
                  <a:srgbClr val="DEE7F6"/>
                </a:solidFill>
                <a:latin typeface="Apple SD Gothic Neo"/>
              </a:defRPr>
            </a:pPr>
            <a:r>
              <a:t>하지만 DApp transaction 원문을 보면 privacy는 깨진다.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127248"/>
            <a:ext cx="11887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3209544"/>
            <a:ext cx="1133856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ple SD Gothic Neo"/>
              </a:defRPr>
            </a:pPr>
            <a:r>
              <a:t>Validity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66543" y="3127248"/>
            <a:ext cx="1188720" cy="365760"/>
          </a:xfrm>
          <a:prstGeom prst="roundRect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93975" y="3209544"/>
            <a:ext cx="1133856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ple SD Gothic Neo"/>
              </a:defRPr>
            </a:pPr>
            <a:r>
              <a:t>Privacy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3127248"/>
            <a:ext cx="1371600" cy="365760"/>
          </a:xfrm>
          <a:prstGeom prst="roundRect">
            <a:avLst/>
          </a:prstGeom>
          <a:solidFill>
            <a:srgbClr val="00A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3863" y="3209544"/>
            <a:ext cx="1316736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ple SD Gothic Neo"/>
              </a:defRPr>
            </a:pPr>
            <a:r>
              <a:t>Settlement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1005840"/>
            <a:ext cx="3218688" cy="713232"/>
          </a:xfrm>
          <a:prstGeom prst="roundRect">
            <a:avLst/>
          </a:prstGeom>
          <a:solidFill>
            <a:srgbClr val="243B63"/>
          </a:solidFill>
          <a:ln w="12700">
            <a:solidFill>
              <a:srgbClr val="4F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243584"/>
            <a:ext cx="2852928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ple SD Gothic Neo"/>
              </a:defRPr>
            </a:pPr>
            <a:r>
              <a:t>검증 가능해야 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487168"/>
            <a:ext cx="2816352" cy="713232"/>
          </a:xfrm>
          <a:prstGeom prst="roundRect">
            <a:avLst/>
          </a:prstGeom>
          <a:solidFill>
            <a:srgbClr val="173F46"/>
          </a:solidFill>
          <a:ln w="12700">
            <a:solidFill>
              <a:srgbClr val="44C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9056" y="2724912"/>
            <a:ext cx="2487168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ple SD Gothic Neo"/>
              </a:defRPr>
            </a:pPr>
            <a:r>
              <a:t>원문은 숨겨야 한다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82127" y="3968496"/>
            <a:ext cx="3218688" cy="713232"/>
          </a:xfrm>
          <a:prstGeom prst="roundRect">
            <a:avLst/>
          </a:prstGeom>
          <a:solidFill>
            <a:srgbClr val="254637"/>
          </a:solidFill>
          <a:ln w="12700">
            <a:solidFill>
              <a:srgbClr val="40C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4206240"/>
            <a:ext cx="2852928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ple SD Gothic Neo"/>
              </a:defRPr>
            </a:pPr>
            <a:r>
              <a:t>자산은 정산되어야 한다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00032" y="1719072"/>
            <a:ext cx="0" cy="768096"/>
          </a:xfrm>
          <a:prstGeom prst="line">
            <a:avLst/>
          </a:prstGeom>
          <a:ln w="25400">
            <a:solidFill>
              <a:srgbClr val="93C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00032" y="3200400"/>
            <a:ext cx="0" cy="768096"/>
          </a:xfrm>
          <a:prstGeom prst="line">
            <a:avLst/>
          </a:prstGeom>
          <a:ln w="25400">
            <a:solidFill>
              <a:srgbClr val="7DD3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4133087"/>
            <a:ext cx="630936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BECCE5"/>
                </a:solidFill>
                <a:latin typeface="Apple SD Gothic Neo"/>
              </a:defRPr>
            </a:pPr>
            <a:r>
              <a:t>이 발표는 세 조건을 동시에 만족시키기 위해 bridge가 무엇을 검증하고,</a:t>
            </a:r>
          </a:p>
          <a:p>
            <a:pPr>
              <a:defRPr sz="1500" b="0">
                <a:solidFill>
                  <a:srgbClr val="BECCE5"/>
                </a:solidFill>
                <a:latin typeface="Apple SD Gothic Neo"/>
              </a:defRPr>
            </a:pPr>
            <a:r>
              <a:t>무엇을 보지 않아야 하는지 정리한다.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504688"/>
            <a:ext cx="5943600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AEBAD0"/>
                </a:solidFill>
                <a:latin typeface="Apple SD Gothic Neo"/>
              </a:defRPr>
            </a:pPr>
            <a:r>
              <a:t>2026년 5월 27일</a:t>
            </a:r>
          </a:p>
          <a:p>
            <a:pPr>
              <a:defRPr sz="1300" b="0">
                <a:solidFill>
                  <a:srgbClr val="AEBAD0"/>
                </a:solidFill>
                <a:latin typeface="Apple SD Gothic Neo"/>
              </a:defRPr>
            </a:pPr>
            <a:r>
              <a:t>장재혁</a:t>
            </a:r>
          </a:p>
          <a:p>
            <a:pPr>
              <a:defRPr sz="1300" b="0">
                <a:solidFill>
                  <a:srgbClr val="AEBAD0"/>
                </a:solidFill>
                <a:latin typeface="Apple SD Gothic Neo"/>
              </a:defRPr>
            </a:pPr>
            <a:r>
              <a:t>Tokamak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3400" b="1">
                <a:solidFill>
                  <a:srgbClr val="101828"/>
                </a:solidFill>
                <a:latin typeface="Apple SD Gothic Neo"/>
              </a:defRPr>
            </a:pPr>
            <a:r>
              <a:t>검증과 프라이버시는 같은 표면을 요구한다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브릿지 설계의 출발점은 하나의 상태 업데이트가 서로 다른 세 요구를 동시에 만족해야 한다는 점이다.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2212848"/>
            <a:ext cx="33101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2212848"/>
            <a:ext cx="45720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377440"/>
            <a:ext cx="290779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1B1F2A"/>
                </a:solidFill>
                <a:latin typeface="Apple SD Gothic Neo"/>
              </a:defRPr>
            </a:pPr>
            <a:r>
              <a:t>Ethereum이 필요한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761488"/>
            <a:ext cx="2907792" cy="8961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상태 루트가 임의로 바뀌지 않았다는 증거와 canonical asset 정산 가능성.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212848"/>
            <a:ext cx="33101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212848"/>
            <a:ext cx="45720" cy="1554480"/>
          </a:xfrm>
          <a:prstGeom prst="rect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7" y="2377440"/>
            <a:ext cx="290779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1B1F2A"/>
                </a:solidFill>
                <a:latin typeface="Apple SD Gothic Neo"/>
              </a:defRPr>
            </a:pPr>
            <a:r>
              <a:t>DApp이 숨기고 싶은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761488"/>
            <a:ext cx="2907792" cy="8961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사용자, 금액, 상대방, witness, 내부 상태 접근 패턴 같은 application semantics.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5592" y="2212848"/>
            <a:ext cx="33101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65592" y="2212848"/>
            <a:ext cx="45720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377440"/>
            <a:ext cx="290779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1B1F2A"/>
                </a:solidFill>
                <a:latin typeface="Apple SD Gothic Neo"/>
              </a:defRPr>
            </a:pPr>
            <a:r>
              <a:t>브릿지가 결정해야 하는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761488"/>
            <a:ext cx="2907792" cy="8961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어떤 proof와 public input을 받아들일지, 어떤 state write를 channel에 반영할지.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663440"/>
            <a:ext cx="10241280" cy="658368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828032"/>
            <a:ext cx="96926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ple SD Gothic Neo"/>
              </a:defRPr>
            </a:pPr>
            <a:r>
              <a:t>문제는 privacy 자체가 아니라, 원문 transaction 없이 상태 전이의 건실성을 받아들일 수 있는가이다.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대안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3400" b="1">
                <a:solidFill>
                  <a:srgbClr val="101828"/>
                </a:solidFill>
                <a:latin typeface="Apple SD Gothic Neo"/>
              </a:defRPr>
            </a:pPr>
            <a:r>
              <a:t>가장 단순한 방법들은 어디서 막히나?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쉬운 설계들은 validity, privacy, trust assumption 중 하나를 강하게 희생한다.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2176272"/>
            <a:ext cx="3310128" cy="1682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2176272"/>
            <a:ext cx="45720" cy="1682496"/>
          </a:xfrm>
          <a:prstGeom prst="rect">
            <a:avLst/>
          </a:prstGeom>
          <a:solidFill>
            <a:srgbClr val="D9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340864"/>
            <a:ext cx="290779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1B1F2A"/>
                </a:solidFill>
                <a:latin typeface="Apple SD Gothic Neo"/>
              </a:defRPr>
            </a:pPr>
            <a:r>
              <a:t>L1 replay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724912"/>
            <a:ext cx="2907792" cy="10241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Ethereum이 DApp transaction semantics를 직접 실행하면 검증은 명확하지만 원문 활동이 공개된다.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176272"/>
            <a:ext cx="3310128" cy="1682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176272"/>
            <a:ext cx="45720" cy="16824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7" y="2340864"/>
            <a:ext cx="290779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1B1F2A"/>
                </a:solidFill>
                <a:latin typeface="Apple SD Gothic Neo"/>
              </a:defRPr>
            </a:pPr>
            <a:r>
              <a:t>Operator result posting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724912"/>
            <a:ext cx="2907792" cy="10241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off-chain 실행 결과만 올리면 privacy 표면은 줄어들 수 있지만 사용자는 실행자를 더 많이 믿어야 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5592" y="2176272"/>
            <a:ext cx="3310128" cy="1682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65592" y="2176272"/>
            <a:ext cx="45720" cy="1682496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340864"/>
            <a:ext cx="290779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1B1F2A"/>
                </a:solidFill>
                <a:latin typeface="Apple SD Gothic Neo"/>
              </a:defRPr>
            </a:pPr>
            <a:r>
              <a:t>Generic rollup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724912"/>
            <a:ext cx="2907792" cy="10241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확장성에는 자연스럽지만 DApp별 disclosure policy와 channel-local consent가 흐려질 수 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370832"/>
            <a:ext cx="20574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Apple SD Gothic Neo"/>
              </a:defRPr>
            </a:pPr>
            <a:r>
              <a:t>그래서 필요한 형태</a:t>
            </a:r>
          </a:p>
        </p:txBody>
      </p:sp>
      <p:sp>
        <p:nvSpPr>
          <p:cNvPr id="22" name="Oval 21"/>
          <p:cNvSpPr/>
          <p:nvPr/>
        </p:nvSpPr>
        <p:spPr>
          <a:xfrm>
            <a:off x="877824" y="4828032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4754880"/>
            <a:ext cx="9893808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50" b="0">
                <a:solidFill>
                  <a:srgbClr val="1B1F2A"/>
                </a:solidFill>
                <a:latin typeface="Apple SD Gothic Neo"/>
              </a:defRPr>
            </a:pPr>
            <a:r>
              <a:t>L1은 transaction을 replay하지 않는다.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" y="5212080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5" y="5138928"/>
            <a:ext cx="9893808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50" b="0">
                <a:solidFill>
                  <a:srgbClr val="1B1F2A"/>
                </a:solidFill>
                <a:latin typeface="Apple SD Gothic Neo"/>
              </a:defRPr>
            </a:pPr>
            <a:r>
              <a:t>브릿지는 proof가 주장하는 state transition의 의미만 admission한다.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" y="5596128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5" y="5522976"/>
            <a:ext cx="9893808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50" b="0">
                <a:solidFill>
                  <a:srgbClr val="1B1F2A"/>
                </a:solidFill>
                <a:latin typeface="Apple SD Gothic Neo"/>
              </a:defRPr>
            </a:pPr>
            <a:r>
              <a:t>사용자는 생성 시점에 고정된 DApp-specific channel policy에 참여한다.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핵심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3400" b="1">
                <a:solidFill>
                  <a:srgbClr val="101828"/>
                </a:solidFill>
                <a:latin typeface="Apple SD Gothic Neo"/>
              </a:defRPr>
            </a:pPr>
            <a:r>
              <a:t>브릿지는 무엇을 믿고, 무엇을 검증해야 하나?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이 질문을 분리해야 상태 건실성과 프라이버시 보장의 책임 범위가 명확해진다.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2121408"/>
            <a:ext cx="331012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2121408"/>
            <a:ext cx="45720" cy="16276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286000"/>
            <a:ext cx="290779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1B1F2A"/>
                </a:solidFill>
                <a:latin typeface="Apple SD Gothic Neo"/>
              </a:defRPr>
            </a:pPr>
            <a:r>
              <a:t>상태 업데이트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670048"/>
            <a:ext cx="2907792" cy="9692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Ethereum은 원본 transaction 없이 channel root update를 받아들일 수 있는가?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121408"/>
            <a:ext cx="331012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121408"/>
            <a:ext cx="45720" cy="1627632"/>
          </a:xfrm>
          <a:prstGeom prst="rect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7" y="2286000"/>
            <a:ext cx="290779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1B1F2A"/>
                </a:solidFill>
                <a:latin typeface="Apple SD Gothic Neo"/>
              </a:defRPr>
            </a:pPr>
            <a:r>
              <a:t>검증 의미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670048"/>
            <a:ext cx="2907792" cy="9692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proof가 어떤 DApp 함수, storage surface, public input layout을 뜻하는지 누가 정의하는가?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5592" y="2121408"/>
            <a:ext cx="331012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65592" y="2121408"/>
            <a:ext cx="45720" cy="16276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286000"/>
            <a:ext cx="290779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1B1F2A"/>
                </a:solidFill>
                <a:latin typeface="Apple SD Gothic Neo"/>
              </a:defRPr>
            </a:pPr>
            <a:r>
              <a:t>프라이버시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670048"/>
            <a:ext cx="2907792" cy="9692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브릿지가 privacy를 보장하는가, 아니면 DApp proof system이 공개 경계를 프로그램하는가?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4590288"/>
            <a:ext cx="10058400" cy="786384"/>
          </a:xfrm>
          <a:prstGeom prst="roundRect">
            <a:avLst/>
          </a:prstGeom>
          <a:solidFill>
            <a:srgbClr val="E8F7F0"/>
          </a:solidFill>
          <a:ln w="12700">
            <a:solidFill>
              <a:srgbClr val="21A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4828032"/>
            <a:ext cx="941832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400" b="1">
                <a:solidFill>
                  <a:srgbClr val="1B1F2A"/>
                </a:solidFill>
                <a:latin typeface="Apple SD Gothic Neo"/>
              </a:defRPr>
            </a:pPr>
            <a:r>
              <a:t>이 발표의 답: 브릿지는 proof acceptance와 custody를 담당하고, DApp은 transition semantics와 disclosure boundary를 담당한다.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큰 그림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3400" b="1">
                <a:solidFill>
                  <a:srgbClr val="101828"/>
                </a:solidFill>
                <a:latin typeface="Apple SD Gothic Neo"/>
              </a:defRPr>
            </a:pPr>
            <a:r>
              <a:t>DApp Policy와 Channel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브릿지는 여러 DApp을 등록하고, 각 channel은 하나의 DApp을 선택한 뒤 자기 실행 조건을 고정한다.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28800"/>
            <a:ext cx="237744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pple SD Gothic Neo"/>
              </a:defRPr>
            </a:pPr>
            <a:r>
              <a:t>Registered DApps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828800"/>
            <a:ext cx="146304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400" b="1">
                <a:solidFill>
                  <a:srgbClr val="354052"/>
                </a:solidFill>
                <a:latin typeface="Apple SD Gothic Neo"/>
              </a:defRPr>
            </a:pPr>
            <a:r>
              <a:t>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1828800"/>
            <a:ext cx="20116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400" b="1">
                <a:solidFill>
                  <a:srgbClr val="21A67A"/>
                </a:solidFill>
                <a:latin typeface="Apple SD Gothic Neo"/>
              </a:defRPr>
            </a:pPr>
            <a:r>
              <a:t>Channels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157984"/>
            <a:ext cx="26060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40279"/>
            <a:ext cx="219456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Private-State DApp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615184"/>
            <a:ext cx="26060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97479"/>
            <a:ext cx="219456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Payment DApp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072384"/>
            <a:ext cx="26060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54679"/>
            <a:ext cx="219456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Auction DApp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675887"/>
            <a:ext cx="4005072" cy="1335024"/>
          </a:xfrm>
          <a:prstGeom prst="roundRect">
            <a:avLst/>
          </a:prstGeom>
          <a:solidFill>
            <a:srgbClr val="E9F1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22191"/>
            <a:ext cx="16459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DApp policy 예</a:t>
            </a:r>
          </a:p>
        </p:txBody>
      </p:sp>
      <p:sp>
        <p:nvSpPr>
          <p:cNvPr id="20" name="Oval 19"/>
          <p:cNvSpPr/>
          <p:nvPr/>
        </p:nvSpPr>
        <p:spPr>
          <a:xfrm>
            <a:off x="950976" y="416966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096512"/>
            <a:ext cx="1554480" cy="1920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DApp 실행 종류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38912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315968"/>
            <a:ext cx="1554480" cy="1920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받을 proof</a:t>
            </a:r>
          </a:p>
        </p:txBody>
      </p:sp>
      <p:sp>
        <p:nvSpPr>
          <p:cNvPr id="24" name="Oval 23"/>
          <p:cNvSpPr/>
          <p:nvPr/>
        </p:nvSpPr>
        <p:spPr>
          <a:xfrm>
            <a:off x="950976" y="460857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4535424"/>
            <a:ext cx="1554480" cy="1920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볼 public input</a:t>
            </a:r>
          </a:p>
        </p:txBody>
      </p:sp>
      <p:sp>
        <p:nvSpPr>
          <p:cNvPr id="26" name="Oval 25"/>
          <p:cNvSpPr/>
          <p:nvPr/>
        </p:nvSpPr>
        <p:spPr>
          <a:xfrm>
            <a:off x="2852928" y="416966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0" y="4096512"/>
            <a:ext cx="1463040" cy="1920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허용 상태 변경</a:t>
            </a:r>
          </a:p>
        </p:txBody>
      </p:sp>
      <p:sp>
        <p:nvSpPr>
          <p:cNvPr id="28" name="Oval 27"/>
          <p:cNvSpPr/>
          <p:nvPr/>
        </p:nvSpPr>
        <p:spPr>
          <a:xfrm>
            <a:off x="2852928" y="438912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0" y="4315968"/>
            <a:ext cx="1463040" cy="1920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공개 / 비공개 범위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87952" y="2103120"/>
            <a:ext cx="2267712" cy="1938528"/>
          </a:xfrm>
          <a:prstGeom prst="roundRect">
            <a:avLst/>
          </a:prstGeom>
          <a:solidFill>
            <a:srgbClr val="EAF0F8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2322576"/>
            <a:ext cx="1682496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900" b="1">
                <a:solidFill>
                  <a:srgbClr val="1B1F2A"/>
                </a:solidFill>
                <a:latin typeface="Apple SD Gothic Neo"/>
              </a:defRPr>
            </a:pPr>
            <a:r>
              <a:t>Bridge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60" y="2761488"/>
            <a:ext cx="1682496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4568" y="2825496"/>
            <a:ext cx="1554480" cy="822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DApp 등록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3072384"/>
            <a:ext cx="1682496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44568" y="3136391"/>
            <a:ext cx="1554480" cy="822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proof 검증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3383280"/>
            <a:ext cx="1682496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4568" y="3447288"/>
            <a:ext cx="1554480" cy="822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asset 정산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0560" y="3694176"/>
            <a:ext cx="1682496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44568" y="3758183"/>
            <a:ext cx="1554480" cy="822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channel 관리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52944" y="2157984"/>
            <a:ext cx="30540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2240279"/>
            <a:ext cx="2487168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Channel A: Private-State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52944" y="2615184"/>
            <a:ext cx="30540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0" y="2697479"/>
            <a:ext cx="2487168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Channel B: Private-State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52944" y="3072384"/>
            <a:ext cx="30540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3154679"/>
            <a:ext cx="2487168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Channel C: Payment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39712" y="3675887"/>
            <a:ext cx="3767328" cy="1335024"/>
          </a:xfrm>
          <a:prstGeom prst="roundRect">
            <a:avLst/>
          </a:prstGeom>
          <a:solidFill>
            <a:srgbClr val="E8F7F0"/>
          </a:solidFill>
          <a:ln w="12700">
            <a:solidFill>
              <a:srgbClr val="21A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0" y="3822191"/>
            <a:ext cx="175564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1A67A"/>
                </a:solidFill>
                <a:latin typeface="Apple SD Gothic Neo"/>
              </a:defRPr>
            </a:pPr>
            <a:r>
              <a:t>Channel policy 예</a:t>
            </a:r>
          </a:p>
        </p:txBody>
      </p:sp>
      <p:sp>
        <p:nvSpPr>
          <p:cNvPr id="48" name="Oval 47"/>
          <p:cNvSpPr/>
          <p:nvPr/>
        </p:nvSpPr>
        <p:spPr>
          <a:xfrm>
            <a:off x="7077456" y="4169664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42048" y="4096512"/>
            <a:ext cx="1389888" cy="1920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선택한 DApp</a:t>
            </a:r>
          </a:p>
        </p:txBody>
      </p:sp>
      <p:sp>
        <p:nvSpPr>
          <p:cNvPr id="50" name="Oval 49"/>
          <p:cNvSpPr/>
          <p:nvPr/>
        </p:nvSpPr>
        <p:spPr>
          <a:xfrm>
            <a:off x="7077456" y="4389120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42048" y="4315968"/>
            <a:ext cx="1389888" cy="1920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다루는 asset</a:t>
            </a:r>
          </a:p>
        </p:txBody>
      </p:sp>
      <p:sp>
        <p:nvSpPr>
          <p:cNvPr id="52" name="Oval 51"/>
          <p:cNvSpPr/>
          <p:nvPr/>
        </p:nvSpPr>
        <p:spPr>
          <a:xfrm>
            <a:off x="7077456" y="4608576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42048" y="4535424"/>
            <a:ext cx="1389888" cy="1920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초기 상태</a:t>
            </a:r>
          </a:p>
        </p:txBody>
      </p:sp>
      <p:sp>
        <p:nvSpPr>
          <p:cNvPr id="54" name="Oval 53"/>
          <p:cNvSpPr/>
          <p:nvPr/>
        </p:nvSpPr>
        <p:spPr>
          <a:xfrm>
            <a:off x="8924544" y="4169664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89136" y="4096512"/>
            <a:ext cx="1298448" cy="1920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DA 책임</a:t>
            </a:r>
          </a:p>
        </p:txBody>
      </p:sp>
      <p:sp>
        <p:nvSpPr>
          <p:cNvPr id="56" name="Oval 55"/>
          <p:cNvSpPr/>
          <p:nvPr/>
        </p:nvSpPr>
        <p:spPr>
          <a:xfrm>
            <a:off x="8924544" y="4389120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89136" y="4315968"/>
            <a:ext cx="1298448" cy="1920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disclosure 권한</a:t>
            </a:r>
          </a:p>
        </p:txBody>
      </p:sp>
      <p:sp>
        <p:nvSpPr>
          <p:cNvPr id="58" name="Oval 57"/>
          <p:cNvSpPr/>
          <p:nvPr/>
        </p:nvSpPr>
        <p:spPr>
          <a:xfrm>
            <a:off x="8924544" y="4608576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89136" y="4535424"/>
            <a:ext cx="1298448" cy="1920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참여 / 종료 조건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319272" y="2313432"/>
            <a:ext cx="868680" cy="758952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319272" y="2770632"/>
            <a:ext cx="868680" cy="301752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319272" y="3072384"/>
            <a:ext cx="868680" cy="155448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455664" y="2313432"/>
            <a:ext cx="1097280" cy="758952"/>
          </a:xfrm>
          <a:prstGeom prst="line">
            <a:avLst/>
          </a:prstGeom>
          <a:ln w="25400">
            <a:solidFill>
              <a:srgbClr val="21A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455664" y="2770632"/>
            <a:ext cx="1097280" cy="301752"/>
          </a:xfrm>
          <a:prstGeom prst="line">
            <a:avLst/>
          </a:prstGeom>
          <a:ln w="25400">
            <a:solidFill>
              <a:srgbClr val="21A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455664" y="3072384"/>
            <a:ext cx="1097280" cy="155448"/>
          </a:xfrm>
          <a:prstGeom prst="line">
            <a:avLst/>
          </a:prstGeom>
          <a:ln w="25400">
            <a:solidFill>
              <a:srgbClr val="21A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960120" y="5358384"/>
            <a:ext cx="10222992" cy="475488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207008" y="5486400"/>
            <a:ext cx="9729216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ple SD Gothic Neo"/>
              </a:defRPr>
            </a:pPr>
            <a:r>
              <a:t>DApp policy는 실행의 의미와 공개 데이터 범위를 정하고, Channel policy는 참여 조건과 운영 방법까지 고정한다.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3400" b="1">
                <a:solidFill>
                  <a:srgbClr val="101828"/>
                </a:solidFill>
                <a:latin typeface="Apple SD Gothic Neo"/>
              </a:defRPr>
            </a:pPr>
            <a:r>
              <a:t>Generic rollup과 무엇이 다른가?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사용자는 mutable generic rollup이 아니라 특정 channel policy에 참여한다.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0280"/>
            <a:ext cx="4828032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0233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900" b="1">
                <a:solidFill>
                  <a:srgbClr val="D94A4A"/>
                </a:solidFill>
                <a:latin typeface="Apple SD Gothic Neo"/>
              </a:defRPr>
            </a:pPr>
            <a:r>
              <a:t>Generic rollup 관점</a:t>
            </a:r>
          </a:p>
        </p:txBody>
      </p:sp>
      <p:sp>
        <p:nvSpPr>
          <p:cNvPr id="11" name="Oval 10"/>
          <p:cNvSpPr/>
          <p:nvPr/>
        </p:nvSpPr>
        <p:spPr>
          <a:xfrm>
            <a:off x="1078992" y="3209544"/>
            <a:ext cx="73152" cy="73152"/>
          </a:xfrm>
          <a:prstGeom prst="ellipse">
            <a:avLst/>
          </a:prstGeom>
          <a:solidFill>
            <a:srgbClr val="D9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3136392"/>
            <a:ext cx="3493008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1B1F2A"/>
                </a:solidFill>
                <a:latin typeface="Apple SD Gothic Neo"/>
              </a:defRPr>
            </a:pPr>
            <a:r>
              <a:t>하나의 전역 실행 환경</a:t>
            </a:r>
          </a:p>
        </p:txBody>
      </p:sp>
      <p:sp>
        <p:nvSpPr>
          <p:cNvPr id="13" name="Oval 12"/>
          <p:cNvSpPr/>
          <p:nvPr/>
        </p:nvSpPr>
        <p:spPr>
          <a:xfrm>
            <a:off x="1078992" y="3666744"/>
            <a:ext cx="73152" cy="73152"/>
          </a:xfrm>
          <a:prstGeom prst="ellipse">
            <a:avLst/>
          </a:prstGeom>
          <a:solidFill>
            <a:srgbClr val="D9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3584" y="3593592"/>
            <a:ext cx="3493008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1B1F2A"/>
                </a:solidFill>
                <a:latin typeface="Apple SD Gothic Neo"/>
              </a:defRPr>
            </a:pPr>
            <a:r>
              <a:t>Application policy가 rollup policy의 하위 문제로 밀림</a:t>
            </a:r>
          </a:p>
        </p:txBody>
      </p:sp>
      <p:sp>
        <p:nvSpPr>
          <p:cNvPr id="15" name="Oval 14"/>
          <p:cNvSpPr/>
          <p:nvPr/>
        </p:nvSpPr>
        <p:spPr>
          <a:xfrm>
            <a:off x="1078992" y="4123944"/>
            <a:ext cx="73152" cy="73152"/>
          </a:xfrm>
          <a:prstGeom prst="ellipse">
            <a:avLst/>
          </a:prstGeom>
          <a:solidFill>
            <a:srgbClr val="D9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3584" y="4050791"/>
            <a:ext cx="3493008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1B1F2A"/>
                </a:solidFill>
                <a:latin typeface="Apple SD Gothic Neo"/>
              </a:defRPr>
            </a:pPr>
            <a:r>
              <a:t>프라이버시 가정이 암묵화되기 쉬움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56832" y="2240280"/>
            <a:ext cx="4828032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2606040"/>
            <a:ext cx="40233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900" b="1">
                <a:solidFill>
                  <a:srgbClr val="21A67A"/>
                </a:solidFill>
                <a:latin typeface="Apple SD Gothic Neo"/>
              </a:defRPr>
            </a:pPr>
            <a:r>
              <a:t>Private App Channel 관점</a:t>
            </a:r>
          </a:p>
        </p:txBody>
      </p:sp>
      <p:sp>
        <p:nvSpPr>
          <p:cNvPr id="19" name="Oval 18"/>
          <p:cNvSpPr/>
          <p:nvPr/>
        </p:nvSpPr>
        <p:spPr>
          <a:xfrm>
            <a:off x="7040880" y="3209544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3136392"/>
            <a:ext cx="3493008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1B1F2A"/>
                </a:solidFill>
                <a:latin typeface="Apple SD Gothic Neo"/>
              </a:defRPr>
            </a:pPr>
            <a:r>
              <a:t>채널마다 하나의 registered DApp</a:t>
            </a:r>
          </a:p>
        </p:txBody>
      </p:sp>
      <p:sp>
        <p:nvSpPr>
          <p:cNvPr id="21" name="Oval 20"/>
          <p:cNvSpPr/>
          <p:nvPr/>
        </p:nvSpPr>
        <p:spPr>
          <a:xfrm>
            <a:off x="7040880" y="3666744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593592"/>
            <a:ext cx="3493008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1B1F2A"/>
                </a:solidFill>
                <a:latin typeface="Apple SD Gothic Neo"/>
              </a:defRPr>
            </a:pPr>
            <a:r>
              <a:t>생성 시점의 immutable policy snapshot</a:t>
            </a:r>
          </a:p>
        </p:txBody>
      </p:sp>
      <p:sp>
        <p:nvSpPr>
          <p:cNvPr id="23" name="Oval 22"/>
          <p:cNvSpPr/>
          <p:nvPr/>
        </p:nvSpPr>
        <p:spPr>
          <a:xfrm>
            <a:off x="7040880" y="4123944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05472" y="4050791"/>
            <a:ext cx="3493008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1B1F2A"/>
                </a:solidFill>
                <a:latin typeface="Apple SD Gothic Neo"/>
              </a:defRPr>
            </a:pPr>
            <a:r>
              <a:t>DApp이 직접 설계하는 disclosure model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50992" y="3456432"/>
            <a:ext cx="768096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389120" y="5074920"/>
            <a:ext cx="338328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policy choice가 명시적인 사용자 선택이 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브릿지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3400" b="1">
                <a:solidFill>
                  <a:srgbClr val="101828"/>
                </a:solidFill>
                <a:latin typeface="Apple SD Gothic Neo"/>
              </a:defRPr>
            </a:pPr>
            <a:r>
              <a:t>공유 Control Plane, 격리된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루트 컨트랙트는 custody와 admission을 조정하고, ChannelManager는 채널별 commitment를 추적한다.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2212848"/>
            <a:ext cx="10789920" cy="1024128"/>
          </a:xfrm>
          <a:prstGeom prst="roundRect">
            <a:avLst/>
          </a:prstGeom>
          <a:solidFill>
            <a:srgbClr val="EAF0F8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383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1B1F2A"/>
                </a:solidFill>
                <a:latin typeface="Apple SD Gothic Neo"/>
              </a:defRPr>
            </a:pPr>
            <a:r>
              <a:t>공유 Ethereum Control Plane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" y="2770632"/>
            <a:ext cx="199339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843784"/>
            <a:ext cx="1865376" cy="26517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BridgeCore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2770632"/>
            <a:ext cx="199339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2843784"/>
            <a:ext cx="1865376" cy="26517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DAppManager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71616" y="2770632"/>
            <a:ext cx="199339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5624" y="2843784"/>
            <a:ext cx="1865376" cy="26517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L1TokenVault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22792" y="2770632"/>
            <a:ext cx="199339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2843784"/>
            <a:ext cx="1865376" cy="26517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ChannelDeployer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" y="3822191"/>
            <a:ext cx="10789920" cy="1115568"/>
          </a:xfrm>
          <a:prstGeom prst="roundRect">
            <a:avLst/>
          </a:prstGeom>
          <a:solidFill>
            <a:srgbClr val="F1F6F2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05072"/>
            <a:ext cx="36576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1B1F2A"/>
                </a:solidFill>
                <a:latin typeface="Apple SD Gothic Neo"/>
              </a:defRPr>
            </a:pPr>
            <a:r>
              <a:t>채널별 실행 도메인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4407408"/>
            <a:ext cx="26060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44168" y="4480560"/>
            <a:ext cx="2478024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Channel A</a:t>
            </a:r>
          </a:p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ChannelManager + state commitment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86000" y="3236976"/>
            <a:ext cx="0" cy="585215"/>
          </a:xfrm>
          <a:prstGeom prst="line">
            <a:avLst/>
          </a:prstGeom>
          <a:ln w="25400">
            <a:solidFill>
              <a:srgbClr val="21A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617720" y="4407408"/>
            <a:ext cx="26060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4480560"/>
            <a:ext cx="2478024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Channel B</a:t>
            </a:r>
          </a:p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ChannelManager + state commitment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60" y="3236976"/>
            <a:ext cx="0" cy="585215"/>
          </a:xfrm>
          <a:prstGeom prst="line">
            <a:avLst/>
          </a:prstGeom>
          <a:ln w="25400">
            <a:solidFill>
              <a:srgbClr val="21A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955279" y="4407408"/>
            <a:ext cx="26060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9288" y="4480560"/>
            <a:ext cx="2478024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Channel C</a:t>
            </a:r>
          </a:p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ChannelManager + state commitment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961120" y="3236976"/>
            <a:ext cx="0" cy="585215"/>
          </a:xfrm>
          <a:prstGeom prst="line">
            <a:avLst/>
          </a:prstGeom>
          <a:ln w="25400">
            <a:solidFill>
              <a:srgbClr val="21A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24128" y="5321808"/>
            <a:ext cx="9985248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400" b="0">
                <a:solidFill>
                  <a:srgbClr val="5C667A"/>
                </a:solidFill>
                <a:latin typeface="Apple SD Gothic Neo"/>
              </a:defRPr>
            </a:pPr>
            <a:r>
              <a:t>기본 안전성은 isolation이다. 한 채널은 다른 채널이 수락한 상태 의미를 재작성할 수 없어야 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DAPP 등록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3400" b="1">
                <a:solidFill>
                  <a:srgbClr val="101828"/>
                </a:solidFill>
                <a:latin typeface="Apple SD Gothic Neo"/>
              </a:defRPr>
            </a:pPr>
            <a:r>
              <a:t>Metadata가 Admission Boundary다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Solidity 함수 존재만으로는 부족하다. 브릿지는 등록된 proof vocabulary만 받아들인다.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2148840"/>
            <a:ext cx="438912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395728"/>
            <a:ext cx="31089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900" b="1">
                <a:solidFill>
                  <a:srgbClr val="1B1F2A"/>
                </a:solidFill>
                <a:latin typeface="Apple SD Gothic Neo"/>
              </a:defRPr>
            </a:pPr>
            <a:r>
              <a:t>등록 payload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298094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907792"/>
            <a:ext cx="3218688" cy="4114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400" b="0">
                <a:solidFill>
                  <a:srgbClr val="1B1F2A"/>
                </a:solidFill>
                <a:latin typeface="Apple SD Gothic Neo"/>
              </a:defRPr>
            </a:pPr>
            <a:r>
              <a:t>DApp이 다룰 storage surface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41985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346704"/>
            <a:ext cx="3218688" cy="4114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400" b="0">
                <a:solidFill>
                  <a:srgbClr val="1B1F2A"/>
                </a:solidFill>
                <a:latin typeface="Apple SD Gothic Neo"/>
              </a:defRPr>
            </a:pPr>
            <a:r>
              <a:t>허용할 function vocabulary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385876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3785616"/>
            <a:ext cx="3218688" cy="4114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400" b="0">
                <a:solidFill>
                  <a:srgbClr val="1B1F2A"/>
                </a:solidFill>
                <a:latin typeface="Apple SD Gothic Neo"/>
              </a:defRPr>
            </a:pPr>
            <a:r>
              <a:t>proof와 public input layout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429768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224528"/>
            <a:ext cx="3218688" cy="4114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400" b="0">
                <a:solidFill>
                  <a:srgbClr val="1B1F2A"/>
                </a:solidFill>
                <a:latin typeface="Apple SD Gothic Neo"/>
              </a:defRPr>
            </a:pPr>
            <a:r>
              <a:t>관찰 가능한 write / event 범위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64224" y="2148840"/>
            <a:ext cx="438912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5976" y="2395728"/>
            <a:ext cx="31089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900" b="1">
                <a:solidFill>
                  <a:srgbClr val="1B1F2A"/>
                </a:solidFill>
                <a:latin typeface="Apple SD Gothic Neo"/>
              </a:defRPr>
            </a:pPr>
            <a:r>
              <a:t>Runtime decision</a:t>
            </a:r>
          </a:p>
        </p:txBody>
      </p:sp>
      <p:sp>
        <p:nvSpPr>
          <p:cNvPr id="21" name="Oval 20"/>
          <p:cNvSpPr/>
          <p:nvPr/>
        </p:nvSpPr>
        <p:spPr>
          <a:xfrm>
            <a:off x="6739128" y="2980944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2907792"/>
            <a:ext cx="3172968" cy="4114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400" b="0">
                <a:solidFill>
                  <a:srgbClr val="1B1F2A"/>
                </a:solidFill>
                <a:latin typeface="Apple SD Gothic Neo"/>
              </a:defRPr>
            </a:pPr>
            <a:r>
              <a:t>등록된 DApp인가?</a:t>
            </a:r>
          </a:p>
        </p:txBody>
      </p:sp>
      <p:sp>
        <p:nvSpPr>
          <p:cNvPr id="23" name="Oval 22"/>
          <p:cNvSpPr/>
          <p:nvPr/>
        </p:nvSpPr>
        <p:spPr>
          <a:xfrm>
            <a:off x="6739128" y="3419856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3346704"/>
            <a:ext cx="3172968" cy="4114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400" b="0">
                <a:solidFill>
                  <a:srgbClr val="1B1F2A"/>
                </a:solidFill>
                <a:latin typeface="Apple SD Gothic Neo"/>
              </a:defRPr>
            </a:pPr>
            <a:r>
              <a:t>이 proof가 허용된 함수 의미인가?</a:t>
            </a:r>
          </a:p>
        </p:txBody>
      </p:sp>
      <p:sp>
        <p:nvSpPr>
          <p:cNvPr id="25" name="Oval 24"/>
          <p:cNvSpPr/>
          <p:nvPr/>
        </p:nvSpPr>
        <p:spPr>
          <a:xfrm>
            <a:off x="6739128" y="3858768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3785616"/>
            <a:ext cx="3172968" cy="4114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400" b="0">
                <a:solidFill>
                  <a:srgbClr val="1B1F2A"/>
                </a:solidFill>
                <a:latin typeface="Apple SD Gothic Neo"/>
              </a:defRPr>
            </a:pPr>
            <a:r>
              <a:t>public input layout이 맞는가?</a:t>
            </a:r>
          </a:p>
        </p:txBody>
      </p:sp>
      <p:sp>
        <p:nvSpPr>
          <p:cNvPr id="27" name="Oval 26"/>
          <p:cNvSpPr/>
          <p:nvPr/>
        </p:nvSpPr>
        <p:spPr>
          <a:xfrm>
            <a:off x="6739128" y="4297680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4224528"/>
            <a:ext cx="3172968" cy="4114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400" b="0">
                <a:solidFill>
                  <a:srgbClr val="1B1F2A"/>
                </a:solidFill>
                <a:latin typeface="Apple SD Gothic Neo"/>
              </a:defRPr>
            </a:pPr>
            <a:r>
              <a:t>상태 변경이 허용 표면 안에 있는가?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257800" y="3657600"/>
            <a:ext cx="886968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DAPP 파생물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9326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2800" b="1">
                <a:solidFill>
                  <a:srgbClr val="101828"/>
                </a:solidFill>
                <a:latin typeface="Apple SD Gothic Neo"/>
              </a:defRPr>
            </a:pPr>
            <a:r>
              <a:t>Solidity DApp은 metadata로 브릿지에 들어온다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1907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브릿지는 배포된 DApp을 호출하지 않는다. bytecode에서 만든 metadata를 보고 proof를 받아들일지 결정한다.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542032"/>
            <a:ext cx="2157984" cy="804672"/>
          </a:xfrm>
          <a:prstGeom prst="roundRect">
            <a:avLst/>
          </a:prstGeom>
          <a:solidFill>
            <a:srgbClr val="E9F1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0904"/>
            <a:ext cx="5669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62072"/>
            <a:ext cx="1755648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Solidity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90672"/>
            <a:ext cx="1755648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DApp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64608" y="2542032"/>
            <a:ext cx="2157984" cy="804672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660904"/>
            <a:ext cx="5669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862072"/>
            <a:ext cx="1755648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deployed bytecode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090672"/>
            <a:ext cx="1755648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compiler input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9408" y="2542032"/>
            <a:ext cx="2157984" cy="804672"/>
          </a:xfrm>
          <a:prstGeom prst="roundRect">
            <a:avLst/>
          </a:prstGeom>
          <a:solidFill>
            <a:srgbClr val="F1EE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660904"/>
            <a:ext cx="5669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데이터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862072"/>
            <a:ext cx="1755648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DApp metadata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090672"/>
            <a:ext cx="1755648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bridge input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99232" y="2944368"/>
            <a:ext cx="1627632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114032" y="2944368"/>
            <a:ext cx="1627632" cy="0"/>
          </a:xfrm>
          <a:prstGeom prst="line">
            <a:avLst/>
          </a:prstGeom>
          <a:ln w="25400">
            <a:solidFill>
              <a:srgbClr val="21A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035808" y="2148840"/>
            <a:ext cx="1554480" cy="347472"/>
          </a:xfrm>
          <a:prstGeom prst="roundRect">
            <a:avLst/>
          </a:prstGeom>
          <a:solidFill>
            <a:srgbClr val="E8F7F0"/>
          </a:solidFill>
          <a:ln w="12700">
            <a:solidFill>
              <a:srgbClr val="21A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36392" y="2258568"/>
            <a:ext cx="1353312" cy="1371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21A67A"/>
                </a:solidFill>
                <a:latin typeface="Apple SD Gothic Neo"/>
              </a:defRPr>
            </a:pPr>
            <a:r>
              <a:t>함수: solidity compiler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59168" y="2148840"/>
            <a:ext cx="1792224" cy="347472"/>
          </a:xfrm>
          <a:prstGeom prst="roundRect">
            <a:avLst/>
          </a:prstGeom>
          <a:solidFill>
            <a:srgbClr val="E8FBFF"/>
          </a:solidFill>
          <a:ln w="12700">
            <a:solidFill>
              <a:srgbClr val="00A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59752" y="2258568"/>
            <a:ext cx="1591056" cy="1371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00A6B2"/>
                </a:solidFill>
                <a:latin typeface="Apple SD Gothic Neo"/>
              </a:defRPr>
            </a:pPr>
            <a:r>
              <a:t>함수: Tokamak zk-EVM compiler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584448"/>
            <a:ext cx="562356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함수는 데이터를 바꾸고, 브릿지는 최종 metadata를 등록 기준으로 사용한다.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" y="4151376"/>
            <a:ext cx="329184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" y="4425696"/>
            <a:ext cx="27432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20" b="1">
                <a:solidFill>
                  <a:srgbClr val="2563EB"/>
                </a:solidFill>
                <a:latin typeface="Apple SD Gothic Neo"/>
              </a:defRPr>
            </a:pPr>
            <a:r>
              <a:t>DApp deployment는 왜 필요한가?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" y="4736592"/>
            <a:ext cx="269748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bytecode를 만든다. 개발자가 같은 로직을 점검할 수 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3984" y="4151376"/>
            <a:ext cx="329184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4425696"/>
            <a:ext cx="27432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20" b="1">
                <a:solidFill>
                  <a:srgbClr val="21A67A"/>
                </a:solidFill>
                <a:latin typeface="Apple SD Gothic Neo"/>
              </a:defRPr>
            </a:pPr>
            <a:r>
              <a:t>Bridge는 무엇을 보나?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0016" y="4736592"/>
            <a:ext cx="269748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허용 함수, storage 범위, public input 형식을 본다.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3296" y="4151376"/>
            <a:ext cx="329184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7" y="4425696"/>
            <a:ext cx="27432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20" b="1">
                <a:solidFill>
                  <a:srgbClr val="F59E0B"/>
                </a:solidFill>
                <a:latin typeface="Apple SD Gothic Neo"/>
              </a:defRPr>
            </a:pPr>
            <a:r>
              <a:t>Bridge는 무엇을 하지 않나?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4736592"/>
            <a:ext cx="269748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DApp 호출도, L1 replay도 하지 않는다.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METADATA 신뢰 가정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3400" b="1">
                <a:solidFill>
                  <a:srgbClr val="101828"/>
                </a:solidFill>
                <a:latin typeface="Apple SD Gothic Neo"/>
              </a:defRPr>
            </a:pPr>
            <a:r>
              <a:t>compiler 산출물은 온체인 검증 대상이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DApp metadata는 bridge admission의 언어이지만, bytecode에서 metadata가 올바르게 파생되었는지는 운영 절차와 리뷰의 책임이다.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212848"/>
            <a:ext cx="4809744" cy="2395728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32004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700" b="1">
                <a:solidFill>
                  <a:srgbClr val="F59E0B"/>
                </a:solidFill>
                <a:latin typeface="Apple SD Gothic Neo"/>
              </a:defRPr>
            </a:pPr>
            <a:r>
              <a:t>남는 신뢰 가정</a:t>
            </a:r>
          </a:p>
        </p:txBody>
      </p:sp>
      <p:sp>
        <p:nvSpPr>
          <p:cNvPr id="11" name="Oval 10"/>
          <p:cNvSpPr/>
          <p:nvPr/>
        </p:nvSpPr>
        <p:spPr>
          <a:xfrm>
            <a:off x="1170432" y="299923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5024" y="2926080"/>
            <a:ext cx="3721608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브릿지 운영자가 올바른 DApp metadata를 등록한다.</a:t>
            </a:r>
          </a:p>
        </p:txBody>
      </p:sp>
      <p:sp>
        <p:nvSpPr>
          <p:cNvPr id="13" name="Oval 12"/>
          <p:cNvSpPr/>
          <p:nvPr/>
        </p:nvSpPr>
        <p:spPr>
          <a:xfrm>
            <a:off x="1170432" y="338328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35024" y="3310128"/>
            <a:ext cx="3721608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Solidity bytecode -&gt; zk-EVM compiler 산출물이 의도한 DApp 의미와 일치한다.</a:t>
            </a:r>
          </a:p>
        </p:txBody>
      </p:sp>
      <p:sp>
        <p:nvSpPr>
          <p:cNvPr id="15" name="Oval 14"/>
          <p:cNvSpPr/>
          <p:nvPr/>
        </p:nvSpPr>
        <p:spPr>
          <a:xfrm>
            <a:off x="1170432" y="3767328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35024" y="3694176"/>
            <a:ext cx="3721608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metadata review와 배포 artifact 관리가 channel 생성 전에 끝난다.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5664" y="2212848"/>
            <a:ext cx="4809744" cy="2395728"/>
          </a:xfrm>
          <a:prstGeom prst="roundRect">
            <a:avLst/>
          </a:prstGeom>
          <a:solidFill>
            <a:srgbClr val="E9F1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2487168"/>
            <a:ext cx="32004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Apple SD Gothic Neo"/>
              </a:defRPr>
            </a:pPr>
            <a:r>
              <a:t>온체인이 검증하는 것</a:t>
            </a:r>
          </a:p>
        </p:txBody>
      </p:sp>
      <p:sp>
        <p:nvSpPr>
          <p:cNvPr id="19" name="Oval 18"/>
          <p:cNvSpPr/>
          <p:nvPr/>
        </p:nvSpPr>
        <p:spPr>
          <a:xfrm>
            <a:off x="6821424" y="299923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86016" y="2926080"/>
            <a:ext cx="367588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등록된 metadata digest</a:t>
            </a:r>
          </a:p>
        </p:txBody>
      </p:sp>
      <p:sp>
        <p:nvSpPr>
          <p:cNvPr id="21" name="Oval 20"/>
          <p:cNvSpPr/>
          <p:nvPr/>
        </p:nvSpPr>
        <p:spPr>
          <a:xfrm>
            <a:off x="6821424" y="334670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6016" y="3273552"/>
            <a:ext cx="367588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channel 생성 시 expected digest 일치</a:t>
            </a:r>
          </a:p>
        </p:txBody>
      </p:sp>
      <p:sp>
        <p:nvSpPr>
          <p:cNvPr id="23" name="Oval 22"/>
          <p:cNvSpPr/>
          <p:nvPr/>
        </p:nvSpPr>
        <p:spPr>
          <a:xfrm>
            <a:off x="6821424" y="369417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6016" y="3621024"/>
            <a:ext cx="367588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function root, verifier snapshot, managed storage vector</a:t>
            </a:r>
          </a:p>
        </p:txBody>
      </p:sp>
      <p:sp>
        <p:nvSpPr>
          <p:cNvPr id="25" name="Oval 24"/>
          <p:cNvSpPr/>
          <p:nvPr/>
        </p:nvSpPr>
        <p:spPr>
          <a:xfrm>
            <a:off x="6821424" y="404164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86016" y="3968496"/>
            <a:ext cx="367588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proof/public input이 등록 vocabulary 안에 있는지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" y="5285232"/>
            <a:ext cx="10222992" cy="475488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5413248"/>
            <a:ext cx="9729216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ple SD Gothic Neo"/>
              </a:defRPr>
            </a:pPr>
            <a:r>
              <a:t>정리: proof 검증은 온체인에서 강제되지만, metadata가 올바른 bytecode에서 왔다는 사실은 등록 거버넌스와 artifact 검증에 의존한다.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채널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9326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2800" b="1">
                <a:solidFill>
                  <a:srgbClr val="101828"/>
                </a:solidFill>
                <a:latin typeface="Apple SD Gothic Neo"/>
              </a:defRPr>
            </a:pPr>
            <a:r>
              <a:t>Registered DApp에서 Live Channel로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1907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DApp 등록 후에는 누구나 해당 metadata digest를 기대값으로 제시해 채널 생성을 요청할 수 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11</a:t>
            </a:r>
          </a:p>
        </p:txBody>
      </p:sp>
      <p:sp>
        <p:nvSpPr>
          <p:cNvPr id="9" name="Oval 8"/>
          <p:cNvSpPr/>
          <p:nvPr/>
        </p:nvSpPr>
        <p:spPr>
          <a:xfrm>
            <a:off x="1426464" y="2240280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6464" y="2359152"/>
            <a:ext cx="512064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ple SD Gothic Neo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" y="2788920"/>
            <a:ext cx="16184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72384"/>
            <a:ext cx="1399032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metadata digest 확인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3744" y="3346704"/>
            <a:ext cx="402336" cy="0"/>
          </a:xfrm>
          <a:prstGeom prst="line">
            <a:avLst/>
          </a:prstGeom>
          <a:ln w="25400">
            <a:solidFill>
              <a:srgbClr val="5C6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538728" y="2240280"/>
            <a:ext cx="512064" cy="512064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359152"/>
            <a:ext cx="512064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ple SD Gothic Neo"/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90088" y="2788920"/>
            <a:ext cx="16184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9816" y="3072384"/>
            <a:ext cx="1399032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leader와 asset binding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36008" y="3346704"/>
            <a:ext cx="402336" cy="0"/>
          </a:xfrm>
          <a:prstGeom prst="line">
            <a:avLst/>
          </a:prstGeom>
          <a:ln w="25400">
            <a:solidFill>
              <a:srgbClr val="5C6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650992" y="22402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50992" y="2359152"/>
            <a:ext cx="512064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ple SD Gothic Neo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02352" y="2788920"/>
            <a:ext cx="16184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3072384"/>
            <a:ext cx="1399032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verifier와 function root snapshot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48272" y="3346704"/>
            <a:ext cx="402336" cy="0"/>
          </a:xfrm>
          <a:prstGeom prst="line">
            <a:avLst/>
          </a:prstGeom>
          <a:ln w="25400">
            <a:solidFill>
              <a:srgbClr val="5C6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763256" y="2240280"/>
            <a:ext cx="512064" cy="512064"/>
          </a:xfrm>
          <a:prstGeom prst="ellipse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63256" y="2359152"/>
            <a:ext cx="512064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ple SD Gothic Neo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14616" y="2788920"/>
            <a:ext cx="16184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24344" y="3072384"/>
            <a:ext cx="1399032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ChannelManager 배포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60536" y="3346704"/>
            <a:ext cx="402336" cy="0"/>
          </a:xfrm>
          <a:prstGeom prst="line">
            <a:avLst/>
          </a:prstGeom>
          <a:ln w="25400">
            <a:solidFill>
              <a:srgbClr val="5C6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875519" y="2240280"/>
            <a:ext cx="512064" cy="512064"/>
          </a:xfrm>
          <a:prstGeom prst="ellipse">
            <a:avLst/>
          </a:prstGeom>
          <a:solidFill>
            <a:srgbClr val="00A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19" y="2359152"/>
            <a:ext cx="512064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ple SD Gothic Neo"/>
              </a:defRPr>
            </a:pPr>
            <a: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0" y="2788920"/>
            <a:ext cx="16184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36607" y="3072384"/>
            <a:ext cx="1399032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root hash와 aPubBlockHash 초기화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690872"/>
            <a:ext cx="9601200" cy="4754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생성자는 exposed channel parameter만 선택한다. 실행 문법은 등록 metadata와 verifier snapshot에서 온다.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ZKP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3400" b="1">
                <a:solidFill>
                  <a:srgbClr val="101828"/>
                </a:solidFill>
                <a:latin typeface="Apple SD Gothic Neo"/>
              </a:defRPr>
            </a:pPr>
            <a:r>
              <a:t>ZKP를 왜 쓰는가?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많은 블록체인 파생 시스템에서 ZKP는 scalability 또는 privacy를 위해 쓰인다. 여기서 중심 목적은 privacy 강화다.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139696"/>
            <a:ext cx="4864608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14016"/>
            <a:ext cx="40233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900" b="1">
                <a:solidFill>
                  <a:srgbClr val="F59E0B"/>
                </a:solidFill>
                <a:latin typeface="Apple SD Gothic Neo"/>
              </a:defRPr>
            </a:pPr>
            <a:r>
              <a:t>Scalability use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2980944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2907792"/>
            <a:ext cx="3858768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50" b="0">
                <a:solidFill>
                  <a:srgbClr val="1B1F2A"/>
                </a:solidFill>
                <a:latin typeface="Apple SD Gothic Neo"/>
              </a:defRPr>
            </a:pPr>
            <a:r>
              <a:t>많은 transaction을 압축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0" y="336499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3312" y="3291840"/>
            <a:ext cx="3858768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50" b="0">
                <a:solidFill>
                  <a:srgbClr val="1B1F2A"/>
                </a:solidFill>
                <a:latin typeface="Apple SD Gothic Neo"/>
              </a:defRPr>
            </a:pPr>
            <a:r>
              <a:t>L1 execution cost 절감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0" y="374904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3312" y="3675888"/>
            <a:ext cx="3858768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50" b="0">
                <a:solidFill>
                  <a:srgbClr val="1B1F2A"/>
                </a:solidFill>
                <a:latin typeface="Apple SD Gothic Neo"/>
              </a:defRPr>
            </a:pPr>
            <a:r>
              <a:t>rollup throughput 개선</a:t>
            </a:r>
          </a:p>
        </p:txBody>
      </p:sp>
      <p:sp>
        <p:nvSpPr>
          <p:cNvPr id="17" name="Oval 16"/>
          <p:cNvSpPr/>
          <p:nvPr/>
        </p:nvSpPr>
        <p:spPr>
          <a:xfrm>
            <a:off x="1188720" y="4133088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3312" y="4059936"/>
            <a:ext cx="3858768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50" b="0">
                <a:solidFill>
                  <a:srgbClr val="1B1F2A"/>
                </a:solidFill>
                <a:latin typeface="Apple SD Gothic Neo"/>
              </a:defRPr>
            </a:pPr>
            <a:r>
              <a:t>원본 semantics가 public일 수 있음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139696"/>
            <a:ext cx="4864608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2552" y="2414016"/>
            <a:ext cx="40233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900" b="1">
                <a:solidFill>
                  <a:srgbClr val="21A67A"/>
                </a:solidFill>
                <a:latin typeface="Apple SD Gothic Neo"/>
              </a:defRPr>
            </a:pPr>
            <a:r>
              <a:t>Privacy use</a:t>
            </a:r>
          </a:p>
        </p:txBody>
      </p:sp>
      <p:sp>
        <p:nvSpPr>
          <p:cNvPr id="21" name="Oval 20"/>
          <p:cNvSpPr/>
          <p:nvPr/>
        </p:nvSpPr>
        <p:spPr>
          <a:xfrm>
            <a:off x="6793992" y="2980944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3" y="2907792"/>
            <a:ext cx="3858768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50" b="0">
                <a:solidFill>
                  <a:srgbClr val="1B1F2A"/>
                </a:solidFill>
                <a:latin typeface="Apple SD Gothic Neo"/>
              </a:defRPr>
            </a:pPr>
            <a:r>
              <a:t>원본 transaction / witness 비공개</a:t>
            </a:r>
          </a:p>
        </p:txBody>
      </p:sp>
      <p:sp>
        <p:nvSpPr>
          <p:cNvPr id="23" name="Oval 22"/>
          <p:cNvSpPr/>
          <p:nvPr/>
        </p:nvSpPr>
        <p:spPr>
          <a:xfrm>
            <a:off x="6793992" y="3364992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58583" y="3291840"/>
            <a:ext cx="3858768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50" b="0">
                <a:solidFill>
                  <a:srgbClr val="1B1F2A"/>
                </a:solidFill>
                <a:latin typeface="Apple SD Gothic Neo"/>
              </a:defRPr>
            </a:pPr>
            <a:r>
              <a:t>public input만 L1에 노출</a:t>
            </a:r>
          </a:p>
        </p:txBody>
      </p:sp>
      <p:sp>
        <p:nvSpPr>
          <p:cNvPr id="25" name="Oval 24"/>
          <p:cNvSpPr/>
          <p:nvPr/>
        </p:nvSpPr>
        <p:spPr>
          <a:xfrm>
            <a:off x="6793992" y="3749040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58583" y="3675888"/>
            <a:ext cx="3858768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50" b="0">
                <a:solidFill>
                  <a:srgbClr val="1B1F2A"/>
                </a:solidFill>
                <a:latin typeface="Apple SD Gothic Neo"/>
              </a:defRPr>
            </a:pPr>
            <a:r>
              <a:t>state transition validity만 검증</a:t>
            </a:r>
          </a:p>
        </p:txBody>
      </p:sp>
      <p:sp>
        <p:nvSpPr>
          <p:cNvPr id="27" name="Oval 26"/>
          <p:cNvSpPr/>
          <p:nvPr/>
        </p:nvSpPr>
        <p:spPr>
          <a:xfrm>
            <a:off x="6793992" y="4133088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58583" y="4059936"/>
            <a:ext cx="3858768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50" b="0">
                <a:solidFill>
                  <a:srgbClr val="1B1F2A"/>
                </a:solidFill>
                <a:latin typeface="Apple SD Gothic Neo"/>
              </a:defRPr>
            </a:pPr>
            <a:r>
              <a:t>DApp별 disclosure boundary 설계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8992" y="5230368"/>
            <a:ext cx="10040112" cy="512064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16736" y="5376672"/>
            <a:ext cx="9582912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ple SD Gothic Neo"/>
              </a:defRPr>
            </a:pPr>
            <a:r>
              <a:t>Tokamak Private App Channels에서 ZKP는 L1 replay를 피하면서 DApp 상태 전이의 건실성을 보장하는 privacy foundation이다.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BRIDGE 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3400" b="1">
                <a:solidFill>
                  <a:srgbClr val="101828"/>
                </a:solidFill>
                <a:latin typeface="Apple SD Gothic Neo"/>
              </a:defRPr>
            </a:pPr>
            <a:r>
              <a:t>브릿지는 트랜잭션을 replay하지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브릿지의 실제 책임은 원문 transaction 실행이 아니라, 등록된 verifier와 metadata로 proof/public input을 검증하는 것이다.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67712"/>
            <a:ext cx="1133856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채널 내부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267712"/>
            <a:ext cx="12344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브릿지 입력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" y="2743200"/>
            <a:ext cx="1755648" cy="640080"/>
          </a:xfrm>
          <a:prstGeom prst="roundRect">
            <a:avLst/>
          </a:prstGeom>
          <a:solidFill>
            <a:srgbClr val="F1EE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816352"/>
            <a:ext cx="1627631" cy="493775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Private DApp</a:t>
            </a:r>
          </a:p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transaction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72384" y="2743200"/>
            <a:ext cx="1280160" cy="640080"/>
          </a:xfrm>
          <a:prstGeom prst="roundRect">
            <a:avLst/>
          </a:prstGeom>
          <a:solidFill>
            <a:srgbClr val="E9F1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6391" y="2816352"/>
            <a:ext cx="1152143" cy="493775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Prover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91456" y="2706624"/>
            <a:ext cx="1371600" cy="713232"/>
          </a:xfrm>
          <a:prstGeom prst="roundRect">
            <a:avLst/>
          </a:prstGeom>
          <a:solidFill>
            <a:srgbClr val="E8FB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55464" y="2779776"/>
            <a:ext cx="1243584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ZKP</a:t>
            </a:r>
          </a:p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+ public input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65392" y="2651760"/>
            <a:ext cx="2212848" cy="822960"/>
          </a:xfrm>
          <a:prstGeom prst="roundRect">
            <a:avLst/>
          </a:prstGeom>
          <a:solidFill>
            <a:srgbClr val="E8F7F0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724912"/>
            <a:ext cx="2084831" cy="6766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Bridge verifier</a:t>
            </a:r>
          </a:p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+ metadata check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5168" y="2743200"/>
            <a:ext cx="1554480" cy="640080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9176" y="2816352"/>
            <a:ext cx="1426464" cy="493775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Channel root</a:t>
            </a:r>
          </a:p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update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15184" y="3063240"/>
            <a:ext cx="457200" cy="0"/>
          </a:xfrm>
          <a:prstGeom prst="line">
            <a:avLst/>
          </a:prstGeom>
          <a:ln w="25400">
            <a:solidFill>
              <a:srgbClr val="5C6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52544" y="3063240"/>
            <a:ext cx="438912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163056" y="3063240"/>
            <a:ext cx="402336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78240" y="3063240"/>
            <a:ext cx="566928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90288" y="2359152"/>
            <a:ext cx="0" cy="1325880"/>
          </a:xfrm>
          <a:prstGeom prst="line">
            <a:avLst/>
          </a:prstGeom>
          <a:ln w="17780">
            <a:solidFill>
              <a:srgbClr val="2563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60520" y="3703320"/>
            <a:ext cx="117043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only proof crosses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" y="4206240"/>
            <a:ext cx="4059936" cy="804672"/>
          </a:xfrm>
          <a:prstGeom prst="roundRect">
            <a:avLst/>
          </a:prstGeom>
          <a:solidFill>
            <a:srgbClr val="FFF2F2"/>
          </a:solidFill>
          <a:ln w="12700">
            <a:solidFill>
              <a:srgbClr val="D9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25296" y="4370832"/>
            <a:ext cx="135331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D94A4A"/>
                </a:solidFill>
                <a:latin typeface="Apple SD Gothic Neo"/>
              </a:defRPr>
            </a:pPr>
            <a:r>
              <a:t>사용하지 않는 경로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6" y="4608576"/>
            <a:ext cx="3346704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L1 replay / transaction semantics 직접 실행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7552" y="4343400"/>
            <a:ext cx="146304" cy="338328"/>
          </a:xfrm>
          <a:prstGeom prst="line">
            <a:avLst/>
          </a:prstGeom>
          <a:ln w="25400">
            <a:solidFill>
              <a:srgbClr val="D9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87552" y="4343400"/>
            <a:ext cx="146304" cy="338328"/>
          </a:xfrm>
          <a:prstGeom prst="line">
            <a:avLst/>
          </a:prstGeom>
          <a:ln w="25400">
            <a:solidFill>
              <a:srgbClr val="D9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376672" y="4114800"/>
            <a:ext cx="5248656" cy="960120"/>
          </a:xfrm>
          <a:prstGeom prst="roundRect">
            <a:avLst/>
          </a:prstGeom>
          <a:solidFill>
            <a:srgbClr val="E8F7F0"/>
          </a:solidFill>
          <a:ln w="12700">
            <a:solidFill>
              <a:srgbClr val="21A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4297680"/>
            <a:ext cx="9144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1A67A"/>
                </a:solidFill>
                <a:latin typeface="Apple SD Gothic Neo"/>
              </a:defRPr>
            </a:pPr>
            <a:r>
              <a:t>실제 경로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553712"/>
            <a:ext cx="4443984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L1은 proof, public input, registered metadata만 확인한다.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754880"/>
            <a:ext cx="4590288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원본 tx와 witness는 L1에서 실행되지 않는다.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8992" y="5413248"/>
            <a:ext cx="10040112" cy="438912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16736" y="5532120"/>
            <a:ext cx="9582912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ple SD Gothic Neo"/>
              </a:defRPr>
            </a:pPr>
            <a:r>
              <a:t>따라서 이 시스템의 bridge model은 proof verification model 하나다.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상태 전이 큰 그림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3400" b="1">
                <a:solidFill>
                  <a:srgbClr val="101828"/>
                </a:solidFill>
                <a:latin typeface="Apple SD Gothic Neo"/>
              </a:defRPr>
            </a:pPr>
            <a:r>
              <a:t>L1이 L2 실행 블록을 검증한다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Channel L2는 DApp transaction을 실행하고, Ethereum L1은 proof로 bridge/channel state를 업데이트한다.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66543"/>
            <a:ext cx="34747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Ethereum mainnet: verification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432304"/>
            <a:ext cx="1572768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542032"/>
            <a:ext cx="1353312" cy="1463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L1 block 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761488"/>
            <a:ext cx="1298448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bridge state</a:t>
            </a:r>
          </a:p>
          <a:p>
            <a:pPr algn="ctr"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S_B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59152" y="2798064"/>
            <a:ext cx="301751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79776" y="2432304"/>
            <a:ext cx="1572768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9504" y="2542032"/>
            <a:ext cx="1353312" cy="1463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L1 block n+1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936" y="2761488"/>
            <a:ext cx="1298448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bridge tx</a:t>
            </a:r>
          </a:p>
          <a:p>
            <a:pPr algn="ctr"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verifies pi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52544" y="2798064"/>
            <a:ext cx="301752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773168" y="2432304"/>
            <a:ext cx="1572768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2542032"/>
            <a:ext cx="1353312" cy="1463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L1 block n+2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2761488"/>
            <a:ext cx="1298448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updated bridge</a:t>
            </a:r>
          </a:p>
          <a:p>
            <a:pPr algn="ctr"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state S_B'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730752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1A67A"/>
                </a:solidFill>
                <a:latin typeface="Apple SD Gothic Neo"/>
              </a:defRPr>
            </a:pPr>
            <a:r>
              <a:t>Channel L2: execution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4041648"/>
            <a:ext cx="1572768" cy="914400"/>
          </a:xfrm>
          <a:prstGeom prst="roundRect">
            <a:avLst/>
          </a:prstGeom>
          <a:solidFill>
            <a:srgbClr val="E8F7F0"/>
          </a:solidFill>
          <a:ln w="12700">
            <a:solidFill>
              <a:srgbClr val="21A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151376"/>
            <a:ext cx="1353312" cy="1463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L2 block 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" y="4370832"/>
            <a:ext cx="1298448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state R_k</a:t>
            </a:r>
          </a:p>
          <a:p>
            <a:pPr algn="ctr"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+ tx batch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359152" y="4498848"/>
            <a:ext cx="301751" cy="0"/>
          </a:xfrm>
          <a:prstGeom prst="line">
            <a:avLst/>
          </a:prstGeom>
          <a:ln w="25400">
            <a:solidFill>
              <a:srgbClr val="21A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779776" y="4041648"/>
            <a:ext cx="1572768" cy="914400"/>
          </a:xfrm>
          <a:prstGeom prst="roundRect">
            <a:avLst/>
          </a:prstGeom>
          <a:solidFill>
            <a:srgbClr val="E8F7F0"/>
          </a:solidFill>
          <a:ln w="12700">
            <a:solidFill>
              <a:srgbClr val="21A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9504" y="4151376"/>
            <a:ext cx="1353312" cy="1463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L2 block k+1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6936" y="4370832"/>
            <a:ext cx="1298448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execute txs</a:t>
            </a:r>
          </a:p>
          <a:p>
            <a:pPr algn="ctr"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R_k -&gt; R_k+1</a:t>
            </a:r>
          </a:p>
          <a:p>
            <a:pPr algn="ctr"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proof pi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352544" y="4498848"/>
            <a:ext cx="301752" cy="0"/>
          </a:xfrm>
          <a:prstGeom prst="line">
            <a:avLst/>
          </a:prstGeom>
          <a:ln w="25400">
            <a:solidFill>
              <a:srgbClr val="21A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773168" y="4041648"/>
            <a:ext cx="1572768" cy="914400"/>
          </a:xfrm>
          <a:prstGeom prst="roundRect">
            <a:avLst/>
          </a:prstGeom>
          <a:solidFill>
            <a:srgbClr val="E8F7F0"/>
          </a:solidFill>
          <a:ln w="12700">
            <a:solidFill>
              <a:srgbClr val="21A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82896" y="4151376"/>
            <a:ext cx="1353312" cy="1463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L2 block k+2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4370832"/>
            <a:ext cx="1298448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state R_k+1</a:t>
            </a:r>
          </a:p>
          <a:p>
            <a:pPr algn="ctr"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+ next txs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3712463" y="3163824"/>
            <a:ext cx="0" cy="877824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986784" y="3255264"/>
            <a:ext cx="2103120" cy="475488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0" y="3346704"/>
            <a:ext cx="184708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bridge tx carries</a:t>
            </a:r>
          </a:p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L2 proof + public 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84848" y="2304288"/>
            <a:ext cx="4069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59168" y="2487168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354052"/>
                </a:solidFill>
                <a:latin typeface="Apple SD Gothic Neo"/>
              </a:defRPr>
            </a:pPr>
            <a:r>
              <a:t>상태 전이 책임 분리</a:t>
            </a:r>
          </a:p>
        </p:txBody>
      </p:sp>
      <p:sp>
        <p:nvSpPr>
          <p:cNvPr id="38" name="Oval 37"/>
          <p:cNvSpPr/>
          <p:nvPr/>
        </p:nvSpPr>
        <p:spPr>
          <a:xfrm>
            <a:off x="7114032" y="285292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78624" y="2779776"/>
            <a:ext cx="3081527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L2: DApp transaction 실행</a:t>
            </a:r>
          </a:p>
        </p:txBody>
      </p:sp>
      <p:sp>
        <p:nvSpPr>
          <p:cNvPr id="40" name="Oval 39"/>
          <p:cNvSpPr/>
          <p:nvPr/>
        </p:nvSpPr>
        <p:spPr>
          <a:xfrm>
            <a:off x="7114032" y="308152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78624" y="3008376"/>
            <a:ext cx="3081527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L1: ZKP 검증과 bridge state update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84848" y="3767328"/>
            <a:ext cx="4069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59168" y="3931920"/>
            <a:ext cx="210312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5C667A"/>
                </a:solidFill>
                <a:latin typeface="Apple SD Gothic Neo"/>
              </a:defRPr>
            </a:pPr>
            <a:r>
              <a:t>Channel policy field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59168" y="4142232"/>
            <a:ext cx="2514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354052"/>
                </a:solidFill>
                <a:latin typeface="Apple SD Gothic Neo"/>
              </a:defRPr>
            </a:pPr>
            <a:r>
              <a:t>Data availability 운영 방식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40880" y="4443984"/>
            <a:ext cx="107899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95744" y="4535424"/>
            <a:ext cx="969264" cy="1097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354052"/>
                </a:solidFill>
                <a:latin typeface="Apple SD Gothic Neo"/>
              </a:defRPr>
            </a:pPr>
            <a:r>
              <a:t>server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75320" y="4443984"/>
            <a:ext cx="107899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0183" y="4535424"/>
            <a:ext cx="969264" cy="1097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354052"/>
                </a:solidFill>
                <a:latin typeface="Apple SD Gothic Neo"/>
              </a:defRPr>
            </a:pPr>
            <a:r>
              <a:t>server + blob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09760" y="4443984"/>
            <a:ext cx="107899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64624" y="4535424"/>
            <a:ext cx="969264" cy="1097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354052"/>
                </a:solidFill>
                <a:latin typeface="Apple SD Gothic Neo"/>
              </a:defRPr>
            </a:pPr>
            <a:r>
              <a:t>serverless local users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78992" y="5376672"/>
            <a:ext cx="10040112" cy="438912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16736" y="5495544"/>
            <a:ext cx="9582912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ple SD Gothic Neo"/>
              </a:defRPr>
            </a:pPr>
            <a:r>
              <a:t>L2는 실행을 만들고, L1은 그 실행의 proof를 검증해 channel state를 받아들인다.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VERIFIER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9326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2800" b="1">
                <a:solidFill>
                  <a:srgbClr val="101828"/>
                </a:solidFill>
                <a:latin typeface="Apple SD Gothic Neo"/>
              </a:defRPr>
            </a:pPr>
            <a:r>
              <a:t>두 verifier는 같은 root vector를 다른 경로로 갱신한다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1907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TokamakVerifier는 범용 실행 경로이고, Groth16Verifier는 channelTokenVault 전용 빠른 경로다.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148840"/>
            <a:ext cx="3090672" cy="1664208"/>
          </a:xfrm>
          <a:prstGeom prst="roundRect">
            <a:avLst/>
          </a:prstGeom>
          <a:solidFill>
            <a:srgbClr val="E9F1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2395728"/>
            <a:ext cx="256032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Apple SD Gothic Neo"/>
              </a:defRPr>
            </a:pPr>
            <a:r>
              <a:t>TokamakVerifier</a:t>
            </a:r>
          </a:p>
        </p:txBody>
      </p:sp>
      <p:sp>
        <p:nvSpPr>
          <p:cNvPr id="11" name="Oval 10"/>
          <p:cNvSpPr/>
          <p:nvPr/>
        </p:nvSpPr>
        <p:spPr>
          <a:xfrm>
            <a:off x="1060704" y="286207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5295" y="2788920"/>
            <a:ext cx="2258568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DApp별 함수 실행 proof</a:t>
            </a:r>
          </a:p>
        </p:txBody>
      </p:sp>
      <p:sp>
        <p:nvSpPr>
          <p:cNvPr id="13" name="Oval 12"/>
          <p:cNvSpPr/>
          <p:nvPr/>
        </p:nvSpPr>
        <p:spPr>
          <a:xfrm>
            <a:off x="1060704" y="3154679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5" y="3081527"/>
            <a:ext cx="2258568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root vector 전체 갱신 가능</a:t>
            </a:r>
          </a:p>
        </p:txBody>
      </p:sp>
      <p:sp>
        <p:nvSpPr>
          <p:cNvPr id="15" name="Oval 14"/>
          <p:cNvSpPr/>
          <p:nvPr/>
        </p:nvSpPr>
        <p:spPr>
          <a:xfrm>
            <a:off x="1060704" y="344728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25295" y="3374136"/>
            <a:ext cx="2258568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channelTokenVault root도 포함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90288" y="2084831"/>
            <a:ext cx="2999232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82896" y="2340864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354052"/>
                </a:solidFill>
                <a:latin typeface="Apple SD Gothic Neo"/>
              </a:defRPr>
            </a:pPr>
            <a:r>
              <a:t>Channel root vector</a:t>
            </a:r>
          </a:p>
        </p:txBody>
      </p:sp>
      <p:sp>
        <p:nvSpPr>
          <p:cNvPr id="19" name="Oval 18"/>
          <p:cNvSpPr/>
          <p:nvPr/>
        </p:nvSpPr>
        <p:spPr>
          <a:xfrm>
            <a:off x="4901184" y="2816352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65776" y="2743200"/>
            <a:ext cx="2075688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DApp storage roots</a:t>
            </a:r>
          </a:p>
        </p:txBody>
      </p:sp>
      <p:sp>
        <p:nvSpPr>
          <p:cNvPr id="21" name="Oval 20"/>
          <p:cNvSpPr/>
          <p:nvPr/>
        </p:nvSpPr>
        <p:spPr>
          <a:xfrm>
            <a:off x="4901184" y="3108960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65776" y="3035808"/>
            <a:ext cx="2075688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channelTokenVault root</a:t>
            </a:r>
          </a:p>
        </p:txBody>
      </p:sp>
      <p:sp>
        <p:nvSpPr>
          <p:cNvPr id="23" name="Oval 22"/>
          <p:cNvSpPr/>
          <p:nvPr/>
        </p:nvSpPr>
        <p:spPr>
          <a:xfrm>
            <a:off x="4901184" y="3401568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5776" y="3328416"/>
            <a:ext cx="2075688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기타 channel-local roots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84464" y="2148840"/>
            <a:ext cx="3090672" cy="1664208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6" y="2395728"/>
            <a:ext cx="256032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pple SD Gothic Neo"/>
              </a:defRPr>
            </a:pPr>
            <a:r>
              <a:t>Groth16Verifier</a:t>
            </a:r>
          </a:p>
        </p:txBody>
      </p:sp>
      <p:sp>
        <p:nvSpPr>
          <p:cNvPr id="27" name="Oval 26"/>
          <p:cNvSpPr/>
          <p:nvPr/>
        </p:nvSpPr>
        <p:spPr>
          <a:xfrm>
            <a:off x="8558784" y="286207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23376" y="2788920"/>
            <a:ext cx="2258568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channelTokenVault root 전용</a:t>
            </a:r>
          </a:p>
        </p:txBody>
      </p:sp>
      <p:sp>
        <p:nvSpPr>
          <p:cNvPr id="29" name="Oval 28"/>
          <p:cNvSpPr/>
          <p:nvPr/>
        </p:nvSpPr>
        <p:spPr>
          <a:xfrm>
            <a:off x="8558784" y="3154679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23376" y="3081527"/>
            <a:ext cx="2258568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deposit / withdraw 공통 경로</a:t>
            </a:r>
          </a:p>
        </p:txBody>
      </p:sp>
      <p:sp>
        <p:nvSpPr>
          <p:cNvPr id="31" name="Oval 30"/>
          <p:cNvSpPr/>
          <p:nvPr/>
        </p:nvSpPr>
        <p:spPr>
          <a:xfrm>
            <a:off x="8558784" y="3447288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23376" y="3374136"/>
            <a:ext cx="2258568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빠른 proof 생성이 목적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877056" y="2999232"/>
            <a:ext cx="713232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589520" y="2999232"/>
            <a:ext cx="694944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05840" y="4553712"/>
            <a:ext cx="10113264" cy="786384"/>
          </a:xfrm>
          <a:prstGeom prst="roundRect">
            <a:avLst/>
          </a:prstGeom>
          <a:solidFill>
            <a:srgbClr val="E8F7F0"/>
          </a:solidFill>
          <a:ln w="12700">
            <a:solidFill>
              <a:srgbClr val="21A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0" y="4782312"/>
            <a:ext cx="9564624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20" b="1">
                <a:solidFill>
                  <a:srgbClr val="1B1F2A"/>
                </a:solidFill>
                <a:latin typeface="Apple SD Gothic Neo"/>
              </a:defRPr>
            </a:pPr>
            <a:r>
              <a:t>왜 나누는가? 범용 DApp 실행은 Tokamak 경로가 맡고, 모든 DApp이 공유하는 입출금 accounting은 Groth16 빠른 경로로 사용자 대기 시간을 줄인다.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TOKAMAKVERIFIER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3400" b="1">
                <a:solidFill>
                  <a:srgbClr val="101828"/>
                </a:solidFill>
                <a:latin typeface="Apple SD Gothic Neo"/>
              </a:defRPr>
            </a:pPr>
            <a:r>
              <a:t>범용 DApp 실행 proof를 검증한다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DApp별 transition semantics는 registered metadata와 Tokamak public input이 함께 의미를 만든다.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139696"/>
            <a:ext cx="3154680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95728"/>
            <a:ext cx="25603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Apple SD Gothic Neo"/>
              </a:defRPr>
            </a:pPr>
            <a:r>
              <a:t>언제 호출되는가</a:t>
            </a:r>
          </a:p>
        </p:txBody>
      </p:sp>
      <p:sp>
        <p:nvSpPr>
          <p:cNvPr id="11" name="Oval 10"/>
          <p:cNvSpPr/>
          <p:nvPr/>
        </p:nvSpPr>
        <p:spPr>
          <a:xfrm>
            <a:off x="1078992" y="292608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2852928"/>
            <a:ext cx="230428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DApp-specific transition 제출</a:t>
            </a:r>
          </a:p>
        </p:txBody>
      </p:sp>
      <p:sp>
        <p:nvSpPr>
          <p:cNvPr id="13" name="Oval 12"/>
          <p:cNvSpPr/>
          <p:nvPr/>
        </p:nvSpPr>
        <p:spPr>
          <a:xfrm>
            <a:off x="1078992" y="329184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3584" y="3218688"/>
            <a:ext cx="230428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channel-local state 변경</a:t>
            </a:r>
          </a:p>
        </p:txBody>
      </p:sp>
      <p:sp>
        <p:nvSpPr>
          <p:cNvPr id="15" name="Oval 14"/>
          <p:cNvSpPr/>
          <p:nvPr/>
        </p:nvSpPr>
        <p:spPr>
          <a:xfrm>
            <a:off x="1078992" y="365760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3584" y="3584448"/>
            <a:ext cx="230428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private-state note 이동 같은 DApp 실행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8848" y="2139696"/>
            <a:ext cx="3154680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2395728"/>
            <a:ext cx="25603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21A67A"/>
                </a:solidFill>
                <a:latin typeface="Apple SD Gothic Neo"/>
              </a:defRPr>
            </a:pPr>
            <a:r>
              <a:t>입력으로 보는 것</a:t>
            </a:r>
          </a:p>
        </p:txBody>
      </p:sp>
      <p:sp>
        <p:nvSpPr>
          <p:cNvPr id="19" name="Oval 18"/>
          <p:cNvSpPr/>
          <p:nvPr/>
        </p:nvSpPr>
        <p:spPr>
          <a:xfrm>
            <a:off x="4828032" y="2926080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2624" y="2852928"/>
            <a:ext cx="230428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Tokamak proof</a:t>
            </a:r>
          </a:p>
        </p:txBody>
      </p:sp>
      <p:sp>
        <p:nvSpPr>
          <p:cNvPr id="21" name="Oval 20"/>
          <p:cNvSpPr/>
          <p:nvPr/>
        </p:nvSpPr>
        <p:spPr>
          <a:xfrm>
            <a:off x="4828032" y="3291840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92624" y="3218688"/>
            <a:ext cx="230428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function preprocess data</a:t>
            </a:r>
          </a:p>
        </p:txBody>
      </p:sp>
      <p:sp>
        <p:nvSpPr>
          <p:cNvPr id="23" name="Oval 22"/>
          <p:cNvSpPr/>
          <p:nvPr/>
        </p:nvSpPr>
        <p:spPr>
          <a:xfrm>
            <a:off x="4828032" y="3657600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92624" y="3584448"/>
            <a:ext cx="230428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DApp public input</a:t>
            </a:r>
          </a:p>
        </p:txBody>
      </p:sp>
      <p:sp>
        <p:nvSpPr>
          <p:cNvPr id="25" name="Oval 24"/>
          <p:cNvSpPr/>
          <p:nvPr/>
        </p:nvSpPr>
        <p:spPr>
          <a:xfrm>
            <a:off x="4828032" y="4023360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92624" y="3950208"/>
            <a:ext cx="230428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channel block 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2139696"/>
            <a:ext cx="2999232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2395728"/>
            <a:ext cx="23774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6D5BD0"/>
                </a:solidFill>
                <a:latin typeface="Apple SD Gothic Neo"/>
              </a:defRPr>
            </a:pPr>
            <a:r>
              <a:t>출력과 영향</a:t>
            </a:r>
          </a:p>
        </p:txBody>
      </p:sp>
      <p:sp>
        <p:nvSpPr>
          <p:cNvPr id="29" name="Oval 28"/>
          <p:cNvSpPr/>
          <p:nvPr/>
        </p:nvSpPr>
        <p:spPr>
          <a:xfrm>
            <a:off x="8577072" y="2926080"/>
            <a:ext cx="73152" cy="73152"/>
          </a:xfrm>
          <a:prstGeom prst="ellipse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41664" y="2852928"/>
            <a:ext cx="207568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proof acceptance</a:t>
            </a:r>
          </a:p>
        </p:txBody>
      </p:sp>
      <p:sp>
        <p:nvSpPr>
          <p:cNvPr id="31" name="Oval 30"/>
          <p:cNvSpPr/>
          <p:nvPr/>
        </p:nvSpPr>
        <p:spPr>
          <a:xfrm>
            <a:off x="8577072" y="3291840"/>
            <a:ext cx="73152" cy="73152"/>
          </a:xfrm>
          <a:prstGeom prst="ellipse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41664" y="3218688"/>
            <a:ext cx="207568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root vector hash 갱신</a:t>
            </a:r>
          </a:p>
        </p:txBody>
      </p:sp>
      <p:sp>
        <p:nvSpPr>
          <p:cNvPr id="33" name="Oval 32"/>
          <p:cNvSpPr/>
          <p:nvPr/>
        </p:nvSpPr>
        <p:spPr>
          <a:xfrm>
            <a:off x="8577072" y="3657600"/>
            <a:ext cx="73152" cy="73152"/>
          </a:xfrm>
          <a:prstGeom prst="ellipse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41664" y="3584448"/>
            <a:ext cx="207568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상태 변경 observation 기록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5212080"/>
            <a:ext cx="10113264" cy="475488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5349240"/>
            <a:ext cx="9656064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ple SD Gothic Neo"/>
              </a:defRPr>
            </a:pPr>
            <a:r>
              <a:t>핵심: TokamakVerifier는 channelTokenVault root를 포함한 root vector 전체 업데이트를 검증할 수 있는 범용 경로다.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GROTH16VERIFIER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9326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2800" b="1">
                <a:solidFill>
                  <a:srgbClr val="101828"/>
                </a:solidFill>
                <a:latin typeface="Apple SD Gothic Neo"/>
              </a:defRPr>
            </a:pPr>
            <a:r>
              <a:t>channelTokenVault root 전용 빠른 경로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1907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입출금은 DApp별 함수 실행이 아니라 모든 DApp이 공유하는 channel accounting 문제다.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157984"/>
            <a:ext cx="3054096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2414016"/>
            <a:ext cx="24688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pple SD Gothic Neo"/>
              </a:defRPr>
            </a:pPr>
            <a:r>
              <a:t>언제 호출되는가</a:t>
            </a:r>
          </a:p>
        </p:txBody>
      </p:sp>
      <p:sp>
        <p:nvSpPr>
          <p:cNvPr id="11" name="Oval 10"/>
          <p:cNvSpPr/>
          <p:nvPr/>
        </p:nvSpPr>
        <p:spPr>
          <a:xfrm>
            <a:off x="1115568" y="2944368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871216"/>
            <a:ext cx="2167127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채널 입금</a:t>
            </a:r>
          </a:p>
        </p:txBody>
      </p:sp>
      <p:sp>
        <p:nvSpPr>
          <p:cNvPr id="13" name="Oval 12"/>
          <p:cNvSpPr/>
          <p:nvPr/>
        </p:nvSpPr>
        <p:spPr>
          <a:xfrm>
            <a:off x="1115568" y="3328416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255264"/>
            <a:ext cx="2167127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채널 출금</a:t>
            </a:r>
          </a:p>
        </p:txBody>
      </p:sp>
      <p:sp>
        <p:nvSpPr>
          <p:cNvPr id="15" name="Oval 14"/>
          <p:cNvSpPr/>
          <p:nvPr/>
        </p:nvSpPr>
        <p:spPr>
          <a:xfrm>
            <a:off x="1115568" y="3712463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639312"/>
            <a:ext cx="2167127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channelTokenVault balance 변경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3984" y="2157984"/>
            <a:ext cx="3236976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2414016"/>
            <a:ext cx="26060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Apple SD Gothic Neo"/>
              </a:defRPr>
            </a:pPr>
            <a:r>
              <a:t>고정 public signals</a:t>
            </a:r>
          </a:p>
        </p:txBody>
      </p:sp>
      <p:sp>
        <p:nvSpPr>
          <p:cNvPr id="19" name="Oval 18"/>
          <p:cNvSpPr/>
          <p:nvPr/>
        </p:nvSpPr>
        <p:spPr>
          <a:xfrm>
            <a:off x="4773168" y="294436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2871216"/>
            <a:ext cx="230428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이전 vault root</a:t>
            </a:r>
          </a:p>
        </p:txBody>
      </p:sp>
      <p:sp>
        <p:nvSpPr>
          <p:cNvPr id="21" name="Oval 20"/>
          <p:cNvSpPr/>
          <p:nvPr/>
        </p:nvSpPr>
        <p:spPr>
          <a:xfrm>
            <a:off x="4773168" y="331012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59" y="3236976"/>
            <a:ext cx="230428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새 vault root</a:t>
            </a:r>
          </a:p>
        </p:txBody>
      </p:sp>
      <p:sp>
        <p:nvSpPr>
          <p:cNvPr id="23" name="Oval 22"/>
          <p:cNvSpPr/>
          <p:nvPr/>
        </p:nvSpPr>
        <p:spPr>
          <a:xfrm>
            <a:off x="4773168" y="367588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59" y="3602736"/>
            <a:ext cx="230428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사용자 leaf key</a:t>
            </a:r>
          </a:p>
        </p:txBody>
      </p:sp>
      <p:sp>
        <p:nvSpPr>
          <p:cNvPr id="25" name="Oval 24"/>
          <p:cNvSpPr/>
          <p:nvPr/>
        </p:nvSpPr>
        <p:spPr>
          <a:xfrm>
            <a:off x="4773168" y="404164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59" y="3968496"/>
            <a:ext cx="230428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balance before / after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4" y="2157984"/>
            <a:ext cx="2907792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0496" y="2414016"/>
            <a:ext cx="22402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21A67A"/>
                </a:solidFill>
                <a:latin typeface="Apple SD Gothic Neo"/>
              </a:defRPr>
            </a:pPr>
            <a:r>
              <a:t>출력과 영향</a:t>
            </a:r>
          </a:p>
        </p:txBody>
      </p:sp>
      <p:sp>
        <p:nvSpPr>
          <p:cNvPr id="29" name="Oval 28"/>
          <p:cNvSpPr/>
          <p:nvPr/>
        </p:nvSpPr>
        <p:spPr>
          <a:xfrm>
            <a:off x="8613648" y="2944368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2871216"/>
            <a:ext cx="1984248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vault proof acceptance</a:t>
            </a:r>
          </a:p>
        </p:txBody>
      </p:sp>
      <p:sp>
        <p:nvSpPr>
          <p:cNvPr id="31" name="Oval 30"/>
          <p:cNvSpPr/>
          <p:nvPr/>
        </p:nvSpPr>
        <p:spPr>
          <a:xfrm>
            <a:off x="8613648" y="3328416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3255264"/>
            <a:ext cx="1984248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channelTokenVault root 교체</a:t>
            </a:r>
          </a:p>
        </p:txBody>
      </p:sp>
      <p:sp>
        <p:nvSpPr>
          <p:cNvPr id="33" name="Oval 32"/>
          <p:cNvSpPr/>
          <p:nvPr/>
        </p:nvSpPr>
        <p:spPr>
          <a:xfrm>
            <a:off x="8613648" y="3712463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639312"/>
            <a:ext cx="1984248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root vector hash 재계산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5212080"/>
            <a:ext cx="10113264" cy="475488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5349240"/>
            <a:ext cx="9656064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ple SD Gothic Neo"/>
              </a:defRPr>
            </a:pPr>
            <a:r>
              <a:t>핵심: Groth16Verifier는 범용 DApp semantics를 보지 않고, channelTokenVault accounting만 빠르게 증명한다.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VERIFIER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9326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2800" b="1">
                <a:solidFill>
                  <a:srgbClr val="101828"/>
                </a:solidFill>
                <a:latin typeface="Apple SD Gothic Neo"/>
              </a:defRPr>
            </a:pPr>
            <a:r>
              <a:t>공통점은 root update, 차이점은 public surface다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1907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두 verifier 모두 상태 갱신을 proof로 제한하지만, 공개 데이터의 종류와 책임 범위는 다르다.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84831"/>
            <a:ext cx="5074920" cy="2944368"/>
          </a:xfrm>
          <a:prstGeom prst="roundRect">
            <a:avLst/>
          </a:prstGeom>
          <a:solidFill>
            <a:srgbClr val="E9F1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59152"/>
            <a:ext cx="25146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Apple SD Gothic Neo"/>
              </a:defRPr>
            </a:pPr>
            <a:r>
              <a:t>TokamakVerifier</a:t>
            </a:r>
          </a:p>
        </p:txBody>
      </p:sp>
      <p:sp>
        <p:nvSpPr>
          <p:cNvPr id="11" name="Oval 10"/>
          <p:cNvSpPr/>
          <p:nvPr/>
        </p:nvSpPr>
        <p:spPr>
          <a:xfrm>
            <a:off x="1078992" y="288950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2816352"/>
            <a:ext cx="404164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DApp function 의미를 포함한다.</a:t>
            </a:r>
          </a:p>
        </p:txBody>
      </p:sp>
      <p:sp>
        <p:nvSpPr>
          <p:cNvPr id="13" name="Oval 12"/>
          <p:cNvSpPr/>
          <p:nvPr/>
        </p:nvSpPr>
        <p:spPr>
          <a:xfrm>
            <a:off x="1078992" y="325526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3584" y="3182112"/>
            <a:ext cx="404164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aPubUser / aPubBlock과 metadata를 함께 해석한다.</a:t>
            </a:r>
          </a:p>
        </p:txBody>
      </p:sp>
      <p:sp>
        <p:nvSpPr>
          <p:cNvPr id="15" name="Oval 14"/>
          <p:cNvSpPr/>
          <p:nvPr/>
        </p:nvSpPr>
        <p:spPr>
          <a:xfrm>
            <a:off x="1078992" y="362102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3584" y="3547872"/>
            <a:ext cx="404164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storage write와 event observation에 영향을 준다.</a:t>
            </a:r>
          </a:p>
        </p:txBody>
      </p:sp>
      <p:sp>
        <p:nvSpPr>
          <p:cNvPr id="17" name="Oval 16"/>
          <p:cNvSpPr/>
          <p:nvPr/>
        </p:nvSpPr>
        <p:spPr>
          <a:xfrm>
            <a:off x="1078992" y="398678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3584" y="3913632"/>
            <a:ext cx="404164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범위가 넓고 DApp마다 public input 의미가 달라진다.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2512" y="2084831"/>
            <a:ext cx="5074920" cy="2944368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2359152"/>
            <a:ext cx="25146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700" b="1">
                <a:solidFill>
                  <a:srgbClr val="F59E0B"/>
                </a:solidFill>
                <a:latin typeface="Apple SD Gothic Neo"/>
              </a:defRPr>
            </a:pPr>
            <a:r>
              <a:t>Groth16Verifier</a:t>
            </a:r>
          </a:p>
        </p:txBody>
      </p:sp>
      <p:sp>
        <p:nvSpPr>
          <p:cNvPr id="21" name="Oval 20"/>
          <p:cNvSpPr/>
          <p:nvPr/>
        </p:nvSpPr>
        <p:spPr>
          <a:xfrm>
            <a:off x="6729984" y="2889504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94576" y="2816352"/>
            <a:ext cx="399592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channelTokenVault leaf update만 본다.</a:t>
            </a:r>
          </a:p>
        </p:txBody>
      </p:sp>
      <p:sp>
        <p:nvSpPr>
          <p:cNvPr id="23" name="Oval 22"/>
          <p:cNvSpPr/>
          <p:nvPr/>
        </p:nvSpPr>
        <p:spPr>
          <a:xfrm>
            <a:off x="6729984" y="3255264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94576" y="3182112"/>
            <a:ext cx="399592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고정된 5개 public signal을 사용한다.</a:t>
            </a:r>
          </a:p>
        </p:txBody>
      </p:sp>
      <p:sp>
        <p:nvSpPr>
          <p:cNvPr id="25" name="Oval 24"/>
          <p:cNvSpPr/>
          <p:nvPr/>
        </p:nvSpPr>
        <p:spPr>
          <a:xfrm>
            <a:off x="6729984" y="3621024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94576" y="3547872"/>
            <a:ext cx="399592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deposit / withdraw accounting에 영향을 준다.</a:t>
            </a:r>
          </a:p>
        </p:txBody>
      </p:sp>
      <p:sp>
        <p:nvSpPr>
          <p:cNvPr id="27" name="Oval 26"/>
          <p:cNvSpPr/>
          <p:nvPr/>
        </p:nvSpPr>
        <p:spPr>
          <a:xfrm>
            <a:off x="6729984" y="3986784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94576" y="3913632"/>
            <a:ext cx="399592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범위가 좁아 proof 생성과 사용자 흐름이 빠르다.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5413248"/>
            <a:ext cx="10113264" cy="438912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5541264"/>
            <a:ext cx="9656064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ple SD Gothic Neo"/>
              </a:defRPr>
            </a:pPr>
            <a:r>
              <a:t>정리: Tokamak은 범용성과 표현력을, Groth16은 공통 입출금의 좁은 책임 범위와 빠른 UX를 담당한다.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토큰 이동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9326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2800" b="1">
                <a:solidFill>
                  <a:srgbClr val="101828"/>
                </a:solidFill>
                <a:latin typeface="Apple SD Gothic Neo"/>
              </a:defRPr>
            </a:pPr>
            <a:r>
              <a:t>Custody와 Accounting은 의도적으로 분리된다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1907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canonical token은 공유 L1 vault에 남고, 채널 상태는 accounting과 note를 기록한다.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" y="2944368"/>
            <a:ext cx="1527048" cy="530352"/>
          </a:xfrm>
          <a:prstGeom prst="roundRect">
            <a:avLst/>
          </a:prstGeom>
          <a:solidFill>
            <a:srgbClr val="E9F1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017520"/>
            <a:ext cx="1399031" cy="38404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50" b="1">
                <a:solidFill>
                  <a:srgbClr val="1B1F2A"/>
                </a:solidFill>
                <a:latin typeface="Apple SD Gothic Neo"/>
              </a:defRPr>
            </a:pPr>
            <a:r>
              <a:t>L1 wallet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6976" y="2651760"/>
            <a:ext cx="2093976" cy="786384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0984" y="2724912"/>
            <a:ext cx="1965960" cy="6400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50" b="1">
                <a:solidFill>
                  <a:srgbClr val="1B1F2A"/>
                </a:solidFill>
                <a:latin typeface="Apple SD Gothic Neo"/>
              </a:defRPr>
            </a:pPr>
            <a:r>
              <a:t>L1TokenVault</a:t>
            </a:r>
          </a:p>
          <a:p>
            <a:pPr algn="ctr">
              <a:defRPr sz="1350" b="1">
                <a:solidFill>
                  <a:srgbClr val="1B1F2A"/>
                </a:solidFill>
                <a:latin typeface="Apple SD Gothic Neo"/>
              </a:defRPr>
            </a:pPr>
            <a:r>
              <a:t>canonical custody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2651760"/>
            <a:ext cx="2176272" cy="786384"/>
          </a:xfrm>
          <a:prstGeom prst="roundRect">
            <a:avLst/>
          </a:prstGeom>
          <a:solidFill>
            <a:srgbClr val="E8F7F0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1344" y="2724912"/>
            <a:ext cx="2048255" cy="6400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50" b="1">
                <a:solidFill>
                  <a:srgbClr val="1B1F2A"/>
                </a:solidFill>
                <a:latin typeface="Apple SD Gothic Neo"/>
              </a:defRPr>
            </a:pPr>
            <a:r>
              <a:t>channelTokenVault</a:t>
            </a:r>
          </a:p>
          <a:p>
            <a:pPr algn="ctr">
              <a:defRPr sz="1350" b="1">
                <a:solidFill>
                  <a:srgbClr val="1B1F2A"/>
                </a:solidFill>
                <a:latin typeface="Apple SD Gothic Neo"/>
              </a:defRPr>
            </a:pPr>
            <a:r>
              <a:t>Merkle accounting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70848" y="2651760"/>
            <a:ext cx="2249424" cy="786384"/>
          </a:xfrm>
          <a:prstGeom prst="roundRect">
            <a:avLst/>
          </a:prstGeom>
          <a:solidFill>
            <a:srgbClr val="F1EE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2724912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50" b="1">
                <a:solidFill>
                  <a:srgbClr val="1B1F2A"/>
                </a:solidFill>
                <a:latin typeface="Apple SD Gothic Neo"/>
              </a:defRPr>
            </a:pPr>
            <a:r>
              <a:t>Private-State DApp</a:t>
            </a:r>
          </a:p>
          <a:p>
            <a:pPr algn="ctr">
              <a:defRPr sz="1350" b="1">
                <a:solidFill>
                  <a:srgbClr val="1B1F2A"/>
                </a:solidFill>
                <a:latin typeface="Apple SD Gothic Neo"/>
              </a:defRPr>
            </a:pPr>
            <a:r>
              <a:t>liquid balance + notes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404872" y="3044952"/>
            <a:ext cx="832104" cy="164592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330952" y="3044952"/>
            <a:ext cx="786384" cy="0"/>
          </a:xfrm>
          <a:prstGeom prst="line">
            <a:avLst/>
          </a:prstGeom>
          <a:ln w="25400">
            <a:solidFill>
              <a:srgbClr val="21A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93608" y="3044952"/>
            <a:ext cx="777240" cy="0"/>
          </a:xfrm>
          <a:prstGeom prst="line">
            <a:avLst/>
          </a:prstGeom>
          <a:ln w="25400">
            <a:solidFill>
              <a:srgbClr val="6D5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80160" y="4462272"/>
            <a:ext cx="9637776" cy="4754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400" b="0">
                <a:solidFill>
                  <a:srgbClr val="5C667A"/>
                </a:solidFill>
                <a:latin typeface="Apple SD Gothic Neo"/>
              </a:defRPr>
            </a:pPr>
            <a:r>
              <a:t>fund/claim은 bridge-level available balance를 움직이고, deposit/withdraw channel은 Groth16 updateTree proof로 channel-token-vault root를 갱신한다.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983480"/>
            <a:ext cx="905256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join toll은 별도 treasury에 기록되며, exit refund는 시간 감쇠 스케줄과 zero channel balance 조건을 따른다.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PRIVATE-STATE 예제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9326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2800" b="1">
                <a:solidFill>
                  <a:srgbClr val="101828"/>
                </a:solidFill>
                <a:latin typeface="Apple SD Gothic Neo"/>
              </a:defRPr>
            </a:pPr>
            <a:r>
              <a:t>Bridge-Coupled zk-Note Payment DApp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1907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private-state는 TON custody를 L1에 유지하면서 채널 로컬 상태에 balances, commitments, nullifiers를 기록한다.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" y="2331720"/>
            <a:ext cx="4572000" cy="1792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331720"/>
            <a:ext cx="45720" cy="1792224"/>
          </a:xfrm>
          <a:prstGeom prst="rect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496312"/>
            <a:ext cx="4169663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1B1F2A"/>
                </a:solidFill>
                <a:latin typeface="Apple SD Gothic Neo"/>
              </a:defRPr>
            </a:pPr>
            <a:r>
              <a:t>L2AccountingVault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880360"/>
            <a:ext cx="4169663" cy="11338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accounting-only liquid balance를 추적한다. controller만 balance를 변경하며 canonical custody는 아니다.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2331720"/>
            <a:ext cx="4572000" cy="1792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2331720"/>
            <a:ext cx="45720" cy="1792224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496312"/>
            <a:ext cx="4169663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1B1F2A"/>
                </a:solidFill>
                <a:latin typeface="Apple SD Gothic Neo"/>
              </a:defRPr>
            </a:pPr>
            <a:r>
              <a:t>PrivateStateController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2880360"/>
            <a:ext cx="4169663" cy="11338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mint, transfer, redeem으로 note lifecycle을 제공한다. commitment 중복과 nullifier 재사용을 거부한다.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22976" y="3218688"/>
            <a:ext cx="1152144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37360" y="4800600"/>
            <a:ext cx="873252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700" b="1">
                <a:solidFill>
                  <a:srgbClr val="2563EB"/>
                </a:solidFill>
                <a:latin typeface="Apple SD Gothic Neo"/>
              </a:defRPr>
            </a:pPr>
            <a:r>
              <a:t>Managed storage vector: [PrivateStateController, L2AccountingVault]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PRIVATE-STATE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9326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2800" b="1">
                <a:solidFill>
                  <a:srgbClr val="101828"/>
                </a:solidFill>
                <a:latin typeface="Apple SD Gothic Neo"/>
              </a:defRPr>
            </a:pPr>
            <a:r>
              <a:t>Note Transfer Without Transaction Replay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1907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private-state는 UTXO-like note ownership transfer를 proof로 제출하고, Ethereum에는 제한된 public surface만 남긴다.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139696"/>
            <a:ext cx="3072384" cy="2633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395728"/>
            <a:ext cx="26060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D94A4A"/>
                </a:solidFill>
                <a:latin typeface="Apple SD Gothic Neo"/>
              </a:defRPr>
            </a:pPr>
            <a:r>
              <a:t>Plain transfer semantics</a:t>
            </a:r>
          </a:p>
        </p:txBody>
      </p:sp>
      <p:sp>
        <p:nvSpPr>
          <p:cNvPr id="11" name="Oval 10"/>
          <p:cNvSpPr/>
          <p:nvPr/>
        </p:nvSpPr>
        <p:spPr>
          <a:xfrm>
            <a:off x="1115568" y="2926080"/>
            <a:ext cx="73152" cy="73152"/>
          </a:xfrm>
          <a:prstGeom prst="ellipse">
            <a:avLst/>
          </a:prstGeom>
          <a:solidFill>
            <a:srgbClr val="D9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852928"/>
            <a:ext cx="2212848" cy="30175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amount</a:t>
            </a:r>
          </a:p>
        </p:txBody>
      </p:sp>
      <p:sp>
        <p:nvSpPr>
          <p:cNvPr id="13" name="Oval 12"/>
          <p:cNvSpPr/>
          <p:nvPr/>
        </p:nvSpPr>
        <p:spPr>
          <a:xfrm>
            <a:off x="1115568" y="3255264"/>
            <a:ext cx="73152" cy="73152"/>
          </a:xfrm>
          <a:prstGeom prst="ellipse">
            <a:avLst/>
          </a:prstGeom>
          <a:solidFill>
            <a:srgbClr val="D9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182112"/>
            <a:ext cx="2212848" cy="30175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from owner</a:t>
            </a:r>
          </a:p>
        </p:txBody>
      </p:sp>
      <p:sp>
        <p:nvSpPr>
          <p:cNvPr id="15" name="Oval 14"/>
          <p:cNvSpPr/>
          <p:nvPr/>
        </p:nvSpPr>
        <p:spPr>
          <a:xfrm>
            <a:off x="1115568" y="3584448"/>
            <a:ext cx="73152" cy="73152"/>
          </a:xfrm>
          <a:prstGeom prst="ellipse">
            <a:avLst/>
          </a:prstGeom>
          <a:solidFill>
            <a:srgbClr val="D9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511296"/>
            <a:ext cx="2212848" cy="30175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to owner</a:t>
            </a:r>
          </a:p>
        </p:txBody>
      </p:sp>
      <p:sp>
        <p:nvSpPr>
          <p:cNvPr id="17" name="Oval 16"/>
          <p:cNvSpPr/>
          <p:nvPr/>
        </p:nvSpPr>
        <p:spPr>
          <a:xfrm>
            <a:off x="1115568" y="3913632"/>
            <a:ext cx="73152" cy="73152"/>
          </a:xfrm>
          <a:prstGeom prst="ellipse">
            <a:avLst/>
          </a:prstGeom>
          <a:solidFill>
            <a:srgbClr val="D9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840480"/>
            <a:ext cx="2212848" cy="30175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note salt / witness</a:t>
            </a:r>
          </a:p>
        </p:txBody>
      </p:sp>
      <p:sp>
        <p:nvSpPr>
          <p:cNvPr id="19" name="Oval 18"/>
          <p:cNvSpPr/>
          <p:nvPr/>
        </p:nvSpPr>
        <p:spPr>
          <a:xfrm>
            <a:off x="1115568" y="4242816"/>
            <a:ext cx="73152" cy="73152"/>
          </a:xfrm>
          <a:prstGeom prst="ellipse">
            <a:avLst/>
          </a:prstGeom>
          <a:solidFill>
            <a:srgbClr val="D9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169664"/>
            <a:ext cx="2212848" cy="30175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spending authorization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2139696"/>
            <a:ext cx="3072384" cy="2633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2395728"/>
            <a:ext cx="26060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Apple SD Gothic Neo"/>
              </a:defRPr>
            </a:pPr>
            <a:r>
              <a:t>ZKP public surface</a:t>
            </a:r>
          </a:p>
        </p:txBody>
      </p:sp>
      <p:sp>
        <p:nvSpPr>
          <p:cNvPr id="23" name="Oval 22"/>
          <p:cNvSpPr/>
          <p:nvPr/>
        </p:nvSpPr>
        <p:spPr>
          <a:xfrm>
            <a:off x="4809744" y="292608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74336" y="2852928"/>
            <a:ext cx="2212848" cy="30175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commitments</a:t>
            </a:r>
          </a:p>
        </p:txBody>
      </p:sp>
      <p:sp>
        <p:nvSpPr>
          <p:cNvPr id="25" name="Oval 24"/>
          <p:cNvSpPr/>
          <p:nvPr/>
        </p:nvSpPr>
        <p:spPr>
          <a:xfrm>
            <a:off x="4809744" y="325526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74336" y="3182112"/>
            <a:ext cx="2212848" cy="30175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nullifiers</a:t>
            </a:r>
          </a:p>
        </p:txBody>
      </p:sp>
      <p:sp>
        <p:nvSpPr>
          <p:cNvPr id="27" name="Oval 26"/>
          <p:cNvSpPr/>
          <p:nvPr/>
        </p:nvSpPr>
        <p:spPr>
          <a:xfrm>
            <a:off x="4809744" y="358444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74336" y="3511296"/>
            <a:ext cx="2212848" cy="30175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storage root update</a:t>
            </a:r>
          </a:p>
        </p:txBody>
      </p:sp>
      <p:sp>
        <p:nvSpPr>
          <p:cNvPr id="29" name="Oval 28"/>
          <p:cNvSpPr/>
          <p:nvPr/>
        </p:nvSpPr>
        <p:spPr>
          <a:xfrm>
            <a:off x="4809744" y="391363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74336" y="3840480"/>
            <a:ext cx="2212848" cy="30175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encrypted note event</a:t>
            </a:r>
          </a:p>
        </p:txBody>
      </p:sp>
      <p:sp>
        <p:nvSpPr>
          <p:cNvPr id="31" name="Oval 30"/>
          <p:cNvSpPr/>
          <p:nvPr/>
        </p:nvSpPr>
        <p:spPr>
          <a:xfrm>
            <a:off x="4809744" y="424281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74336" y="4169664"/>
            <a:ext cx="2212848" cy="30175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function metadata proof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74736" y="2139696"/>
            <a:ext cx="2889504" cy="2633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2395728"/>
            <a:ext cx="23317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21A67A"/>
                </a:solidFill>
                <a:latin typeface="Apple SD Gothic Neo"/>
              </a:defRPr>
            </a:pPr>
            <a:r>
              <a:t>Ethereum sees</a:t>
            </a:r>
          </a:p>
        </p:txBody>
      </p:sp>
      <p:sp>
        <p:nvSpPr>
          <p:cNvPr id="35" name="Oval 34"/>
          <p:cNvSpPr/>
          <p:nvPr/>
        </p:nvSpPr>
        <p:spPr>
          <a:xfrm>
            <a:off x="8503920" y="2926080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2852928"/>
            <a:ext cx="1984248" cy="30175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accepted proof</a:t>
            </a:r>
          </a:p>
        </p:txBody>
      </p:sp>
      <p:sp>
        <p:nvSpPr>
          <p:cNvPr id="37" name="Oval 36"/>
          <p:cNvSpPr/>
          <p:nvPr/>
        </p:nvSpPr>
        <p:spPr>
          <a:xfrm>
            <a:off x="8503920" y="3255264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68512" y="3182112"/>
            <a:ext cx="1984248" cy="30175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root movement</a:t>
            </a:r>
          </a:p>
        </p:txBody>
      </p:sp>
      <p:sp>
        <p:nvSpPr>
          <p:cNvPr id="39" name="Oval 38"/>
          <p:cNvSpPr/>
          <p:nvPr/>
        </p:nvSpPr>
        <p:spPr>
          <a:xfrm>
            <a:off x="8503920" y="3584448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68512" y="3511296"/>
            <a:ext cx="1984248" cy="30175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commitment / nullifier ids</a:t>
            </a:r>
          </a:p>
        </p:txBody>
      </p:sp>
      <p:sp>
        <p:nvSpPr>
          <p:cNvPr id="41" name="Oval 40"/>
          <p:cNvSpPr/>
          <p:nvPr/>
        </p:nvSpPr>
        <p:spPr>
          <a:xfrm>
            <a:off x="8503920" y="3913632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68512" y="3840480"/>
            <a:ext cx="1984248" cy="30175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encrypted delivery</a:t>
            </a:r>
          </a:p>
        </p:txBody>
      </p:sp>
      <p:sp>
        <p:nvSpPr>
          <p:cNvPr id="43" name="Oval 42"/>
          <p:cNvSpPr/>
          <p:nvPr/>
        </p:nvSpPr>
        <p:spPr>
          <a:xfrm>
            <a:off x="8503920" y="4242816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68512" y="4169664"/>
            <a:ext cx="1984248" cy="30175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not plaintext transfer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" y="5321808"/>
            <a:ext cx="10113264" cy="4572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34440" y="5449824"/>
            <a:ext cx="9656064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ple SD Gothic Neo"/>
              </a:defRPr>
            </a:pPr>
            <a:r>
              <a:t>브릿지는 note transfer semantics를 replay하지 않고, verifier와 metadata가 허용한 public surface만 받아들인다.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프라이버시 경계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9326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2800" b="1">
                <a:solidFill>
                  <a:srgbClr val="101828"/>
                </a:solidFill>
                <a:latin typeface="Apple SD Gothic Neo"/>
              </a:defRPr>
            </a:pPr>
            <a:r>
              <a:t>Programmed Disclosure이지 Invisible Activity가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1907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proof acceptance 이후 어떤 public observation을 남길지는 DApp 설계가 결정한다.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" y="2286000"/>
            <a:ext cx="4754880" cy="2633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9576" y="2578608"/>
            <a:ext cx="40233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800" b="1">
                <a:solidFill>
                  <a:srgbClr val="21A67A"/>
                </a:solidFill>
                <a:latin typeface="Apple SD Gothic Neo"/>
              </a:defRPr>
            </a:pPr>
            <a:r>
              <a:t>Public contract state에서 숨겨지는 것</a:t>
            </a:r>
          </a:p>
        </p:txBody>
      </p:sp>
      <p:sp>
        <p:nvSpPr>
          <p:cNvPr id="11" name="Oval 10"/>
          <p:cNvSpPr/>
          <p:nvPr/>
        </p:nvSpPr>
        <p:spPr>
          <a:xfrm>
            <a:off x="1261872" y="3163824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6463" y="3090672"/>
            <a:ext cx="3493008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0">
                <a:solidFill>
                  <a:srgbClr val="1B1F2A"/>
                </a:solidFill>
                <a:latin typeface="Apple SD Gothic Neo"/>
              </a:defRPr>
            </a:pPr>
            <a:r>
              <a:t>note plaintext</a:t>
            </a:r>
          </a:p>
        </p:txBody>
      </p:sp>
      <p:sp>
        <p:nvSpPr>
          <p:cNvPr id="13" name="Oval 12"/>
          <p:cNvSpPr/>
          <p:nvPr/>
        </p:nvSpPr>
        <p:spPr>
          <a:xfrm>
            <a:off x="1261872" y="3575304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6463" y="3502152"/>
            <a:ext cx="3493008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0">
                <a:solidFill>
                  <a:srgbClr val="1B1F2A"/>
                </a:solidFill>
                <a:latin typeface="Apple SD Gothic Neo"/>
              </a:defRPr>
            </a:pPr>
            <a:r>
              <a:t>note ownership meaning</a:t>
            </a:r>
          </a:p>
        </p:txBody>
      </p:sp>
      <p:sp>
        <p:nvSpPr>
          <p:cNvPr id="15" name="Oval 14"/>
          <p:cNvSpPr/>
          <p:nvPr/>
        </p:nvSpPr>
        <p:spPr>
          <a:xfrm>
            <a:off x="1261872" y="3986784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6463" y="3913632"/>
            <a:ext cx="3493008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0">
                <a:solidFill>
                  <a:srgbClr val="1B1F2A"/>
                </a:solidFill>
                <a:latin typeface="Apple SD Gothic Neo"/>
              </a:defRPr>
            </a:pPr>
            <a:r>
              <a:t>sender-recipient provenance</a:t>
            </a:r>
          </a:p>
        </p:txBody>
      </p:sp>
      <p:sp>
        <p:nvSpPr>
          <p:cNvPr id="17" name="Oval 16"/>
          <p:cNvSpPr/>
          <p:nvPr/>
        </p:nvSpPr>
        <p:spPr>
          <a:xfrm>
            <a:off x="1261872" y="4398264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26463" y="4325112"/>
            <a:ext cx="3493008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0">
                <a:solidFill>
                  <a:srgbClr val="1B1F2A"/>
                </a:solidFill>
                <a:latin typeface="Apple SD Gothic Neo"/>
              </a:defRPr>
            </a:pPr>
            <a:r>
              <a:t>complete private note 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2286000"/>
            <a:ext cx="4754880" cy="2633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578608"/>
            <a:ext cx="40233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Apple SD Gothic Neo"/>
              </a:defRPr>
            </a:pPr>
            <a:r>
              <a:t>보이는 monitoring surface</a:t>
            </a:r>
          </a:p>
        </p:txBody>
      </p:sp>
      <p:sp>
        <p:nvSpPr>
          <p:cNvPr id="21" name="Oval 20"/>
          <p:cNvSpPr/>
          <p:nvPr/>
        </p:nvSpPr>
        <p:spPr>
          <a:xfrm>
            <a:off x="6931152" y="3127248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5744" y="3054096"/>
            <a:ext cx="349300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1B1F2A"/>
                </a:solidFill>
                <a:latin typeface="Apple SD Gothic Neo"/>
              </a:defRPr>
            </a:pPr>
            <a:r>
              <a:t>joins, deposits, withdrawals</a:t>
            </a:r>
          </a:p>
        </p:txBody>
      </p:sp>
      <p:sp>
        <p:nvSpPr>
          <p:cNvPr id="23" name="Oval 22"/>
          <p:cNvSpPr/>
          <p:nvPr/>
        </p:nvSpPr>
        <p:spPr>
          <a:xfrm>
            <a:off x="6931152" y="347472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95744" y="3401568"/>
            <a:ext cx="349300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1B1F2A"/>
                </a:solidFill>
                <a:latin typeface="Apple SD Gothic Neo"/>
              </a:defRPr>
            </a:pPr>
            <a:r>
              <a:t>accepted transitions</a:t>
            </a:r>
          </a:p>
        </p:txBody>
      </p:sp>
      <p:sp>
        <p:nvSpPr>
          <p:cNvPr id="25" name="Oval 24"/>
          <p:cNvSpPr/>
          <p:nvPr/>
        </p:nvSpPr>
        <p:spPr>
          <a:xfrm>
            <a:off x="6931152" y="3822191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95744" y="3749039"/>
            <a:ext cx="349300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1B1F2A"/>
                </a:solidFill>
                <a:latin typeface="Apple SD Gothic Neo"/>
              </a:defRPr>
            </a:pPr>
            <a:r>
              <a:t>root movement와 storage writes</a:t>
            </a:r>
          </a:p>
        </p:txBody>
      </p:sp>
      <p:sp>
        <p:nvSpPr>
          <p:cNvPr id="27" name="Oval 26"/>
          <p:cNvSpPr/>
          <p:nvPr/>
        </p:nvSpPr>
        <p:spPr>
          <a:xfrm>
            <a:off x="6931152" y="4169664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95744" y="4096512"/>
            <a:ext cx="349300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1B1F2A"/>
                </a:solidFill>
                <a:latin typeface="Apple SD Gothic Neo"/>
              </a:defRPr>
            </a:pPr>
            <a:r>
              <a:t>commitments와 nullifiers</a:t>
            </a:r>
          </a:p>
        </p:txBody>
      </p:sp>
      <p:sp>
        <p:nvSpPr>
          <p:cNvPr id="29" name="Oval 28"/>
          <p:cNvSpPr/>
          <p:nvPr/>
        </p:nvSpPr>
        <p:spPr>
          <a:xfrm>
            <a:off x="6931152" y="4517136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95744" y="4443983"/>
            <a:ext cx="349300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1B1F2A"/>
                </a:solidFill>
                <a:latin typeface="Apple SD Gothic Neo"/>
              </a:defRPr>
            </a:pPr>
            <a:r>
              <a:t>encrypted note-delivery events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TRUST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3400" b="1">
                <a:solidFill>
                  <a:srgbClr val="101828"/>
                </a:solidFill>
                <a:latin typeface="Apple SD Gothic Neo"/>
              </a:defRPr>
            </a:pPr>
            <a:r>
              <a:t>브릿지 신뢰 가정의 두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브릿지의 신뢰 가정은 상태 업데이트 건실성과 사용자 프라이버시에서 서로 다르게 나타난다.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148840"/>
            <a:ext cx="4992624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395728"/>
            <a:ext cx="9144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질문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724912"/>
            <a:ext cx="434340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2000" b="1">
                <a:solidFill>
                  <a:srgbClr val="1B1F2A"/>
                </a:solidFill>
                <a:latin typeface="Apple SD Gothic Neo"/>
              </a:defRPr>
            </a:pPr>
            <a:r>
              <a:t>브릿지가 채널 상태를 업데이트할 때</a:t>
            </a:r>
          </a:p>
          <a:p>
            <a:pPr>
              <a:defRPr sz="2000" b="1">
                <a:solidFill>
                  <a:srgbClr val="1B1F2A"/>
                </a:solidFill>
                <a:latin typeface="Apple SD Gothic Neo"/>
              </a:defRPr>
            </a:pPr>
            <a:r>
              <a:t>누구를 신뢰하는가?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547872"/>
            <a:ext cx="4261104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답: runtime submitter나 prover를 신뢰하지 않는 방향으로 설계된다. 상태 전진은 proof와 metadata check가 동시에 통과해야 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148840"/>
            <a:ext cx="4992624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395728"/>
            <a:ext cx="9144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1A67A"/>
                </a:solidFill>
                <a:latin typeface="Apple SD Gothic Neo"/>
              </a:defRPr>
            </a:pPr>
            <a:r>
              <a:t>질문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724912"/>
            <a:ext cx="434340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2000" b="1">
                <a:solidFill>
                  <a:srgbClr val="1B1F2A"/>
                </a:solidFill>
                <a:latin typeface="Apple SD Gothic Neo"/>
              </a:defRPr>
            </a:pPr>
            <a:r>
              <a:t>채널 사용자의 프라이버시는</a:t>
            </a:r>
          </a:p>
          <a:p>
            <a:pPr>
              <a:defRPr sz="2000" b="1">
                <a:solidFill>
                  <a:srgbClr val="1B1F2A"/>
                </a:solidFill>
                <a:latin typeface="Apple SD Gothic Neo"/>
              </a:defRPr>
            </a:pPr>
            <a:r>
              <a:t>브릿지가 보장하는가?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547872"/>
            <a:ext cx="4261104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답: 브릿지는 DApp이 선언한 disclosure boundary를 집행한다. 실제 privacy는 circuit, event, encryption, client workflow에 의존한다.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5157216"/>
            <a:ext cx="10076688" cy="530352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312664"/>
            <a:ext cx="9564624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20" b="1">
                <a:solidFill>
                  <a:srgbClr val="FFFFFF"/>
                </a:solidFill>
                <a:latin typeface="Apple SD Gothic Neo"/>
              </a:defRPr>
            </a:pPr>
            <a:r>
              <a:t>핵심 구분: state integrity는 bridge-enforced proof 문제이고, privacy는 DApp-programmed disclosure 문제다.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STATE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3400" b="1">
                <a:solidFill>
                  <a:srgbClr val="101828"/>
                </a:solidFill>
                <a:latin typeface="Apple SD Gothic Neo"/>
              </a:defRPr>
            </a:pPr>
            <a:r>
              <a:t>상태 업데이트 건실성에는 어떤 신뢰가 남는가?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브릿지는 제출자를 믿는 대신, proof가 어떤 상태 의미를 주장하는지 확인한다.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139696"/>
            <a:ext cx="2999232" cy="2578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23774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D94A4A"/>
                </a:solidFill>
                <a:latin typeface="Apple SD Gothic Neo"/>
              </a:defRPr>
            </a:pPr>
            <a:r>
              <a:t>신뢰하지 않는 것</a:t>
            </a:r>
          </a:p>
        </p:txBody>
      </p:sp>
      <p:sp>
        <p:nvSpPr>
          <p:cNvPr id="11" name="Oval 10"/>
          <p:cNvSpPr/>
          <p:nvPr/>
        </p:nvSpPr>
        <p:spPr>
          <a:xfrm>
            <a:off x="1078992" y="2926080"/>
            <a:ext cx="73152" cy="73152"/>
          </a:xfrm>
          <a:prstGeom prst="ellipse">
            <a:avLst/>
          </a:prstGeom>
          <a:solidFill>
            <a:srgbClr val="D9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2852928"/>
            <a:ext cx="207568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submitter의 주장</a:t>
            </a:r>
          </a:p>
        </p:txBody>
      </p:sp>
      <p:sp>
        <p:nvSpPr>
          <p:cNvPr id="13" name="Oval 12"/>
          <p:cNvSpPr/>
          <p:nvPr/>
        </p:nvSpPr>
        <p:spPr>
          <a:xfrm>
            <a:off x="1078992" y="3273552"/>
            <a:ext cx="73152" cy="73152"/>
          </a:xfrm>
          <a:prstGeom prst="ellipse">
            <a:avLst/>
          </a:prstGeom>
          <a:solidFill>
            <a:srgbClr val="D9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3584" y="3200400"/>
            <a:ext cx="207568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prover의 선의</a:t>
            </a:r>
          </a:p>
        </p:txBody>
      </p:sp>
      <p:sp>
        <p:nvSpPr>
          <p:cNvPr id="15" name="Oval 14"/>
          <p:cNvSpPr/>
          <p:nvPr/>
        </p:nvSpPr>
        <p:spPr>
          <a:xfrm>
            <a:off x="1078992" y="3621024"/>
            <a:ext cx="73152" cy="73152"/>
          </a:xfrm>
          <a:prstGeom prst="ellipse">
            <a:avLst/>
          </a:prstGeom>
          <a:solidFill>
            <a:srgbClr val="D9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3584" y="3547872"/>
            <a:ext cx="207568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off-chain workspace의 무결성</a:t>
            </a:r>
          </a:p>
        </p:txBody>
      </p:sp>
      <p:sp>
        <p:nvSpPr>
          <p:cNvPr id="17" name="Oval 16"/>
          <p:cNvSpPr/>
          <p:nvPr/>
        </p:nvSpPr>
        <p:spPr>
          <a:xfrm>
            <a:off x="1078992" y="3968496"/>
            <a:ext cx="73152" cy="73152"/>
          </a:xfrm>
          <a:prstGeom prst="ellipse">
            <a:avLst/>
          </a:prstGeom>
          <a:solidFill>
            <a:srgbClr val="D9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3584" y="3895344"/>
            <a:ext cx="207568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임의 ABI selector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8848" y="2139696"/>
            <a:ext cx="3401568" cy="2578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2377440"/>
            <a:ext cx="27432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Apple SD Gothic Neo"/>
              </a:defRPr>
            </a:pPr>
            <a:r>
              <a:t>브릿지가 체크하는 것</a:t>
            </a:r>
          </a:p>
        </p:txBody>
      </p:sp>
      <p:sp>
        <p:nvSpPr>
          <p:cNvPr id="21" name="Oval 20"/>
          <p:cNvSpPr/>
          <p:nvPr/>
        </p:nvSpPr>
        <p:spPr>
          <a:xfrm>
            <a:off x="4828032" y="292608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92624" y="2852928"/>
            <a:ext cx="2532888" cy="29260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currentRootVectorHash</a:t>
            </a:r>
          </a:p>
        </p:txBody>
      </p:sp>
      <p:sp>
        <p:nvSpPr>
          <p:cNvPr id="23" name="Oval 22"/>
          <p:cNvSpPr/>
          <p:nvPr/>
        </p:nvSpPr>
        <p:spPr>
          <a:xfrm>
            <a:off x="4828032" y="324612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92624" y="3172968"/>
            <a:ext cx="2532888" cy="29260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function metadata proof</a:t>
            </a:r>
          </a:p>
        </p:txBody>
      </p:sp>
      <p:sp>
        <p:nvSpPr>
          <p:cNvPr id="25" name="Oval 24"/>
          <p:cNvSpPr/>
          <p:nvPr/>
        </p:nvSpPr>
        <p:spPr>
          <a:xfrm>
            <a:off x="4828032" y="356616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92624" y="3493008"/>
            <a:ext cx="2532888" cy="29260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preprocess hash</a:t>
            </a:r>
          </a:p>
        </p:txBody>
      </p:sp>
      <p:sp>
        <p:nvSpPr>
          <p:cNvPr id="27" name="Oval 26"/>
          <p:cNvSpPr/>
          <p:nvPr/>
        </p:nvSpPr>
        <p:spPr>
          <a:xfrm>
            <a:off x="4828032" y="388620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92624" y="3813048"/>
            <a:ext cx="2532888" cy="29260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aPubBlockHash</a:t>
            </a:r>
          </a:p>
        </p:txBody>
      </p:sp>
      <p:sp>
        <p:nvSpPr>
          <p:cNvPr id="29" name="Oval 28"/>
          <p:cNvSpPr/>
          <p:nvPr/>
        </p:nvSpPr>
        <p:spPr>
          <a:xfrm>
            <a:off x="4828032" y="420624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92624" y="4133087"/>
            <a:ext cx="2532888" cy="29260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Tokamak / Groth verifier result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3648" y="2139696"/>
            <a:ext cx="2542032" cy="2578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51392" y="2377440"/>
            <a:ext cx="20116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pple SD Gothic Neo"/>
              </a:defRPr>
            </a:pPr>
            <a:r>
              <a:t>남는 신뢰 가정</a:t>
            </a:r>
          </a:p>
        </p:txBody>
      </p:sp>
      <p:sp>
        <p:nvSpPr>
          <p:cNvPr id="33" name="Oval 32"/>
          <p:cNvSpPr/>
          <p:nvPr/>
        </p:nvSpPr>
        <p:spPr>
          <a:xfrm>
            <a:off x="8924544" y="292608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89136" y="2852928"/>
            <a:ext cx="166420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verifier와 circuit correctness</a:t>
            </a:r>
          </a:p>
        </p:txBody>
      </p:sp>
      <p:sp>
        <p:nvSpPr>
          <p:cNvPr id="35" name="Oval 34"/>
          <p:cNvSpPr/>
          <p:nvPr/>
        </p:nvSpPr>
        <p:spPr>
          <a:xfrm>
            <a:off x="8924544" y="329184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3218688"/>
            <a:ext cx="166420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등록 metadata의 정확성</a:t>
            </a:r>
          </a:p>
        </p:txBody>
      </p:sp>
      <p:sp>
        <p:nvSpPr>
          <p:cNvPr id="37" name="Oval 36"/>
          <p:cNvSpPr/>
          <p:nvPr/>
        </p:nvSpPr>
        <p:spPr>
          <a:xfrm>
            <a:off x="8924544" y="365760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89136" y="3584448"/>
            <a:ext cx="166420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upgrade/admin governance</a:t>
            </a:r>
          </a:p>
        </p:txBody>
      </p:sp>
      <p:sp>
        <p:nvSpPr>
          <p:cNvPr id="39" name="Oval 38"/>
          <p:cNvSpPr/>
          <p:nvPr/>
        </p:nvSpPr>
        <p:spPr>
          <a:xfrm>
            <a:off x="8924544" y="402336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89136" y="3950208"/>
            <a:ext cx="1664208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recovery availability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" y="5285232"/>
            <a:ext cx="10113264" cy="438912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34440" y="5404104"/>
            <a:ext cx="9656064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ple SD Gothic Neo"/>
              </a:defRPr>
            </a:pPr>
            <a:r>
              <a:t>결론: runtime actor trust는 낮지만, cryptography implementation, metadata registration, governance control에는 신뢰가 집중된다.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PRIVACY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3400" b="1">
                <a:solidFill>
                  <a:srgbClr val="101828"/>
                </a:solidFill>
                <a:latin typeface="Apple SD Gothic Neo"/>
              </a:defRPr>
            </a:pPr>
            <a:r>
              <a:t>프라이버시는 어디까지 브릿지의 책임인가?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브릿지는 privacy를 자동 생성하지 않는다. DApp이 공개할 정보와 숨길 정보를 프로그램해야 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84831"/>
            <a:ext cx="3182112" cy="2615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340864"/>
            <a:ext cx="25603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Apple SD Gothic Neo"/>
              </a:defRPr>
            </a:pPr>
            <a:r>
              <a:t>브릿지가 집행하는 것</a:t>
            </a:r>
          </a:p>
        </p:txBody>
      </p:sp>
      <p:sp>
        <p:nvSpPr>
          <p:cNvPr id="11" name="Oval 10"/>
          <p:cNvSpPr/>
          <p:nvPr/>
        </p:nvSpPr>
        <p:spPr>
          <a:xfrm>
            <a:off x="1152144" y="288950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16736" y="2816352"/>
            <a:ext cx="2249424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registered function만 실행</a:t>
            </a:r>
          </a:p>
        </p:txBody>
      </p:sp>
      <p:sp>
        <p:nvSpPr>
          <p:cNvPr id="13" name="Oval 12"/>
          <p:cNvSpPr/>
          <p:nvPr/>
        </p:nvSpPr>
        <p:spPr>
          <a:xfrm>
            <a:off x="1152144" y="324612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6736" y="3172968"/>
            <a:ext cx="2249424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허용된 storage-write만 관찰</a:t>
            </a:r>
          </a:p>
        </p:txBody>
      </p:sp>
      <p:sp>
        <p:nvSpPr>
          <p:cNvPr id="15" name="Oval 14"/>
          <p:cNvSpPr/>
          <p:nvPr/>
        </p:nvSpPr>
        <p:spPr>
          <a:xfrm>
            <a:off x="1152144" y="360273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6736" y="3529584"/>
            <a:ext cx="2249424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public input layout 해석</a:t>
            </a:r>
          </a:p>
        </p:txBody>
      </p:sp>
      <p:sp>
        <p:nvSpPr>
          <p:cNvPr id="17" name="Oval 16"/>
          <p:cNvSpPr/>
          <p:nvPr/>
        </p:nvSpPr>
        <p:spPr>
          <a:xfrm>
            <a:off x="1152144" y="395935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16736" y="3886200"/>
            <a:ext cx="2249424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accepted transition만 기록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17136" y="2084831"/>
            <a:ext cx="3182112" cy="2615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2340864"/>
            <a:ext cx="25603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21A67A"/>
                </a:solidFill>
                <a:latin typeface="Apple SD Gothic Neo"/>
              </a:defRPr>
            </a:pPr>
            <a:r>
              <a:t>DApp이 보장해야 하는 것</a:t>
            </a:r>
          </a:p>
        </p:txBody>
      </p:sp>
      <p:sp>
        <p:nvSpPr>
          <p:cNvPr id="21" name="Oval 20"/>
          <p:cNvSpPr/>
          <p:nvPr/>
        </p:nvSpPr>
        <p:spPr>
          <a:xfrm>
            <a:off x="4846320" y="2889504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0912" y="2816352"/>
            <a:ext cx="2249424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private witness가 public input에 새지 않음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0" y="3246120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912" y="3172968"/>
            <a:ext cx="2249424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event가 의미를 과다 노출하지 않음</a:t>
            </a:r>
          </a:p>
        </p:txBody>
      </p:sp>
      <p:sp>
        <p:nvSpPr>
          <p:cNvPr id="25" name="Oval 24"/>
          <p:cNvSpPr/>
          <p:nvPr/>
        </p:nvSpPr>
        <p:spPr>
          <a:xfrm>
            <a:off x="4846320" y="3602736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3529584"/>
            <a:ext cx="2249424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note encryption과 key management</a:t>
            </a:r>
          </a:p>
        </p:txBody>
      </p:sp>
      <p:sp>
        <p:nvSpPr>
          <p:cNvPr id="27" name="Oval 26"/>
          <p:cNvSpPr/>
          <p:nvPr/>
        </p:nvSpPr>
        <p:spPr>
          <a:xfrm>
            <a:off x="4846320" y="3959352"/>
            <a:ext cx="73152" cy="73152"/>
          </a:xfrm>
          <a:prstGeom prst="ellipse">
            <a:avLst/>
          </a:prstGeom>
          <a:solidFill>
            <a:srgbClr val="21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10912" y="3886200"/>
            <a:ext cx="2249424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client workflow의 unlinkability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11312" y="2084831"/>
            <a:ext cx="2907792" cy="2615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49056" y="2340864"/>
            <a:ext cx="22494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pple SD Gothic Neo"/>
              </a:defRPr>
            </a:pPr>
            <a:r>
              <a:t>그래도 보이는 것</a:t>
            </a:r>
          </a:p>
        </p:txBody>
      </p:sp>
      <p:sp>
        <p:nvSpPr>
          <p:cNvPr id="31" name="Oval 30"/>
          <p:cNvSpPr/>
          <p:nvPr/>
        </p:nvSpPr>
        <p:spPr>
          <a:xfrm>
            <a:off x="8522208" y="2889504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2816352"/>
            <a:ext cx="1984248" cy="29260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join / deposit / withdraw / exit</a:t>
            </a:r>
          </a:p>
        </p:txBody>
      </p:sp>
      <p:sp>
        <p:nvSpPr>
          <p:cNvPr id="33" name="Oval 32"/>
          <p:cNvSpPr/>
          <p:nvPr/>
        </p:nvSpPr>
        <p:spPr>
          <a:xfrm>
            <a:off x="8522208" y="3209544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3136392"/>
            <a:ext cx="1984248" cy="29260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root movement</a:t>
            </a:r>
          </a:p>
        </p:txBody>
      </p:sp>
      <p:sp>
        <p:nvSpPr>
          <p:cNvPr id="35" name="Oval 34"/>
          <p:cNvSpPr/>
          <p:nvPr/>
        </p:nvSpPr>
        <p:spPr>
          <a:xfrm>
            <a:off x="8522208" y="3529584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3456432"/>
            <a:ext cx="1984248" cy="29260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commitment / nullifier</a:t>
            </a:r>
          </a:p>
        </p:txBody>
      </p:sp>
      <p:sp>
        <p:nvSpPr>
          <p:cNvPr id="37" name="Oval 36"/>
          <p:cNvSpPr/>
          <p:nvPr/>
        </p:nvSpPr>
        <p:spPr>
          <a:xfrm>
            <a:off x="8522208" y="3849624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3776472"/>
            <a:ext cx="1984248" cy="29260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encrypted note delivery</a:t>
            </a:r>
          </a:p>
        </p:txBody>
      </p:sp>
      <p:sp>
        <p:nvSpPr>
          <p:cNvPr id="39" name="Oval 38"/>
          <p:cNvSpPr/>
          <p:nvPr/>
        </p:nvSpPr>
        <p:spPr>
          <a:xfrm>
            <a:off x="8522208" y="4169664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4096512"/>
            <a:ext cx="1984248" cy="29260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1B1F2A"/>
                </a:solidFill>
                <a:latin typeface="Apple SD Gothic Neo"/>
              </a:defRPr>
            </a:pPr>
            <a:r>
              <a:t>timing과 edge metadata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" y="5285232"/>
            <a:ext cx="10113264" cy="438912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34440" y="5404104"/>
            <a:ext cx="9656064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ple SD Gothic Neo"/>
              </a:defRPr>
            </a:pPr>
            <a:r>
              <a:t>결론: privacy guarantee는 bridge-wide property가 아니라 DApp-programmed property다.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LIFECYCLE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3400" b="1">
                <a:solidFill>
                  <a:srgbClr val="101828"/>
                </a:solidFill>
                <a:latin typeface="Apple SD Gothic Neo"/>
              </a:defRPr>
            </a:pPr>
            <a:r>
              <a:t>Finite Leaf와 Channel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finite Merkle tree는 key collision risk를 만들고, join toll refund schedule은 slot 점유 비용을 시간 함수로 만든다.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048256"/>
            <a:ext cx="4645152" cy="3346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267712"/>
            <a:ext cx="402336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1">
                <a:solidFill>
                  <a:srgbClr val="1B1F2A"/>
                </a:solidFill>
                <a:latin typeface="Apple SD Gothic Neo"/>
              </a:defRPr>
            </a:pPr>
            <a:r>
              <a:t>현재 구현의 leaf projection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2670048"/>
            <a:ext cx="4059936" cy="786384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816352"/>
            <a:ext cx="3749039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N = 2^d,   d = 36</a:t>
            </a:r>
          </a:p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LeafIndex(k) = k mod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85032"/>
            <a:ext cx="411480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고정된 future nullifier leaf에 대해, 미래 storage key가 Poisson rate λ로 도착하면: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4059936"/>
            <a:ext cx="4059936" cy="51206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15384"/>
            <a:ext cx="384048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B1F2A"/>
                </a:solidFill>
                <a:latin typeface="Apple SD Gothic Neo"/>
              </a:defRPr>
            </a:pPr>
            <a:r>
              <a:t>P_collision(t) = 1 - exp(-λ · 1440t · 2^-d)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718304"/>
            <a:ext cx="40690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t는 days 단위. 그래프는 λ = 1 leaf/minute 모델이며, 보라색 선이 current d = 36이다.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2029968"/>
            <a:ext cx="5413248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ollision-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2176272"/>
            <a:ext cx="5074920" cy="307238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69264" y="5532120"/>
            <a:ext cx="10222992" cy="493776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5678424"/>
            <a:ext cx="9893808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ple SD Gothic Neo"/>
              </a:defRPr>
            </a:pPr>
            <a:r>
              <a:t>refund = paidJoinToll × bps(elapsed) / 10,000    |    default bps: ≤6h 75%, ≤24h 50%, ≤3d 25%, &gt;3d 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5175504"/>
            <a:ext cx="448056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출처: review + BridgeCore/ChannelManager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3400" b="1">
                <a:solidFill>
                  <a:srgbClr val="101828"/>
                </a:solidFill>
                <a:latin typeface="Apple SD Gothic Neo"/>
              </a:defRPr>
            </a:pPr>
            <a:r>
              <a:t>기억해야 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Channels는 validity-proven DApp-specific execution을 위한 bridge fabric이다.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27</a:t>
            </a:r>
          </a:p>
        </p:txBody>
      </p:sp>
      <p:sp>
        <p:nvSpPr>
          <p:cNvPr id="9" name="Oval 8"/>
          <p:cNvSpPr/>
          <p:nvPr/>
        </p:nvSpPr>
        <p:spPr>
          <a:xfrm>
            <a:off x="1216152" y="237744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0744" y="2304288"/>
            <a:ext cx="9162288" cy="5029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700" b="0">
                <a:solidFill>
                  <a:srgbClr val="1B1F2A"/>
                </a:solidFill>
                <a:latin typeface="Apple SD Gothic Neo"/>
              </a:defRPr>
            </a:pPr>
            <a:r>
              <a:t>Ethereum은 custody와 validity anchor로 남는다.</a:t>
            </a:r>
          </a:p>
        </p:txBody>
      </p:sp>
      <p:sp>
        <p:nvSpPr>
          <p:cNvPr id="11" name="Oval 10"/>
          <p:cNvSpPr/>
          <p:nvPr/>
        </p:nvSpPr>
        <p:spPr>
          <a:xfrm>
            <a:off x="1216152" y="290779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0744" y="2834640"/>
            <a:ext cx="9162288" cy="5029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700" b="0">
                <a:solidFill>
                  <a:srgbClr val="1B1F2A"/>
                </a:solidFill>
                <a:latin typeface="Apple SD Gothic Neo"/>
              </a:defRPr>
            </a:pPr>
            <a:r>
              <a:t>브릿지는 arbitrary ABI interpretation이 아니라 registered metadata로 실행을 admission한다.</a:t>
            </a:r>
          </a:p>
        </p:txBody>
      </p:sp>
      <p:sp>
        <p:nvSpPr>
          <p:cNvPr id="13" name="Oval 12"/>
          <p:cNvSpPr/>
          <p:nvPr/>
        </p:nvSpPr>
        <p:spPr>
          <a:xfrm>
            <a:off x="1216152" y="343814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744" y="3364991"/>
            <a:ext cx="9162288" cy="5029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700" b="0">
                <a:solidFill>
                  <a:srgbClr val="1B1F2A"/>
                </a:solidFill>
                <a:latin typeface="Apple SD Gothic Neo"/>
              </a:defRPr>
            </a:pPr>
            <a:r>
              <a:t>각 채널은 DApp policy, verifier binding, function root, storage vector를 snapshot한다.</a:t>
            </a:r>
          </a:p>
        </p:txBody>
      </p:sp>
      <p:sp>
        <p:nvSpPr>
          <p:cNvPr id="15" name="Oval 14"/>
          <p:cNvSpPr/>
          <p:nvPr/>
        </p:nvSpPr>
        <p:spPr>
          <a:xfrm>
            <a:off x="1216152" y="396849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0744" y="3895344"/>
            <a:ext cx="9162288" cy="5029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700" b="0">
                <a:solidFill>
                  <a:srgbClr val="1B1F2A"/>
                </a:solidFill>
                <a:latin typeface="Apple SD Gothic Neo"/>
              </a:defRPr>
            </a:pPr>
            <a:r>
              <a:t>Tokamak proof와 Groth16 accounting proof는 서로 다른 bridge responsibility를 맡는다.</a:t>
            </a:r>
          </a:p>
        </p:txBody>
      </p:sp>
      <p:sp>
        <p:nvSpPr>
          <p:cNvPr id="17" name="Oval 16"/>
          <p:cNvSpPr/>
          <p:nvPr/>
        </p:nvSpPr>
        <p:spPr>
          <a:xfrm>
            <a:off x="1216152" y="449884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80744" y="4425696"/>
            <a:ext cx="9162288" cy="5029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700" b="0">
                <a:solidFill>
                  <a:srgbClr val="1B1F2A"/>
                </a:solidFill>
                <a:latin typeface="Apple SD Gothic Neo"/>
              </a:defRPr>
            </a:pPr>
            <a:r>
              <a:t>private-state는 공개 L1 entry/exit 위에서 DApp-programmed privacy를 보여준다.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5413248"/>
            <a:ext cx="9253728" cy="475488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19072" y="5550408"/>
            <a:ext cx="874166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ple SD Gothic Neo"/>
              </a:defRPr>
            </a:pPr>
            <a:r>
              <a:t>핵심 질문은 proof가 verify되는가뿐 아니라, 어떤 policy가 그 proof에 의미를 부여하는가이다.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pple SD Gothic Neo"/>
              </a:defRPr>
            </a:pPr>
            <a:r>
              <a:t>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3400" b="1">
                <a:solidFill>
                  <a:srgbClr val="101828"/>
                </a:solidFill>
                <a:latin typeface="Apple SD Gothic Neo"/>
              </a:defRPr>
            </a:pPr>
            <a:r>
              <a:t>함께 보면 좋은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86384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5C667A"/>
                </a:solidFill>
                <a:latin typeface="Apple SD Gothic Neo"/>
              </a:defRPr>
            </a:pPr>
            <a:r>
              <a:t>브릿지 이해에 필요한 배경 자료를 모아둔다. 목록은 이후 확장한다.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64224"/>
            <a:ext cx="11109960" cy="9144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Tokamak Private App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9104" y="6419088"/>
            <a:ext cx="5029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1300" b="0">
                <a:solidFill>
                  <a:srgbClr val="5C667A"/>
                </a:solidFill>
                <a:latin typeface="Apple SD Gothic Neo"/>
              </a:defRPr>
            </a:pPr>
            <a: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157984"/>
            <a:ext cx="10387584" cy="1682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450592"/>
            <a:ext cx="475488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900" b="1">
                <a:solidFill>
                  <a:srgbClr val="2563EB"/>
                </a:solidFill>
                <a:latin typeface="Apple SD Gothic Neo"/>
              </a:defRPr>
            </a:pPr>
            <a:r>
              <a:t>Tokamak zk-EVM 설명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889504"/>
            <a:ext cx="813816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defRPr sz="1500" b="0">
                <a:solidFill>
                  <a:srgbClr val="1B1F2A"/>
                </a:solidFill>
                <a:latin typeface="Apple SD Gothic Neo"/>
              </a:defRPr>
            </a:pPr>
            <a:r>
              <a:t>Tokamak zk-EVM의 실행, 증명, compiler/verifier 배경을 이해하기 위한 발표 자료.</a:t>
            </a:r>
          </a:p>
        </p:txBody>
      </p:sp>
      <p:sp>
        <p:nvSpPr>
          <p:cNvPr id="12" name="Rounded Rectangle 11">
            <a:hlinkClick r:id="rId2"/>
          </p:cNvPr>
          <p:cNvSpPr/>
          <p:nvPr/>
        </p:nvSpPr>
        <p:spPr>
          <a:xfrm>
            <a:off x="8942832" y="2743200"/>
            <a:ext cx="1536192" cy="438912"/>
          </a:xfrm>
          <a:prstGeom prst="roundRect">
            <a:avLst/>
          </a:prstGeom>
          <a:solidFill>
            <a:srgbClr val="E9F1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2889504"/>
            <a:ext cx="1261872" cy="1463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50" b="1">
                <a:solidFill>
                  <a:srgbClr val="2563EB"/>
                </a:solidFill>
                <a:latin typeface="Apple SD Gothic Neo"/>
              </a:defRPr>
            </a:pPr>
            <a:r>
              <a:rPr>
                <a:hlinkClick r:id="rId2"/>
              </a:rPr>
              <a:t>Google Slides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" y="5285232"/>
            <a:ext cx="10222992" cy="493776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6" y="5431536"/>
            <a:ext cx="9710928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ple SD Gothic Neo"/>
              </a:defRPr>
            </a:pPr>
            <a:r>
              <a:t>추가 자료는 같은 형식으로 계속 확장한다.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