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8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424927" y="0"/>
            <a:ext cx="4773168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909560" y="768096"/>
            <a:ext cx="3145536" cy="877824"/>
          </a:xfrm>
          <a:prstGeom prst="roundRect">
            <a:avLst/>
          </a:prstGeom>
          <a:solidFill>
            <a:srgbClr val="243B63"/>
          </a:solidFill>
          <a:ln w="12700">
            <a:solidFill>
              <a:srgbClr val="4F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668512" y="2240280"/>
            <a:ext cx="2478024" cy="877824"/>
          </a:xfrm>
          <a:prstGeom prst="roundRect">
            <a:avLst/>
          </a:prstGeom>
          <a:solidFill>
            <a:srgbClr val="173F46"/>
          </a:solidFill>
          <a:ln w="12700">
            <a:solidFill>
              <a:srgbClr val="44C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17536" y="3712463"/>
            <a:ext cx="3337560" cy="877824"/>
          </a:xfrm>
          <a:prstGeom prst="roundRect">
            <a:avLst/>
          </a:prstGeom>
          <a:solidFill>
            <a:srgbClr val="254637"/>
          </a:solidFill>
          <a:ln w="12700">
            <a:solidFill>
              <a:srgbClr val="40C5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9427464" y="1645920"/>
            <a:ext cx="0" cy="594360"/>
          </a:xfrm>
          <a:prstGeom prst="line">
            <a:avLst/>
          </a:prstGeom>
          <a:ln w="25400">
            <a:solidFill>
              <a:srgbClr val="93C5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9802368" y="3118104"/>
            <a:ext cx="0" cy="594359"/>
          </a:xfrm>
          <a:prstGeom prst="line">
            <a:avLst/>
          </a:prstGeom>
          <a:ln w="25400">
            <a:solidFill>
              <a:srgbClr val="7DD3F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40080" y="1005840"/>
            <a:ext cx="66751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157984"/>
            <a:ext cx="6217920" cy="5669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0">
                <a:solidFill>
                  <a:srgbClr val="CFD8E8"/>
                </a:solidFill>
                <a:latin typeface="Apple SD Gothic Neo"/>
              </a:defRPr>
            </a:pPr>
            <a:r>
              <a:t>Ethereum에 정산되는 자산을 기준으로</a:t>
            </a:r>
          </a:p>
          <a:p>
            <a:pPr>
              <a:defRPr sz="1700" b="0">
                <a:solidFill>
                  <a:srgbClr val="CFD8E8"/>
                </a:solidFill>
                <a:latin typeface="Apple SD Gothic Neo"/>
              </a:defRPr>
            </a:pPr>
            <a:r>
              <a:t>DApp별 프라이버시 실행 채널을 구성하는 브릿지 모델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227832"/>
            <a:ext cx="1444752" cy="29260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3291839"/>
            <a:ext cx="138988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Apple SD Gothic Neo"/>
              </a:defRPr>
            </a:pPr>
            <a:r>
              <a:t>Ethereum 정산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304288" y="3227832"/>
            <a:ext cx="1645920" cy="292608"/>
          </a:xfrm>
          <a:prstGeom prst="round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31720" y="3291839"/>
            <a:ext cx="1591056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Apple SD Gothic Neo"/>
              </a:defRPr>
            </a:pPr>
            <a:r>
              <a:t>DApp 정책 스냅샷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33087" y="3227832"/>
            <a:ext cx="1508760" cy="292608"/>
          </a:xfrm>
          <a:prstGeom prst="roundRect">
            <a:avLst/>
          </a:prstGeom>
          <a:solidFill>
            <a:srgbClr val="00A6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60520" y="3291839"/>
            <a:ext cx="1453895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Apple SD Gothic Neo"/>
              </a:defRPr>
            </a:pPr>
            <a:r>
              <a:t>증명 기반 상태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760720"/>
            <a:ext cx="594360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AEBAD0"/>
                </a:solidFill>
                <a:latin typeface="Apple SD Gothic Neo"/>
              </a:defRPr>
            </a:pPr>
            <a:r>
              <a:t>대상: 대학원 연구자와 프로토콜 개발자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1097280"/>
            <a:ext cx="274320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pple SD Gothic Neo"/>
              </a:defRPr>
            </a:pPr>
            <a:r>
              <a:t>BridgeCore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0" y="2587752"/>
            <a:ext cx="201168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pple SD Gothic Neo"/>
              </a:defRPr>
            </a:pPr>
            <a:r>
              <a:t>ChannelManager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92440" y="4069080"/>
            <a:ext cx="265176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pple SD Gothic Neo"/>
              </a:defRPr>
            </a:pPr>
            <a:r>
              <a:t>DApp State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배경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왜 App-Specific Channel인가?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실행 범위를 DApp 단위로 좁히면 프라이버시, 자산 보관, 증명의 의미를 더 명확하게 정의할 수 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" y="2331720"/>
            <a:ext cx="333756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4088" y="2331720"/>
            <a:ext cx="45720" cy="1417320"/>
          </a:xfrm>
          <a:prstGeom prst="rect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6" y="2496312"/>
            <a:ext cx="2935224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자산 보관의 모호성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" y="2880360"/>
            <a:ext cx="2935224" cy="7589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프라이빗 실행이 canonical asset을 불투명한 운영자 보관 모델로 옮기면 정산 신뢰 경계가 흐려진다.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2331720"/>
            <a:ext cx="333756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34840" y="2331720"/>
            <a:ext cx="45720" cy="14173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7" y="2496312"/>
            <a:ext cx="2935224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증명 의미의 모호성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7" y="2880360"/>
            <a:ext cx="2935224" cy="7589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증명은 어떤 함수, 저장소 표면, public input layout을 설명하는지 브릿지가 알 때만 의미가 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56448" y="2331720"/>
            <a:ext cx="333756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56448" y="2331720"/>
            <a:ext cx="45720" cy="1417320"/>
          </a:xfrm>
          <a:prstGeom prst="rect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57616" y="2496312"/>
            <a:ext cx="2935224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프라이버시 과잉 주장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57616" y="2880360"/>
            <a:ext cx="2935224" cy="7589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브릿지는 공개 표면을 줄일 수 있지만, 의미론적 프라이버시는 각 DApp이 직접 프로그램해야 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088" y="4297680"/>
            <a:ext cx="228600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설계 응답</a:t>
            </a:r>
          </a:p>
        </p:txBody>
      </p:sp>
      <p:sp>
        <p:nvSpPr>
          <p:cNvPr id="22" name="Oval 21"/>
          <p:cNvSpPr/>
          <p:nvPr/>
        </p:nvSpPr>
        <p:spPr>
          <a:xfrm>
            <a:off x="786384" y="4782312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0976" y="4709160"/>
            <a:ext cx="9162288" cy="3749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canonical custody와 proof acceptance를 Ethereum에 둔다.</a:t>
            </a:r>
          </a:p>
        </p:txBody>
      </p:sp>
      <p:sp>
        <p:nvSpPr>
          <p:cNvPr id="24" name="Oval 23"/>
          <p:cNvSpPr/>
          <p:nvPr/>
        </p:nvSpPr>
        <p:spPr>
          <a:xfrm>
            <a:off x="786384" y="5184648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50976" y="5111496"/>
            <a:ext cx="9162288" cy="3749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브릿지가 관리하는 DApp metadata로 실행을 admission한다.</a:t>
            </a:r>
          </a:p>
        </p:txBody>
      </p:sp>
      <p:sp>
        <p:nvSpPr>
          <p:cNvPr id="26" name="Oval 25"/>
          <p:cNvSpPr/>
          <p:nvPr/>
        </p:nvSpPr>
        <p:spPr>
          <a:xfrm>
            <a:off x="786384" y="558698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50976" y="5513832"/>
            <a:ext cx="9162288" cy="3749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사용자가 참여하는 시점의 channel policy를 스냅샷으로 고정한다.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목적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핵심 테제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사용자는 mutable generic rollup이 아니라 특정 channel policy에 참여한다.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240280"/>
            <a:ext cx="4828032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606040"/>
            <a:ext cx="40233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D94A4A"/>
                </a:solidFill>
                <a:latin typeface="Apple SD Gothic Neo"/>
              </a:defRPr>
            </a:pPr>
            <a:r>
              <a:t>Generic rollup 관점</a:t>
            </a:r>
          </a:p>
        </p:txBody>
      </p:sp>
      <p:sp>
        <p:nvSpPr>
          <p:cNvPr id="11" name="Oval 10"/>
          <p:cNvSpPr/>
          <p:nvPr/>
        </p:nvSpPr>
        <p:spPr>
          <a:xfrm>
            <a:off x="1078992" y="3209544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3584" y="3136392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하나의 전역 실행 환경</a:t>
            </a:r>
          </a:p>
        </p:txBody>
      </p:sp>
      <p:sp>
        <p:nvSpPr>
          <p:cNvPr id="13" name="Oval 12"/>
          <p:cNvSpPr/>
          <p:nvPr/>
        </p:nvSpPr>
        <p:spPr>
          <a:xfrm>
            <a:off x="1078992" y="3666744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43584" y="3593592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Application policy가 rollup policy의 하위 문제로 밀림</a:t>
            </a:r>
          </a:p>
        </p:txBody>
      </p:sp>
      <p:sp>
        <p:nvSpPr>
          <p:cNvPr id="15" name="Oval 14"/>
          <p:cNvSpPr/>
          <p:nvPr/>
        </p:nvSpPr>
        <p:spPr>
          <a:xfrm>
            <a:off x="1078992" y="4123944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43584" y="4050791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프라이버시 가정이 암묵화되기 쉬움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56832" y="2240280"/>
            <a:ext cx="4828032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22592" y="2606040"/>
            <a:ext cx="40233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21A67A"/>
                </a:solidFill>
                <a:latin typeface="Apple SD Gothic Neo"/>
              </a:defRPr>
            </a:pPr>
            <a:r>
              <a:t>Private App Channel 관점</a:t>
            </a:r>
          </a:p>
        </p:txBody>
      </p:sp>
      <p:sp>
        <p:nvSpPr>
          <p:cNvPr id="19" name="Oval 18"/>
          <p:cNvSpPr/>
          <p:nvPr/>
        </p:nvSpPr>
        <p:spPr>
          <a:xfrm>
            <a:off x="7040880" y="320954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05472" y="3136392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채널마다 하나의 registered DApp</a:t>
            </a:r>
          </a:p>
        </p:txBody>
      </p:sp>
      <p:sp>
        <p:nvSpPr>
          <p:cNvPr id="21" name="Oval 20"/>
          <p:cNvSpPr/>
          <p:nvPr/>
        </p:nvSpPr>
        <p:spPr>
          <a:xfrm>
            <a:off x="7040880" y="366674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05472" y="3593592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생성 시점의 immutable policy snapshot</a:t>
            </a:r>
          </a:p>
        </p:txBody>
      </p:sp>
      <p:sp>
        <p:nvSpPr>
          <p:cNvPr id="23" name="Oval 22"/>
          <p:cNvSpPr/>
          <p:nvPr/>
        </p:nvSpPr>
        <p:spPr>
          <a:xfrm>
            <a:off x="7040880" y="412394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05472" y="4050791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DApp이 직접 설계하는 disclosure model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650992" y="3456432"/>
            <a:ext cx="768096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389120" y="5074920"/>
            <a:ext cx="3383280" cy="2286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policy choice가 명시적인 사용자 선택이 된다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시스템 모델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참여자, 컨트랙트, 상태 도메인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 fabric은 공유되지만 각 채널은 DApp 단위의 실행 도메인이다.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2926080"/>
            <a:ext cx="1810512" cy="658368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999232"/>
            <a:ext cx="1682495" cy="512063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User / CLI / Prover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55264" y="2139696"/>
            <a:ext cx="1673352" cy="603504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19272" y="2212848"/>
            <a:ext cx="1545336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BridgeCore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55264" y="3246120"/>
            <a:ext cx="1673352" cy="603504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19272" y="3319272"/>
            <a:ext cx="1545336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DAppManager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55264" y="4352544"/>
            <a:ext cx="1673352" cy="603504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19272" y="4425696"/>
            <a:ext cx="1545336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L1TokenVault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33872" y="2926080"/>
            <a:ext cx="1993392" cy="658368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97880" y="2999232"/>
            <a:ext cx="1865376" cy="512063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ChannelManager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31936" y="2286000"/>
            <a:ext cx="1883664" cy="548640"/>
          </a:xfrm>
          <a:prstGeom prst="roundRect">
            <a:avLst/>
          </a:prstGeom>
          <a:solidFill>
            <a:srgbClr val="E8FB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95944" y="2359152"/>
            <a:ext cx="1755648" cy="402335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TokamakVerifier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631936" y="3611880"/>
            <a:ext cx="1883664" cy="548640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95944" y="3685032"/>
            <a:ext cx="1755648" cy="402335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Groth16Verifier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631936" y="4937760"/>
            <a:ext cx="1883664" cy="548640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95944" y="5010912"/>
            <a:ext cx="1755648" cy="402335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DApp storage vector</a:t>
            </a:r>
          </a:p>
        </p:txBody>
      </p:sp>
      <p:cxnSp>
        <p:nvCxnSpPr>
          <p:cNvPr id="25" name="Connector 24"/>
          <p:cNvCxnSpPr/>
          <p:nvPr/>
        </p:nvCxnSpPr>
        <p:spPr>
          <a:xfrm flipV="1">
            <a:off x="2478024" y="2441448"/>
            <a:ext cx="777240" cy="813816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2478024" y="3255264"/>
            <a:ext cx="777240" cy="292608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928616" y="2441448"/>
            <a:ext cx="905256" cy="813816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4928616" y="3255264"/>
            <a:ext cx="905256" cy="292608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4928616" y="3255264"/>
            <a:ext cx="905256" cy="1399032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7827264" y="2560320"/>
            <a:ext cx="804672" cy="694944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827264" y="3255264"/>
            <a:ext cx="804672" cy="630936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7827264" y="3255264"/>
            <a:ext cx="804672" cy="1956816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2926080" y="1847088"/>
            <a:ext cx="2697480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5C667A"/>
                </a:solidFill>
                <a:latin typeface="Apple SD Gothic Neo"/>
              </a:defRPr>
            </a:pPr>
            <a:r>
              <a:t>공유 L1 control plane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59552" y="2395728"/>
            <a:ext cx="2697480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5C667A"/>
                </a:solidFill>
                <a:latin typeface="Apple SD Gothic Neo"/>
              </a:defRPr>
            </a:pPr>
            <a:r>
              <a:t>채널별 실행 표면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연구 차별성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무엇이 다른가?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브릿지는 admission 시점에는 DApp-aware이고, 정산 시점에는 자산 보관 규칙을 일반화한다.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" y="2194560"/>
            <a:ext cx="3310128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4088" y="2194560"/>
            <a:ext cx="45720" cy="17373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6" y="2359152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Metadata-driven admission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" y="2743200"/>
            <a:ext cx="2907792" cy="10789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등록 metadata가 function selector, preprocess hash, storage root, public input offset에 대한 브릿지 vocabulary를 정의한다.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2194560"/>
            <a:ext cx="3310128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34840" y="2194560"/>
            <a:ext cx="45720" cy="1737360"/>
          </a:xfrm>
          <a:prstGeom prst="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7" y="2359152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Immutable channel policy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7" y="2743200"/>
            <a:ext cx="2907792" cy="10789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기존 채널은 생성 시점에 수락한 verifier snapshot, function root, managed storage vector, refund policy를 유지한다.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65592" y="2194560"/>
            <a:ext cx="3310128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65592" y="2194560"/>
            <a:ext cx="45720" cy="17373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Split proof roles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2743200"/>
            <a:ext cx="2907792" cy="10789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Tokamak proof는 DApp 실행을, Groth16 updateTree proof는 channel-token-vault accounting을 담당한다.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87552" y="4617720"/>
            <a:ext cx="10213848" cy="658368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34440" y="4773168"/>
            <a:ext cx="9738360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Apple SD Gothic Neo"/>
              </a:defRPr>
            </a:pPr>
            <a:r>
              <a:t>연구 관점: monolithic rollup 대신 validity proof, metadata admission, channel-local policy를 결합해 Ethereum 정산을 보존한다.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CHANNEL POLICY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채널 생성 시 무엇이 고정되는가?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채널은 사용자가 수락하려는 실행 문법을 스냅샷으로 보존한다.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" y="2221992"/>
            <a:ext cx="297180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60704" y="2404872"/>
            <a:ext cx="201168" cy="20116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99032" y="2386584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DApp metadata digest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62272" y="2221992"/>
            <a:ext cx="297180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626864" y="2404872"/>
            <a:ext cx="201168" cy="201168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65192" y="2386584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function metadata root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28431" y="2221992"/>
            <a:ext cx="297180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193023" y="2404872"/>
            <a:ext cx="201168" cy="20116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31352" y="2386584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verifier snapshot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" y="3191256"/>
            <a:ext cx="297180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60704" y="3374136"/>
            <a:ext cx="201168" cy="201168"/>
          </a:xfrm>
          <a:prstGeom prst="ellipse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99032" y="3355848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managed storage vector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62272" y="3191256"/>
            <a:ext cx="297180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626864" y="3374136"/>
            <a:ext cx="201168" cy="201168"/>
          </a:xfrm>
          <a:prstGeom prst="ellipse">
            <a:avLst/>
          </a:prstGeom>
          <a:solidFill>
            <a:srgbClr val="00A6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65192" y="3355848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token-vault index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28431" y="3191256"/>
            <a:ext cx="297180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193023" y="3374136"/>
            <a:ext cx="201168" cy="201168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31352" y="3355848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join toll / refund policy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6112" y="4160520"/>
            <a:ext cx="713232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60704" y="4343400"/>
            <a:ext cx="201168" cy="201168"/>
          </a:xfrm>
          <a:prstGeom prst="ellipse">
            <a:avLst/>
          </a:prstGeom>
          <a:solidFill>
            <a:srgbClr val="354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99032" y="4325112"/>
            <a:ext cx="649224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genesis aPubBlockHash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88720" y="5212080"/>
            <a:ext cx="9802368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이후 metadata나 verifier가 바뀌어도 이미 생성된 채널의 정책은 조용히 재작성되지 않는다.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브릿지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공유 Control Plane, 격리된 Channel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루트 컨트랙트는 custody와 admission을 조정하고, ChannelManager는 채널별 commitment를 추적한다.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" y="2212848"/>
            <a:ext cx="10789920" cy="1024128"/>
          </a:xfrm>
          <a:prstGeom prst="roundRect">
            <a:avLst/>
          </a:prstGeom>
          <a:solidFill>
            <a:srgbClr val="EAF0F8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377440"/>
            <a:ext cx="338328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공유 Ethereum Control Plane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9264" y="2770632"/>
            <a:ext cx="1993392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33272" y="2843784"/>
            <a:ext cx="1865376" cy="26517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BridgeCore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20440" y="2770632"/>
            <a:ext cx="1993392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4448" y="2843784"/>
            <a:ext cx="1865376" cy="26517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DAppManager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71616" y="2770632"/>
            <a:ext cx="1993392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35624" y="2843784"/>
            <a:ext cx="1865376" cy="26517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L1TokenVault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22792" y="2770632"/>
            <a:ext cx="1993392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0" y="2843784"/>
            <a:ext cx="1865376" cy="26517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ChannelDeployer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4088" y="3822191"/>
            <a:ext cx="10789920" cy="1115568"/>
          </a:xfrm>
          <a:prstGeom prst="roundRect">
            <a:avLst/>
          </a:prstGeom>
          <a:solidFill>
            <a:srgbClr val="F1F6F2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005072"/>
            <a:ext cx="365760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채널별 실행 도메인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80160" y="4407408"/>
            <a:ext cx="260604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44168" y="4480560"/>
            <a:ext cx="2478024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Channel A</a:t>
            </a:r>
          </a:p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ChannelManager + state commitment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286000" y="3236976"/>
            <a:ext cx="0" cy="585215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4617720" y="4407408"/>
            <a:ext cx="260604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81728" y="4480560"/>
            <a:ext cx="2478024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Channel B</a:t>
            </a:r>
          </a:p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ChannelManager + state commitment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623560" y="3236976"/>
            <a:ext cx="0" cy="585215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955279" y="4407408"/>
            <a:ext cx="260604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19288" y="4480560"/>
            <a:ext cx="2478024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Channel C</a:t>
            </a:r>
          </a:p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ChannelManager + state commitment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961120" y="3236976"/>
            <a:ext cx="0" cy="585215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024128" y="5321808"/>
            <a:ext cx="9985248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0">
                <a:solidFill>
                  <a:srgbClr val="5C667A"/>
                </a:solidFill>
                <a:latin typeface="Apple SD Gothic Neo"/>
              </a:defRPr>
            </a:pPr>
            <a:r>
              <a:t>기본 안전성은 isolation이다. 한 채널은 다른 채널이 수락한 상태 의미를 재작성할 수 없어야 한다.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DAPP 등록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Metadata가 Admission Boundary다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Solidity 함수 존재만으로는 부족하다. 브릿지는 등록된 proof vocabulary만 받아들인다.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2148840"/>
            <a:ext cx="4389120" cy="3063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2395728"/>
            <a:ext cx="31089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1B1F2A"/>
                </a:solidFill>
                <a:latin typeface="Apple SD Gothic Neo"/>
              </a:defRPr>
            </a:pPr>
            <a:r>
              <a:t>등록 payload</a:t>
            </a:r>
          </a:p>
        </p:txBody>
      </p:sp>
      <p:sp>
        <p:nvSpPr>
          <p:cNvPr id="11" name="Oval 10"/>
          <p:cNvSpPr/>
          <p:nvPr/>
        </p:nvSpPr>
        <p:spPr>
          <a:xfrm>
            <a:off x="1097280" y="294436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872" y="287121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managed storage vector</a:t>
            </a:r>
          </a:p>
        </p:txBody>
      </p:sp>
      <p:sp>
        <p:nvSpPr>
          <p:cNvPr id="13" name="Oval 12"/>
          <p:cNvSpPr/>
          <p:nvPr/>
        </p:nvSpPr>
        <p:spPr>
          <a:xfrm>
            <a:off x="1097280" y="321868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61872" y="314553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정확히 하나의 channel-token-vault storage</a:t>
            </a:r>
          </a:p>
        </p:txBody>
      </p:sp>
      <p:sp>
        <p:nvSpPr>
          <p:cNvPr id="15" name="Oval 14"/>
          <p:cNvSpPr/>
          <p:nvPr/>
        </p:nvSpPr>
        <p:spPr>
          <a:xfrm>
            <a:off x="1097280" y="349300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61872" y="341985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pre-allocated storage keys</a:t>
            </a:r>
          </a:p>
        </p:txBody>
      </p:sp>
      <p:sp>
        <p:nvSpPr>
          <p:cNvPr id="17" name="Oval 16"/>
          <p:cNvSpPr/>
          <p:nvPr/>
        </p:nvSpPr>
        <p:spPr>
          <a:xfrm>
            <a:off x="1097280" y="376732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61872" y="369417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user storage slots</a:t>
            </a:r>
          </a:p>
        </p:txBody>
      </p:sp>
      <p:sp>
        <p:nvSpPr>
          <p:cNvPr id="19" name="Oval 18"/>
          <p:cNvSpPr/>
          <p:nvPr/>
        </p:nvSpPr>
        <p:spPr>
          <a:xfrm>
            <a:off x="1097280" y="404164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61872" y="396849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supported function list</a:t>
            </a:r>
          </a:p>
        </p:txBody>
      </p:sp>
      <p:sp>
        <p:nvSpPr>
          <p:cNvPr id="21" name="Oval 20"/>
          <p:cNvSpPr/>
          <p:nvPr/>
        </p:nvSpPr>
        <p:spPr>
          <a:xfrm>
            <a:off x="1097280" y="431596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61872" y="424281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function별 preprocess hash</a:t>
            </a:r>
          </a:p>
        </p:txBody>
      </p:sp>
      <p:sp>
        <p:nvSpPr>
          <p:cNvPr id="23" name="Oval 22"/>
          <p:cNvSpPr/>
          <p:nvPr/>
        </p:nvSpPr>
        <p:spPr>
          <a:xfrm>
            <a:off x="1097280" y="459028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61872" y="451713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storage-write metadata</a:t>
            </a:r>
          </a:p>
        </p:txBody>
      </p:sp>
      <p:sp>
        <p:nvSpPr>
          <p:cNvPr id="25" name="Oval 24"/>
          <p:cNvSpPr/>
          <p:nvPr/>
        </p:nvSpPr>
        <p:spPr>
          <a:xfrm>
            <a:off x="1097280" y="486460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61872" y="479145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event-log metadata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64224" y="2148840"/>
            <a:ext cx="4389120" cy="3063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65976" y="2395728"/>
            <a:ext cx="31089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1B1F2A"/>
                </a:solidFill>
                <a:latin typeface="Apple SD Gothic Neo"/>
              </a:defRPr>
            </a:pPr>
            <a:r>
              <a:t>Runtime decision</a:t>
            </a:r>
          </a:p>
        </p:txBody>
      </p:sp>
      <p:sp>
        <p:nvSpPr>
          <p:cNvPr id="29" name="Oval 28"/>
          <p:cNvSpPr/>
          <p:nvPr/>
        </p:nvSpPr>
        <p:spPr>
          <a:xfrm>
            <a:off x="6739128" y="2953512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03720" y="2880360"/>
            <a:ext cx="31729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이 DApp이 등록되어 있는가?</a:t>
            </a:r>
          </a:p>
        </p:txBody>
      </p:sp>
      <p:sp>
        <p:nvSpPr>
          <p:cNvPr id="31" name="Oval 30"/>
          <p:cNvSpPr/>
          <p:nvPr/>
        </p:nvSpPr>
        <p:spPr>
          <a:xfrm>
            <a:off x="6739128" y="333756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03720" y="3264408"/>
            <a:ext cx="31729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function root가 admissible한가?</a:t>
            </a:r>
          </a:p>
        </p:txBody>
      </p:sp>
      <p:sp>
        <p:nvSpPr>
          <p:cNvPr id="33" name="Oval 32"/>
          <p:cNvSpPr/>
          <p:nvPr/>
        </p:nvSpPr>
        <p:spPr>
          <a:xfrm>
            <a:off x="6739128" y="3721607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903720" y="3648456"/>
            <a:ext cx="31729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preprocess hash가 일치하는가?</a:t>
            </a:r>
          </a:p>
        </p:txBody>
      </p:sp>
      <p:sp>
        <p:nvSpPr>
          <p:cNvPr id="35" name="Oval 34"/>
          <p:cNvSpPr/>
          <p:nvPr/>
        </p:nvSpPr>
        <p:spPr>
          <a:xfrm>
            <a:off x="6739128" y="4105656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903720" y="4032504"/>
            <a:ext cx="31729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storage-write index가 managed vector 안에 있는가?</a:t>
            </a:r>
          </a:p>
        </p:txBody>
      </p:sp>
      <p:sp>
        <p:nvSpPr>
          <p:cNvPr id="37" name="Oval 36"/>
          <p:cNvSpPr/>
          <p:nvPr/>
        </p:nvSpPr>
        <p:spPr>
          <a:xfrm>
            <a:off x="6739128" y="448970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903720" y="4416552"/>
            <a:ext cx="31729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event topic 수와 public input layout이 허용 범위인가?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257800" y="3657600"/>
            <a:ext cx="886968" cy="0"/>
          </a:xfrm>
          <a:prstGeom prst="line">
            <a:avLst/>
          </a:prstGeom>
          <a:ln w="254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채널 생성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Registered DApp에서 Live Channel로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DApp 등록 후에는 누구나 해당 metadata digest를 기대값으로 제시해 채널 생성을 요청할 수 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9</a:t>
            </a:r>
          </a:p>
        </p:txBody>
      </p:sp>
      <p:sp>
        <p:nvSpPr>
          <p:cNvPr id="9" name="Oval 8"/>
          <p:cNvSpPr/>
          <p:nvPr/>
        </p:nvSpPr>
        <p:spPr>
          <a:xfrm>
            <a:off x="1426464" y="2240280"/>
            <a:ext cx="512064" cy="51206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26464" y="2359152"/>
            <a:ext cx="512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ple SD Gothic Neo"/>
              </a:defRPr>
            </a:pPr>
            <a: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7824" y="2788920"/>
            <a:ext cx="16184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072384"/>
            <a:ext cx="1399032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metadata digest 확인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23744" y="3346704"/>
            <a:ext cx="402336" cy="0"/>
          </a:xfrm>
          <a:prstGeom prst="line">
            <a:avLst/>
          </a:prstGeom>
          <a:ln w="25400">
            <a:solidFill>
              <a:srgbClr val="5C6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3538728" y="2240280"/>
            <a:ext cx="512064" cy="512064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8728" y="2359152"/>
            <a:ext cx="512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ple SD Gothic Neo"/>
              </a:defRPr>
            </a:pPr>
            <a: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990088" y="2788920"/>
            <a:ext cx="16184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99816" y="3072384"/>
            <a:ext cx="1399032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leader와 asset binding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636008" y="3346704"/>
            <a:ext cx="402336" cy="0"/>
          </a:xfrm>
          <a:prstGeom prst="line">
            <a:avLst/>
          </a:prstGeom>
          <a:ln w="25400">
            <a:solidFill>
              <a:srgbClr val="5C6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5650992" y="2240280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50992" y="2359152"/>
            <a:ext cx="512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ple SD Gothic Neo"/>
              </a:defRPr>
            </a:pPr>
            <a:r>
              <a:t>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02352" y="2788920"/>
            <a:ext cx="16184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12080" y="3072384"/>
            <a:ext cx="1399032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verifier와 function root snapshot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748272" y="3346704"/>
            <a:ext cx="402336" cy="0"/>
          </a:xfrm>
          <a:prstGeom prst="line">
            <a:avLst/>
          </a:prstGeom>
          <a:ln w="25400">
            <a:solidFill>
              <a:srgbClr val="5C6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7763256" y="2240280"/>
            <a:ext cx="512064" cy="512064"/>
          </a:xfrm>
          <a:prstGeom prst="ellipse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63256" y="2359152"/>
            <a:ext cx="512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ple SD Gothic Neo"/>
              </a:defRPr>
            </a:pPr>
            <a:r>
              <a:t>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214616" y="2788920"/>
            <a:ext cx="16184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24344" y="3072384"/>
            <a:ext cx="1399032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ChannelManager 배포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860536" y="3346704"/>
            <a:ext cx="402336" cy="0"/>
          </a:xfrm>
          <a:prstGeom prst="line">
            <a:avLst/>
          </a:prstGeom>
          <a:ln w="25400">
            <a:solidFill>
              <a:srgbClr val="5C6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9875519" y="2240280"/>
            <a:ext cx="512064" cy="512064"/>
          </a:xfrm>
          <a:prstGeom prst="ellipse">
            <a:avLst/>
          </a:prstGeom>
          <a:solidFill>
            <a:srgbClr val="00A6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75519" y="2359152"/>
            <a:ext cx="512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ple SD Gothic Neo"/>
              </a:defRPr>
            </a:pPr>
            <a:r>
              <a:t>5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326880" y="2788920"/>
            <a:ext cx="16184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436607" y="3072384"/>
            <a:ext cx="1399032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root hash와 aPubBlockHash 초기화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98448" y="4690872"/>
            <a:ext cx="9601200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생성자는 exposed channel parameter만 선택한다. 실행 문법은 등록 metadata와 verifier snapshot에서 온다.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상태 전이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Proof-Backed Bridge Execution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L1 브릿지는 새 channel commitment를 받아들이기 전에 proof의 의미를 검증한다.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761488"/>
            <a:ext cx="1719072" cy="713232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834640"/>
            <a:ext cx="1591055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CLI가 proof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input bundle 구성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404872" y="3118104"/>
            <a:ext cx="420624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935224" y="2761488"/>
            <a:ext cx="1719072" cy="713232"/>
          </a:xfrm>
          <a:prstGeom prst="roundRect">
            <a:avLst/>
          </a:prstGeom>
          <a:solidFill>
            <a:srgbClr val="E8FB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99232" y="2834640"/>
            <a:ext cx="1591055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Tokamak proof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검증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654296" y="3118104"/>
            <a:ext cx="420624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184648" y="2761488"/>
            <a:ext cx="1719072" cy="713232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48656" y="2834640"/>
            <a:ext cx="1591055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metadata check가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public input 해석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903720" y="3118104"/>
            <a:ext cx="420624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7434071" y="2761488"/>
            <a:ext cx="1719072" cy="713232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79" y="2834640"/>
            <a:ext cx="1591055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root-vector hash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갱신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153143" y="3118104"/>
            <a:ext cx="420624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9683496" y="2761488"/>
            <a:ext cx="1719072" cy="713232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47504" y="2834640"/>
            <a:ext cx="1591055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observed write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이벤트 방출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691640" y="4434840"/>
            <a:ext cx="8796528" cy="98755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764792" y="4599431"/>
            <a:ext cx="2785872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ple SD Gothic Neo"/>
              </a:defRPr>
            </a:pPr>
            <a:r>
              <a:t>현재 상태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64792" y="4873752"/>
            <a:ext cx="2785872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H(R_current)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96968" y="4599431"/>
            <a:ext cx="2785872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ple SD Gothic Neo"/>
              </a:defRPr>
            </a:pPr>
            <a:r>
              <a:t>증명 주장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96968" y="4873752"/>
            <a:ext cx="2785872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pi validates 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623816" y="4572000"/>
            <a:ext cx="9144" cy="713232"/>
          </a:xfrm>
          <a:prstGeom prst="rect">
            <a:avLst/>
          </a:prstGeom>
          <a:solidFill>
            <a:srgbClr val="415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29144" y="4599431"/>
            <a:ext cx="2785872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ple SD Gothic Neo"/>
              </a:defRPr>
            </a:pPr>
            <a:r>
              <a:t>다음 상태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29144" y="4873752"/>
            <a:ext cx="2785872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H(R_updated)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555992" y="4572000"/>
            <a:ext cx="9144" cy="713232"/>
          </a:xfrm>
          <a:prstGeom prst="rect">
            <a:avLst/>
          </a:prstGeom>
          <a:solidFill>
            <a:srgbClr val="415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토큰 이동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Custody와 Accounting은 의도적으로 분리된다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canonical token은 공유 L1 vault에 남고, 채널 상태는 accounting과 note를 기록한다.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7824" y="2944368"/>
            <a:ext cx="1527048" cy="530352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3017520"/>
            <a:ext cx="1399031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L1 wallet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36976" y="2651760"/>
            <a:ext cx="2093976" cy="786384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00984" y="2724912"/>
            <a:ext cx="1965960" cy="640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L1TokenVault</a:t>
            </a:r>
          </a:p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canonical custody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17336" y="2651760"/>
            <a:ext cx="2176272" cy="786384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1344" y="2724912"/>
            <a:ext cx="2048255" cy="640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channelTokenVault</a:t>
            </a:r>
          </a:p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Merkle accounting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70848" y="2651760"/>
            <a:ext cx="2249424" cy="786384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34856" y="2724912"/>
            <a:ext cx="2121408" cy="640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Private-State DApp</a:t>
            </a:r>
          </a:p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liquid balance + notes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2404872" y="3044952"/>
            <a:ext cx="832104" cy="164592"/>
          </a:xfrm>
          <a:prstGeom prst="line">
            <a:avLst/>
          </a:prstGeom>
          <a:ln w="254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330952" y="3044952"/>
            <a:ext cx="786384" cy="0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293608" y="3044952"/>
            <a:ext cx="777240" cy="0"/>
          </a:xfrm>
          <a:prstGeom prst="line">
            <a:avLst/>
          </a:prstGeom>
          <a:ln w="25400">
            <a:solidFill>
              <a:srgbClr val="6D5B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280160" y="4462272"/>
            <a:ext cx="9637776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0">
                <a:solidFill>
                  <a:srgbClr val="5C667A"/>
                </a:solidFill>
                <a:latin typeface="Apple SD Gothic Neo"/>
              </a:defRPr>
            </a:pPr>
            <a:r>
              <a:t>fund/claim은 bridge-level available balance를 움직이고, deposit/withdraw channel은 Groth16 updateTree proof로 channel-token-vault root를 갱신한다.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72768" y="4983480"/>
            <a:ext cx="9052560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join toll은 별도 treasury에 기록되며, exit refund는 시간 감쇠 스케줄과 zero channel balance 조건을 따른다.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PRIVATE-STATE 예제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Bridge-Coupled zk-Note Payment DApp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private-state는 TON custody를 L1에 유지하면서 채널 로컬 상태에 balances, commitments, nullifiers를 기록한다.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9536" y="2331720"/>
            <a:ext cx="4572000" cy="17922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59536" y="2331720"/>
            <a:ext cx="45720" cy="1792224"/>
          </a:xfrm>
          <a:prstGeom prst="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0704" y="2496312"/>
            <a:ext cx="4169663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L2AccountingVault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" y="2880360"/>
            <a:ext cx="4169663" cy="11338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accounting-only liquid balance를 추적한다. controller만 balance를 변경하며 canonical custody는 아니다.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66560" y="2331720"/>
            <a:ext cx="4572000" cy="17922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766560" y="2331720"/>
            <a:ext cx="45720" cy="1792224"/>
          </a:xfrm>
          <a:prstGeom prst="rect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67728" y="2496312"/>
            <a:ext cx="4169663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PrivateStateController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67728" y="2880360"/>
            <a:ext cx="4169663" cy="11338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mint, transfer, redeem으로 note lifecycle을 제공한다. commitment 중복과 nullifier 재사용을 거부한다.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522976" y="3218688"/>
            <a:ext cx="1152144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737360" y="4800600"/>
            <a:ext cx="8732520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700" b="1">
                <a:solidFill>
                  <a:srgbClr val="2563EB"/>
                </a:solidFill>
                <a:latin typeface="Apple SD Gothic Neo"/>
              </a:defRPr>
            </a:pPr>
            <a:r>
              <a:t>Managed storage vector: [PrivateStateController, L2AccountingVault]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NOTE LIFECYCLE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가치는 세 가지 표현을 거쳐 이동한다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bridge liquidity, L2 accounting, private note는 서로 다른 protocol object다.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852928"/>
            <a:ext cx="1197864" cy="530352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브릿지 입금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883664" y="3118104"/>
            <a:ext cx="27432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249424" y="2852928"/>
            <a:ext cx="1197864" cy="530352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13432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채널 입금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447288" y="3118104"/>
            <a:ext cx="27432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813048" y="2852928"/>
            <a:ext cx="1197864" cy="530352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77056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note mint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010912" y="3118104"/>
            <a:ext cx="27432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5376672" y="2852928"/>
            <a:ext cx="1197864" cy="530352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40680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note transfer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574536" y="3118104"/>
            <a:ext cx="27432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940296" y="2852928"/>
            <a:ext cx="1197864" cy="530352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04304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note redeem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138160" y="3118104"/>
            <a:ext cx="27432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503920" y="2852928"/>
            <a:ext cx="1197864" cy="530352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67928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채널 출금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701784" y="3118104"/>
            <a:ext cx="27432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10067544" y="2852928"/>
            <a:ext cx="1197864" cy="530352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31552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브릿지 출금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87552" y="4096512"/>
            <a:ext cx="3008376" cy="731520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70432" y="4325112"/>
            <a:ext cx="2642616" cy="2286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L1 custody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90288" y="4096512"/>
            <a:ext cx="3008376" cy="731520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73168" y="4325112"/>
            <a:ext cx="2642616" cy="2286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liquid L2 accounting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93024" y="4096512"/>
            <a:ext cx="3008376" cy="731520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75904" y="4325112"/>
            <a:ext cx="2642616" cy="2286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private notes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프라이버시 경계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Programmed Disclosure이지 Invisible Activity가 아니다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proof acceptance 이후 어떤 public observation을 남길지는 DApp 설계가 결정한다.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7824" y="2286000"/>
            <a:ext cx="4754880" cy="2633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9576" y="2578608"/>
            <a:ext cx="40233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800" b="1">
                <a:solidFill>
                  <a:srgbClr val="21A67A"/>
                </a:solidFill>
                <a:latin typeface="Apple SD Gothic Neo"/>
              </a:defRPr>
            </a:pPr>
            <a:r>
              <a:t>Public contract state에서 숨겨지는 것</a:t>
            </a:r>
          </a:p>
        </p:txBody>
      </p:sp>
      <p:sp>
        <p:nvSpPr>
          <p:cNvPr id="11" name="Oval 10"/>
          <p:cNvSpPr/>
          <p:nvPr/>
        </p:nvSpPr>
        <p:spPr>
          <a:xfrm>
            <a:off x="1261872" y="316382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6463" y="3090672"/>
            <a:ext cx="3493008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note plaintext</a:t>
            </a:r>
          </a:p>
        </p:txBody>
      </p:sp>
      <p:sp>
        <p:nvSpPr>
          <p:cNvPr id="13" name="Oval 12"/>
          <p:cNvSpPr/>
          <p:nvPr/>
        </p:nvSpPr>
        <p:spPr>
          <a:xfrm>
            <a:off x="1261872" y="357530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26463" y="3502152"/>
            <a:ext cx="3493008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note ownership meaning</a:t>
            </a:r>
          </a:p>
        </p:txBody>
      </p:sp>
      <p:sp>
        <p:nvSpPr>
          <p:cNvPr id="15" name="Oval 14"/>
          <p:cNvSpPr/>
          <p:nvPr/>
        </p:nvSpPr>
        <p:spPr>
          <a:xfrm>
            <a:off x="1261872" y="398678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6463" y="3913632"/>
            <a:ext cx="3493008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sender-recipient provenance</a:t>
            </a:r>
          </a:p>
        </p:txBody>
      </p:sp>
      <p:sp>
        <p:nvSpPr>
          <p:cNvPr id="17" name="Oval 16"/>
          <p:cNvSpPr/>
          <p:nvPr/>
        </p:nvSpPr>
        <p:spPr>
          <a:xfrm>
            <a:off x="1261872" y="439826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26463" y="4325112"/>
            <a:ext cx="3493008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complete private note history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56248" y="2286000"/>
            <a:ext cx="4754880" cy="2633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0" y="2578608"/>
            <a:ext cx="40233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800" b="1">
                <a:solidFill>
                  <a:srgbClr val="F59E0B"/>
                </a:solidFill>
                <a:latin typeface="Apple SD Gothic Neo"/>
              </a:defRPr>
            </a:pPr>
            <a:r>
              <a:t>보이는 monitoring surface</a:t>
            </a:r>
          </a:p>
        </p:txBody>
      </p:sp>
      <p:sp>
        <p:nvSpPr>
          <p:cNvPr id="21" name="Oval 20"/>
          <p:cNvSpPr/>
          <p:nvPr/>
        </p:nvSpPr>
        <p:spPr>
          <a:xfrm>
            <a:off x="6931152" y="3127248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95744" y="3054096"/>
            <a:ext cx="349300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joins, deposits, withdrawals</a:t>
            </a:r>
          </a:p>
        </p:txBody>
      </p:sp>
      <p:sp>
        <p:nvSpPr>
          <p:cNvPr id="23" name="Oval 22"/>
          <p:cNvSpPr/>
          <p:nvPr/>
        </p:nvSpPr>
        <p:spPr>
          <a:xfrm>
            <a:off x="6931152" y="3474720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95744" y="3401568"/>
            <a:ext cx="349300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accepted transitions</a:t>
            </a:r>
          </a:p>
        </p:txBody>
      </p:sp>
      <p:sp>
        <p:nvSpPr>
          <p:cNvPr id="25" name="Oval 24"/>
          <p:cNvSpPr/>
          <p:nvPr/>
        </p:nvSpPr>
        <p:spPr>
          <a:xfrm>
            <a:off x="6931152" y="3822191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95744" y="3749039"/>
            <a:ext cx="349300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root movement와 storage writes</a:t>
            </a:r>
          </a:p>
        </p:txBody>
      </p:sp>
      <p:sp>
        <p:nvSpPr>
          <p:cNvPr id="27" name="Oval 26"/>
          <p:cNvSpPr/>
          <p:nvPr/>
        </p:nvSpPr>
        <p:spPr>
          <a:xfrm>
            <a:off x="6931152" y="416966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95744" y="4096512"/>
            <a:ext cx="349300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commitments와 nullifiers</a:t>
            </a:r>
          </a:p>
        </p:txBody>
      </p:sp>
      <p:sp>
        <p:nvSpPr>
          <p:cNvPr id="29" name="Oval 28"/>
          <p:cNvSpPr/>
          <p:nvPr/>
        </p:nvSpPr>
        <p:spPr>
          <a:xfrm>
            <a:off x="6931152" y="4517136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95744" y="4443983"/>
            <a:ext cx="349300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encrypted note-delivery events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TRUST BOUNDARY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청자가 먼저 물어야 할 두 질문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브릿지의 신뢰 가정은 상태 업데이트 건실성과 사용자 프라이버시에서 서로 다르게 나타난다.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2148840"/>
            <a:ext cx="4992624" cy="23591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" y="2395728"/>
            <a:ext cx="91440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질문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2724912"/>
            <a:ext cx="4343400" cy="5669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000" b="1">
                <a:solidFill>
                  <a:srgbClr val="1B1F2A"/>
                </a:solidFill>
                <a:latin typeface="Apple SD Gothic Neo"/>
              </a:defRPr>
            </a:pPr>
            <a:r>
              <a:t>브릿지가 채널 상태를 업데이트할 때</a:t>
            </a:r>
          </a:p>
          <a:p>
            <a:pPr>
              <a:defRPr sz="2000" b="1">
                <a:solidFill>
                  <a:srgbClr val="1B1F2A"/>
                </a:solidFill>
                <a:latin typeface="Apple SD Gothic Neo"/>
              </a:defRPr>
            </a:pPr>
            <a:r>
              <a:t>누구를 신뢰하는가?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3547872"/>
            <a:ext cx="4261104" cy="5852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70" b="0">
                <a:solidFill>
                  <a:srgbClr val="5C667A"/>
                </a:solidFill>
                <a:latin typeface="Apple SD Gothic Neo"/>
              </a:defRPr>
            </a:pPr>
            <a:r>
              <a:t>답: runtime submitter나 prover를 신뢰하지 않는 방향으로 설계된다. 상태 전진은 proof와 metadata check가 동시에 통과해야 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2148840"/>
            <a:ext cx="4992624" cy="23591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2395728"/>
            <a:ext cx="91440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1A67A"/>
                </a:solidFill>
                <a:latin typeface="Apple SD Gothic Neo"/>
              </a:defRPr>
            </a:pPr>
            <a:r>
              <a:t>질문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724912"/>
            <a:ext cx="4343400" cy="5669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000" b="1">
                <a:solidFill>
                  <a:srgbClr val="1B1F2A"/>
                </a:solidFill>
                <a:latin typeface="Apple SD Gothic Neo"/>
              </a:defRPr>
            </a:pPr>
            <a:r>
              <a:t>채널 사용자의 프라이버시는</a:t>
            </a:r>
          </a:p>
          <a:p>
            <a:pPr>
              <a:defRPr sz="2000" b="1">
                <a:solidFill>
                  <a:srgbClr val="1B1F2A"/>
                </a:solidFill>
                <a:latin typeface="Apple SD Gothic Neo"/>
              </a:defRPr>
            </a:pPr>
            <a:r>
              <a:t>브릿지가 보장하는가?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3547872"/>
            <a:ext cx="4261104" cy="5852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70" b="0">
                <a:solidFill>
                  <a:srgbClr val="5C667A"/>
                </a:solidFill>
                <a:latin typeface="Apple SD Gothic Neo"/>
              </a:defRPr>
            </a:pPr>
            <a:r>
              <a:t>답: 브릿지는 DApp이 선언한 disclosure boundary를 집행한다. 실제 privacy는 circuit, event, encryption, client workflow에 의존한다.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24128" y="5157216"/>
            <a:ext cx="10076688" cy="53035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312664"/>
            <a:ext cx="956462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20" b="1">
                <a:solidFill>
                  <a:srgbClr val="FFFFFF"/>
                </a:solidFill>
                <a:latin typeface="Apple SD Gothic Neo"/>
              </a:defRPr>
            </a:pPr>
            <a:r>
              <a:t>핵심 구분: state integrity는 bridge-enforced proof 문제이고, privacy는 DApp-programmed disclosure 문제다.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STATE INTEGRITY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상태 업데이트 건실성에는 어떤 신뢰가 남는가?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브릿지는 제출자를 믿는 대신, proof가 어떤 상태 의미를 주장하는지 확인한다.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2139696"/>
            <a:ext cx="2999232" cy="2578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237744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D94A4A"/>
                </a:solidFill>
                <a:latin typeface="Apple SD Gothic Neo"/>
              </a:defRPr>
            </a:pPr>
            <a:r>
              <a:t>신뢰하지 않는 것</a:t>
            </a:r>
          </a:p>
        </p:txBody>
      </p:sp>
      <p:sp>
        <p:nvSpPr>
          <p:cNvPr id="11" name="Oval 10"/>
          <p:cNvSpPr/>
          <p:nvPr/>
        </p:nvSpPr>
        <p:spPr>
          <a:xfrm>
            <a:off x="1078992" y="2926080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3584" y="2852928"/>
            <a:ext cx="207568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submitter의 주장</a:t>
            </a:r>
          </a:p>
        </p:txBody>
      </p:sp>
      <p:sp>
        <p:nvSpPr>
          <p:cNvPr id="13" name="Oval 12"/>
          <p:cNvSpPr/>
          <p:nvPr/>
        </p:nvSpPr>
        <p:spPr>
          <a:xfrm>
            <a:off x="1078992" y="3273552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43584" y="3200400"/>
            <a:ext cx="207568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prover의 선의</a:t>
            </a:r>
          </a:p>
        </p:txBody>
      </p:sp>
      <p:sp>
        <p:nvSpPr>
          <p:cNvPr id="15" name="Oval 14"/>
          <p:cNvSpPr/>
          <p:nvPr/>
        </p:nvSpPr>
        <p:spPr>
          <a:xfrm>
            <a:off x="1078992" y="3621024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43584" y="3547872"/>
            <a:ext cx="207568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off-chain workspace의 무결성</a:t>
            </a:r>
          </a:p>
        </p:txBody>
      </p:sp>
      <p:sp>
        <p:nvSpPr>
          <p:cNvPr id="17" name="Oval 16"/>
          <p:cNvSpPr/>
          <p:nvPr/>
        </p:nvSpPr>
        <p:spPr>
          <a:xfrm>
            <a:off x="1078992" y="3968496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43584" y="3895344"/>
            <a:ext cx="207568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임의 ABI selector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98848" y="2139696"/>
            <a:ext cx="3401568" cy="2578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0" y="2377440"/>
            <a:ext cx="274320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브릿지가 체크하는 것</a:t>
            </a:r>
          </a:p>
        </p:txBody>
      </p:sp>
      <p:sp>
        <p:nvSpPr>
          <p:cNvPr id="21" name="Oval 20"/>
          <p:cNvSpPr/>
          <p:nvPr/>
        </p:nvSpPr>
        <p:spPr>
          <a:xfrm>
            <a:off x="4828032" y="292608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92624" y="2852928"/>
            <a:ext cx="253288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currentRootVectorHash</a:t>
            </a:r>
          </a:p>
        </p:txBody>
      </p:sp>
      <p:sp>
        <p:nvSpPr>
          <p:cNvPr id="23" name="Oval 22"/>
          <p:cNvSpPr/>
          <p:nvPr/>
        </p:nvSpPr>
        <p:spPr>
          <a:xfrm>
            <a:off x="4828032" y="324612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92624" y="3172968"/>
            <a:ext cx="253288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function metadata proof</a:t>
            </a:r>
          </a:p>
        </p:txBody>
      </p:sp>
      <p:sp>
        <p:nvSpPr>
          <p:cNvPr id="25" name="Oval 24"/>
          <p:cNvSpPr/>
          <p:nvPr/>
        </p:nvSpPr>
        <p:spPr>
          <a:xfrm>
            <a:off x="4828032" y="356616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92624" y="3493008"/>
            <a:ext cx="253288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preprocess hash</a:t>
            </a:r>
          </a:p>
        </p:txBody>
      </p:sp>
      <p:sp>
        <p:nvSpPr>
          <p:cNvPr id="27" name="Oval 26"/>
          <p:cNvSpPr/>
          <p:nvPr/>
        </p:nvSpPr>
        <p:spPr>
          <a:xfrm>
            <a:off x="4828032" y="388620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92624" y="3813048"/>
            <a:ext cx="253288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aPubBlockHash</a:t>
            </a:r>
          </a:p>
        </p:txBody>
      </p:sp>
      <p:sp>
        <p:nvSpPr>
          <p:cNvPr id="29" name="Oval 28"/>
          <p:cNvSpPr/>
          <p:nvPr/>
        </p:nvSpPr>
        <p:spPr>
          <a:xfrm>
            <a:off x="4828032" y="420624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92624" y="4133087"/>
            <a:ext cx="253288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Tokamak / Groth verifier result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613648" y="2139696"/>
            <a:ext cx="2542032" cy="2578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851392" y="2377440"/>
            <a:ext cx="201168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F59E0B"/>
                </a:solidFill>
                <a:latin typeface="Apple SD Gothic Neo"/>
              </a:defRPr>
            </a:pPr>
            <a:r>
              <a:t>남는 신뢰 가정</a:t>
            </a:r>
          </a:p>
        </p:txBody>
      </p:sp>
      <p:sp>
        <p:nvSpPr>
          <p:cNvPr id="33" name="Oval 32"/>
          <p:cNvSpPr/>
          <p:nvPr/>
        </p:nvSpPr>
        <p:spPr>
          <a:xfrm>
            <a:off x="8924544" y="2926080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089136" y="2852928"/>
            <a:ext cx="166420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70" b="0">
                <a:solidFill>
                  <a:srgbClr val="1B1F2A"/>
                </a:solidFill>
                <a:latin typeface="Apple SD Gothic Neo"/>
              </a:defRPr>
            </a:pPr>
            <a:r>
              <a:t>verifier와 circuit correctness</a:t>
            </a:r>
          </a:p>
        </p:txBody>
      </p:sp>
      <p:sp>
        <p:nvSpPr>
          <p:cNvPr id="35" name="Oval 34"/>
          <p:cNvSpPr/>
          <p:nvPr/>
        </p:nvSpPr>
        <p:spPr>
          <a:xfrm>
            <a:off x="8924544" y="3291840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89136" y="3218688"/>
            <a:ext cx="166420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70" b="0">
                <a:solidFill>
                  <a:srgbClr val="1B1F2A"/>
                </a:solidFill>
                <a:latin typeface="Apple SD Gothic Neo"/>
              </a:defRPr>
            </a:pPr>
            <a:r>
              <a:t>등록 metadata의 정확성</a:t>
            </a:r>
          </a:p>
        </p:txBody>
      </p:sp>
      <p:sp>
        <p:nvSpPr>
          <p:cNvPr id="37" name="Oval 36"/>
          <p:cNvSpPr/>
          <p:nvPr/>
        </p:nvSpPr>
        <p:spPr>
          <a:xfrm>
            <a:off x="8924544" y="3657600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89136" y="3584448"/>
            <a:ext cx="166420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70" b="0">
                <a:solidFill>
                  <a:srgbClr val="1B1F2A"/>
                </a:solidFill>
                <a:latin typeface="Apple SD Gothic Neo"/>
              </a:defRPr>
            </a:pPr>
            <a:r>
              <a:t>upgrade/admin governance</a:t>
            </a:r>
          </a:p>
        </p:txBody>
      </p:sp>
      <p:sp>
        <p:nvSpPr>
          <p:cNvPr id="39" name="Oval 38"/>
          <p:cNvSpPr/>
          <p:nvPr/>
        </p:nvSpPr>
        <p:spPr>
          <a:xfrm>
            <a:off x="8924544" y="4023360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89136" y="3950208"/>
            <a:ext cx="166420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70" b="0">
                <a:solidFill>
                  <a:srgbClr val="1B1F2A"/>
                </a:solidFill>
                <a:latin typeface="Apple SD Gothic Neo"/>
              </a:defRPr>
            </a:pPr>
            <a:r>
              <a:t>recovery availability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05840" y="5285232"/>
            <a:ext cx="10113264" cy="43891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234440" y="5404104"/>
            <a:ext cx="9656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50" b="1">
                <a:solidFill>
                  <a:srgbClr val="FFFFFF"/>
                </a:solidFill>
                <a:latin typeface="Apple SD Gothic Neo"/>
              </a:defRPr>
            </a:pPr>
            <a:r>
              <a:t>결론: runtime actor trust는 낮지만, cryptography implementation, metadata registration, governance control에는 신뢰가 집중된다.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PRIVACY TRUST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프라이버시는 어디까지 브릿지의 책임인가?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브릿지는 privacy를 자동 생성하지 않는다. DApp이 공개할 정보와 숨길 정보를 프로그램해야 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084831"/>
            <a:ext cx="3182112" cy="2615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2340864"/>
            <a:ext cx="25603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브릿지가 집행하는 것</a:t>
            </a:r>
          </a:p>
        </p:txBody>
      </p:sp>
      <p:sp>
        <p:nvSpPr>
          <p:cNvPr id="11" name="Oval 10"/>
          <p:cNvSpPr/>
          <p:nvPr/>
        </p:nvSpPr>
        <p:spPr>
          <a:xfrm>
            <a:off x="1152144" y="288950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16736" y="2816352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registered function만 실행</a:t>
            </a:r>
          </a:p>
        </p:txBody>
      </p:sp>
      <p:sp>
        <p:nvSpPr>
          <p:cNvPr id="13" name="Oval 12"/>
          <p:cNvSpPr/>
          <p:nvPr/>
        </p:nvSpPr>
        <p:spPr>
          <a:xfrm>
            <a:off x="1152144" y="324612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16736" y="3172968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허용된 storage-write만 관찰</a:t>
            </a:r>
          </a:p>
        </p:txBody>
      </p:sp>
      <p:sp>
        <p:nvSpPr>
          <p:cNvPr id="15" name="Oval 14"/>
          <p:cNvSpPr/>
          <p:nvPr/>
        </p:nvSpPr>
        <p:spPr>
          <a:xfrm>
            <a:off x="1152144" y="3602736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16736" y="3529584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public input layout 해석</a:t>
            </a:r>
          </a:p>
        </p:txBody>
      </p:sp>
      <p:sp>
        <p:nvSpPr>
          <p:cNvPr id="17" name="Oval 16"/>
          <p:cNvSpPr/>
          <p:nvPr/>
        </p:nvSpPr>
        <p:spPr>
          <a:xfrm>
            <a:off x="1152144" y="3959352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16736" y="3886200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accepted transition만 기록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17136" y="2084831"/>
            <a:ext cx="3182112" cy="2615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73168" y="2340864"/>
            <a:ext cx="25603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1A67A"/>
                </a:solidFill>
                <a:latin typeface="Apple SD Gothic Neo"/>
              </a:defRPr>
            </a:pPr>
            <a:r>
              <a:t>DApp이 보장해야 하는 것</a:t>
            </a:r>
          </a:p>
        </p:txBody>
      </p:sp>
      <p:sp>
        <p:nvSpPr>
          <p:cNvPr id="21" name="Oval 20"/>
          <p:cNvSpPr/>
          <p:nvPr/>
        </p:nvSpPr>
        <p:spPr>
          <a:xfrm>
            <a:off x="4846320" y="288950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10912" y="2816352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private witness가 public input에 새지 않음</a:t>
            </a:r>
          </a:p>
        </p:txBody>
      </p:sp>
      <p:sp>
        <p:nvSpPr>
          <p:cNvPr id="23" name="Oval 22"/>
          <p:cNvSpPr/>
          <p:nvPr/>
        </p:nvSpPr>
        <p:spPr>
          <a:xfrm>
            <a:off x="4846320" y="324612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10912" y="3172968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event가 의미를 과다 노출하지 않음</a:t>
            </a:r>
          </a:p>
        </p:txBody>
      </p:sp>
      <p:sp>
        <p:nvSpPr>
          <p:cNvPr id="25" name="Oval 24"/>
          <p:cNvSpPr/>
          <p:nvPr/>
        </p:nvSpPr>
        <p:spPr>
          <a:xfrm>
            <a:off x="4846320" y="3602736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10912" y="3529584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note encryption과 key management</a:t>
            </a:r>
          </a:p>
        </p:txBody>
      </p:sp>
      <p:sp>
        <p:nvSpPr>
          <p:cNvPr id="27" name="Oval 26"/>
          <p:cNvSpPr/>
          <p:nvPr/>
        </p:nvSpPr>
        <p:spPr>
          <a:xfrm>
            <a:off x="4846320" y="3959352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10912" y="3886200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client workflow의 unlinkability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11312" y="2084831"/>
            <a:ext cx="2907792" cy="2615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49056" y="2340864"/>
            <a:ext cx="2249424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F59E0B"/>
                </a:solidFill>
                <a:latin typeface="Apple SD Gothic Neo"/>
              </a:defRPr>
            </a:pPr>
            <a:r>
              <a:t>그래도 보이는 것</a:t>
            </a:r>
          </a:p>
        </p:txBody>
      </p:sp>
      <p:sp>
        <p:nvSpPr>
          <p:cNvPr id="31" name="Oval 30"/>
          <p:cNvSpPr/>
          <p:nvPr/>
        </p:nvSpPr>
        <p:spPr>
          <a:xfrm>
            <a:off x="8522208" y="288950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0" y="2816352"/>
            <a:ext cx="198424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join / deposit / withdraw / exit</a:t>
            </a:r>
          </a:p>
        </p:txBody>
      </p:sp>
      <p:sp>
        <p:nvSpPr>
          <p:cNvPr id="33" name="Oval 32"/>
          <p:cNvSpPr/>
          <p:nvPr/>
        </p:nvSpPr>
        <p:spPr>
          <a:xfrm>
            <a:off x="8522208" y="320954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86800" y="3136392"/>
            <a:ext cx="198424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root movement</a:t>
            </a:r>
          </a:p>
        </p:txBody>
      </p:sp>
      <p:sp>
        <p:nvSpPr>
          <p:cNvPr id="35" name="Oval 34"/>
          <p:cNvSpPr/>
          <p:nvPr/>
        </p:nvSpPr>
        <p:spPr>
          <a:xfrm>
            <a:off x="8522208" y="352958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86800" y="3456432"/>
            <a:ext cx="198424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commitment / nullifier</a:t>
            </a:r>
          </a:p>
        </p:txBody>
      </p:sp>
      <p:sp>
        <p:nvSpPr>
          <p:cNvPr id="37" name="Oval 36"/>
          <p:cNvSpPr/>
          <p:nvPr/>
        </p:nvSpPr>
        <p:spPr>
          <a:xfrm>
            <a:off x="8522208" y="384962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0" y="3776472"/>
            <a:ext cx="198424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encrypted note delivery</a:t>
            </a:r>
          </a:p>
        </p:txBody>
      </p:sp>
      <p:sp>
        <p:nvSpPr>
          <p:cNvPr id="39" name="Oval 38"/>
          <p:cNvSpPr/>
          <p:nvPr/>
        </p:nvSpPr>
        <p:spPr>
          <a:xfrm>
            <a:off x="8522208" y="416966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86800" y="4096512"/>
            <a:ext cx="198424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timing과 edge metadata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05840" y="5285232"/>
            <a:ext cx="10113264" cy="43891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234440" y="5404104"/>
            <a:ext cx="9656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80" b="1">
                <a:solidFill>
                  <a:srgbClr val="FFFFFF"/>
                </a:solidFill>
                <a:latin typeface="Apple SD Gothic Neo"/>
              </a:defRPr>
            </a:pPr>
            <a:r>
              <a:t>결론: privacy guarantee는 bridge-wide property가 아니라 DApp-programmed property다.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SECURITY INVARIANTS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브릿지는 모호한 상태 의미를 거부한다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구현체의 안전 가정은 명시적인 admissibility constraint로 나타난다.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7824" y="2267712"/>
            <a:ext cx="10442448" cy="98755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2432304"/>
            <a:ext cx="246430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ple SD Gothic Neo"/>
              </a:defRPr>
            </a:pPr>
            <a:r>
              <a:t>DApp storage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706624"/>
            <a:ext cx="2464308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exists! S_d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1588" y="2432304"/>
            <a:ext cx="246430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ple SD Gothic Neo"/>
              </a:defRPr>
            </a:pPr>
            <a:r>
              <a:t>function uniqueness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1588" y="2706624"/>
            <a:ext cx="2464308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(d,f) -&gt; (p,L)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88436" y="2404872"/>
            <a:ext cx="9144" cy="713232"/>
          </a:xfrm>
          <a:prstGeom prst="rect">
            <a:avLst/>
          </a:prstGeom>
          <a:solidFill>
            <a:srgbClr val="415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72200" y="2432304"/>
            <a:ext cx="246430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ple SD Gothic Neo"/>
              </a:defRPr>
            </a:pPr>
            <a:r>
              <a:t>channel uniqueness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2200" y="2706624"/>
            <a:ext cx="2464308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exists! C_c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9048" y="2404872"/>
            <a:ext cx="9144" cy="713232"/>
          </a:xfrm>
          <a:prstGeom prst="rect">
            <a:avLst/>
          </a:prstGeom>
          <a:solidFill>
            <a:srgbClr val="415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82811" y="2432304"/>
            <a:ext cx="246430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ple SD Gothic Neo"/>
              </a:defRPr>
            </a:pPr>
            <a:r>
              <a:t>leaf index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82811" y="2706624"/>
            <a:ext cx="2464308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LeafIndex(k)=k mod 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709659" y="2404872"/>
            <a:ext cx="9144" cy="713232"/>
          </a:xfrm>
          <a:prstGeom prst="rect">
            <a:avLst/>
          </a:prstGeom>
          <a:solidFill>
            <a:srgbClr val="415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77824" y="3858768"/>
            <a:ext cx="3182112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7824" y="3858768"/>
            <a:ext cx="45720" cy="1188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78992" y="4023359"/>
            <a:ext cx="2779776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Storage-vector ordering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" y="4407407"/>
            <a:ext cx="2779776" cy="5303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root vector, storage-write descriptor, snapshot, proof input은 같은 DApp-wide storage order를 사용해야 한다.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17136" y="3858768"/>
            <a:ext cx="3182112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17136" y="3858768"/>
            <a:ext cx="45720" cy="1188720"/>
          </a:xfrm>
          <a:prstGeom prst="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18304" y="4023359"/>
            <a:ext cx="2779776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Proof-gated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18304" y="4407407"/>
            <a:ext cx="2779776" cy="5303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state update는 proof verification과 bridge metadata check가 모두 성공할 때만 의미를 갖는다.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56448" y="3858768"/>
            <a:ext cx="3182112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156448" y="3858768"/>
            <a:ext cx="45720" cy="1188720"/>
          </a:xfrm>
          <a:prstGeom prst="rect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57616" y="4023359"/>
            <a:ext cx="2779776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No arbitrary ABI execution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57616" y="4407407"/>
            <a:ext cx="2779776" cy="5303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배포 bytecode에 selector가 존재한다는 이유만으로 브릿지가 실행을 받아들이지는 않는다.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구현 매핑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개념에서 Contracts와 Scripts로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현재 코드베이스는 stable protocol role과 deployment detail을 분리한다.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121408"/>
            <a:ext cx="10561320" cy="32735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0432" y="2331720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Shared control plane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2331720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BridgeCore, DAppManager, L1TokenVault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0432" y="2761487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Per-channel state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2761487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ChannelManager, ChannelDeployer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60704" y="2642615"/>
            <a:ext cx="1005840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3191256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General execution proof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3191256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TokamakVerifier and generated setup parameters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60704" y="3072384"/>
            <a:ext cx="1005840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70432" y="3621024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Vault accounting proof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0" y="3621024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Groth16Verifier and updateTree verifier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60704" y="3502152"/>
            <a:ext cx="1005840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70432" y="4050791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DApp registration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46320" y="4050791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bridge/scripts/admin-add-dapp.mjs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60704" y="3931920"/>
            <a:ext cx="1005840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70432" y="4480559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Bridge deployment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46320" y="4480559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bridge/scripts/deploy-bridge.mjs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60704" y="4361688"/>
            <a:ext cx="1005840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70432" y="4910327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Private-state CLI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46320" y="4910327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packages/apps/private-state/cli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60704" y="4791455"/>
            <a:ext cx="1005840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개발자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채널을 구현하고 운영하는 방법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contracts, synthesizer metadata, CLI proof generation이 하나의 bridge-coupled path로 연결된다.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78992" y="2395728"/>
            <a:ext cx="2670048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43584" y="2596896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43584" y="2679192"/>
            <a:ext cx="38404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ple SD Gothic Neo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64792" y="2596896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ple SD Gothic Neo"/>
              </a:defRPr>
            </a:pPr>
            <a:r>
              <a:t>bridge stack 배포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749039" y="2779776"/>
            <a:ext cx="484633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4416552" y="2395728"/>
            <a:ext cx="2670048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581144" y="2596896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81144" y="2679192"/>
            <a:ext cx="38404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ple SD Gothic Neo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02352" y="2596896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ple SD Gothic Neo"/>
              </a:defRPr>
            </a:pPr>
            <a:r>
              <a:t>private-state DApp 배포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086600" y="2779776"/>
            <a:ext cx="484632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54112" y="2395728"/>
            <a:ext cx="2670048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918704" y="2596896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18704" y="2679192"/>
            <a:ext cx="38404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ple SD Gothic Neo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39912" y="2596896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ple SD Gothic Neo"/>
              </a:defRPr>
            </a:pPr>
            <a:r>
              <a:t>example synthesize와 preprocess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988552" y="3163824"/>
            <a:ext cx="0" cy="877824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1078992" y="4041648"/>
            <a:ext cx="2670048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243584" y="4242816"/>
            <a:ext cx="384048" cy="384048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43584" y="4325112"/>
            <a:ext cx="38404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ple SD Gothic Neo"/>
              </a:defRPr>
            </a:pPr>
            <a: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64792" y="4242816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ple SD Gothic Neo"/>
              </a:defRPr>
            </a:pPr>
            <a:r>
              <a:t>DApp metadata 등록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3749039" y="4425696"/>
            <a:ext cx="484633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4416552" y="4041648"/>
            <a:ext cx="2670048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581144" y="4242816"/>
            <a:ext cx="384048" cy="384048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81144" y="4325112"/>
            <a:ext cx="38404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ple SD Gothic Neo"/>
              </a:defRPr>
            </a:pPr>
            <a: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02352" y="4242816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ple SD Gothic Neo"/>
              </a:defRPr>
            </a:pPr>
            <a:r>
              <a:t>channel create 또는 join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086600" y="4425696"/>
            <a:ext cx="484632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7754112" y="4041648"/>
            <a:ext cx="2670048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918704" y="4242816"/>
            <a:ext cx="384048" cy="384048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18704" y="4325112"/>
            <a:ext cx="38404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ple SD Gothic Neo"/>
              </a:defRPr>
            </a:pPr>
            <a: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39912" y="4242816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ple SD Gothic Neo"/>
              </a:defRPr>
            </a:pPr>
            <a:r>
              <a:t>proof-backed wallet operation 제출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TRADEOFFS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열린 연구 및 엔지니어링 질문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이 설계는 일부 global flexibility보다 explicit policy와 isolation을 선택한다.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9536" y="2176272"/>
            <a:ext cx="4956048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59536" y="2176272"/>
            <a:ext cx="45720" cy="126187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0704" y="2340864"/>
            <a:ext cx="455371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Isolation vs composability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" y="2724912"/>
            <a:ext cx="4553712" cy="603503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per-channel execution은 강한 safety boundary를 주지만, cross-channel composition이 주된 최적화 대상은 아니다.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82512" y="2176272"/>
            <a:ext cx="4956048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82512" y="2176272"/>
            <a:ext cx="45720" cy="126187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2340864"/>
            <a:ext cx="455371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Immutable policy vs upgradeability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724912"/>
            <a:ext cx="4553712" cy="603503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channel policy bug는 보통 in-place rewrite가 아니라 새 channel이나 migration path를 요구한다.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59536" y="3931920"/>
            <a:ext cx="4956048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59536" y="3931920"/>
            <a:ext cx="45720" cy="1261872"/>
          </a:xfrm>
          <a:prstGeom prst="rect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0704" y="4096511"/>
            <a:ext cx="455371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Finite Merkle leaf capacity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" y="4480559"/>
            <a:ext cx="4553712" cy="603503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storage key는 finite leaf domain에 투영되므로 capacity와 collision risk는 channel lifetime concern이다.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82512" y="3931920"/>
            <a:ext cx="4956048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82512" y="3931920"/>
            <a:ext cx="45720" cy="1261872"/>
          </a:xfrm>
          <a:prstGeom prst="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0" y="4096511"/>
            <a:ext cx="455371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DApp-specific disclosure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4480559"/>
            <a:ext cx="4553712" cy="603503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compliance, auditability, selective disclosure는 DApp별로 프로그램하고 문서화해야 한다.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LIFECYCLE RISK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Finite Leaf와 Channel Lifecycle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finite Merkle tree는 key collision risk를 만들고, join toll refund schedule은 slot 점유 비용을 시간 함수로 만든다.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2048256"/>
            <a:ext cx="4645152" cy="33467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2267712"/>
            <a:ext cx="402336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1">
                <a:solidFill>
                  <a:srgbClr val="1B1F2A"/>
                </a:solidFill>
                <a:latin typeface="Apple SD Gothic Neo"/>
              </a:defRPr>
            </a:pPr>
            <a:r>
              <a:t>현재 구현의 leaf projection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78992" y="2670048"/>
            <a:ext cx="4059936" cy="786384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2816352"/>
            <a:ext cx="3749039" cy="42062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pple SD Gothic Neo"/>
              </a:defRPr>
            </a:pPr>
            <a:r>
              <a:t>N = 2^d,   d = 36</a:t>
            </a:r>
          </a:p>
          <a:p>
            <a:pPr algn="ctr">
              <a:defRPr sz="1500" b="1">
                <a:solidFill>
                  <a:srgbClr val="FFFFFF"/>
                </a:solidFill>
                <a:latin typeface="Apple SD Gothic Neo"/>
              </a:defRPr>
            </a:pPr>
            <a:r>
              <a:t>LeafIndex(k) = k mod 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3685032"/>
            <a:ext cx="4114800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5C667A"/>
                </a:solidFill>
                <a:latin typeface="Apple SD Gothic Neo"/>
              </a:defRPr>
            </a:pPr>
            <a:r>
              <a:t>고정된 future nullifier leaf에 대해, 미래 storage key가 Poisson rate λ로 도착하면: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78992" y="4059936"/>
            <a:ext cx="4059936" cy="512064"/>
          </a:xfrm>
          <a:prstGeom prst="roundRect">
            <a:avLst/>
          </a:prstGeom>
          <a:solidFill>
            <a:srgbClr val="F6F8FC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215384"/>
            <a:ext cx="3840480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20" b="1">
                <a:solidFill>
                  <a:srgbClr val="1B1F2A"/>
                </a:solidFill>
                <a:latin typeface="Apple SD Gothic Neo"/>
              </a:defRPr>
            </a:pPr>
            <a:r>
              <a:t>P_collision(t) = 1 - exp(-λ · 1440t · 2^-d)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" y="4718304"/>
            <a:ext cx="4069080" cy="34747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70" b="0">
                <a:solidFill>
                  <a:srgbClr val="5C667A"/>
                </a:solidFill>
                <a:latin typeface="Apple SD Gothic Neo"/>
              </a:defRPr>
            </a:pPr>
            <a:r>
              <a:t>t는 days 단위. 그래프는 λ = 1 leaf/minute 모델이며, 보라색 선이 current d = 36이다.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06440" y="2029968"/>
            <a:ext cx="5413248" cy="3401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collision-prob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71032" y="2176272"/>
            <a:ext cx="5074920" cy="3072384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969264" y="5532120"/>
            <a:ext cx="10222992" cy="493776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33856" y="5678424"/>
            <a:ext cx="989380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70" b="1">
                <a:solidFill>
                  <a:srgbClr val="FFFFFF"/>
                </a:solidFill>
                <a:latin typeface="Apple SD Gothic Neo"/>
              </a:defRPr>
            </a:pPr>
            <a:r>
              <a:t>refund = paidJoinToll × bps(elapsed) / 10,000    |    default bps: ≤6h 75%, ≤24h 50%, ≤3d 25%, &gt;3d 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70448" y="5358384"/>
            <a:ext cx="4892040" cy="1463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780" b="0">
                <a:solidFill>
                  <a:srgbClr val="5C667A"/>
                </a:solidFill>
                <a:latin typeface="Apple SD Gothic Neo"/>
              </a:defRPr>
            </a:pPr>
            <a:r>
              <a:t>출처: bridge-private-state mainnet security review의 collision model + BridgeCore/ChannelManager 현 구현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기억해야 할 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Channels는 validity-proven DApp-specific execution을 위한 bridge fabric이다.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23</a:t>
            </a:r>
          </a:p>
        </p:txBody>
      </p:sp>
      <p:sp>
        <p:nvSpPr>
          <p:cNvPr id="9" name="Oval 8"/>
          <p:cNvSpPr/>
          <p:nvPr/>
        </p:nvSpPr>
        <p:spPr>
          <a:xfrm>
            <a:off x="1216152" y="237744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80744" y="2304288"/>
            <a:ext cx="9162288" cy="50291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0">
                <a:solidFill>
                  <a:srgbClr val="1B1F2A"/>
                </a:solidFill>
                <a:latin typeface="Apple SD Gothic Neo"/>
              </a:defRPr>
            </a:pPr>
            <a:r>
              <a:t>Ethereum은 custody와 validity anchor로 남는다.</a:t>
            </a:r>
          </a:p>
        </p:txBody>
      </p:sp>
      <p:sp>
        <p:nvSpPr>
          <p:cNvPr id="11" name="Oval 10"/>
          <p:cNvSpPr/>
          <p:nvPr/>
        </p:nvSpPr>
        <p:spPr>
          <a:xfrm>
            <a:off x="1216152" y="2907792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80744" y="2834640"/>
            <a:ext cx="9162288" cy="50291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0">
                <a:solidFill>
                  <a:srgbClr val="1B1F2A"/>
                </a:solidFill>
                <a:latin typeface="Apple SD Gothic Neo"/>
              </a:defRPr>
            </a:pPr>
            <a:r>
              <a:t>브릿지는 arbitrary ABI interpretation이 아니라 registered metadata로 실행을 admission한다.</a:t>
            </a:r>
          </a:p>
        </p:txBody>
      </p:sp>
      <p:sp>
        <p:nvSpPr>
          <p:cNvPr id="13" name="Oval 12"/>
          <p:cNvSpPr/>
          <p:nvPr/>
        </p:nvSpPr>
        <p:spPr>
          <a:xfrm>
            <a:off x="1216152" y="343814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80744" y="3364991"/>
            <a:ext cx="9162288" cy="50291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0">
                <a:solidFill>
                  <a:srgbClr val="1B1F2A"/>
                </a:solidFill>
                <a:latin typeface="Apple SD Gothic Neo"/>
              </a:defRPr>
            </a:pPr>
            <a:r>
              <a:t>각 채널은 DApp policy, verifier binding, function root, storage vector를 snapshot한다.</a:t>
            </a:r>
          </a:p>
        </p:txBody>
      </p:sp>
      <p:sp>
        <p:nvSpPr>
          <p:cNvPr id="15" name="Oval 14"/>
          <p:cNvSpPr/>
          <p:nvPr/>
        </p:nvSpPr>
        <p:spPr>
          <a:xfrm>
            <a:off x="1216152" y="3968496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80744" y="3895344"/>
            <a:ext cx="9162288" cy="50291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0">
                <a:solidFill>
                  <a:srgbClr val="1B1F2A"/>
                </a:solidFill>
                <a:latin typeface="Apple SD Gothic Neo"/>
              </a:defRPr>
            </a:pPr>
            <a:r>
              <a:t>Tokamak proof와 Groth16 accounting proof는 서로 다른 bridge responsibility를 맡는다.</a:t>
            </a:r>
          </a:p>
        </p:txBody>
      </p:sp>
      <p:sp>
        <p:nvSpPr>
          <p:cNvPr id="17" name="Oval 16"/>
          <p:cNvSpPr/>
          <p:nvPr/>
        </p:nvSpPr>
        <p:spPr>
          <a:xfrm>
            <a:off x="1216152" y="449884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80744" y="4425696"/>
            <a:ext cx="9162288" cy="50291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0">
                <a:solidFill>
                  <a:srgbClr val="1B1F2A"/>
                </a:solidFill>
                <a:latin typeface="Apple SD Gothic Neo"/>
              </a:defRPr>
            </a:pPr>
            <a:r>
              <a:t>private-state는 공개 L1 entry/exit 위에서 DApp-programmed privacy를 보여준다.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463040" y="5413248"/>
            <a:ext cx="9253728" cy="475488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19072" y="5550408"/>
            <a:ext cx="8741664" cy="21945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ple SD Gothic Neo"/>
              </a:defRPr>
            </a:pPr>
            <a:r>
              <a:t>핵심 질문은 proof가 verify되는가뿐 아니라, 어떤 policy가 그 proof에 의미를 부여하는가이다.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