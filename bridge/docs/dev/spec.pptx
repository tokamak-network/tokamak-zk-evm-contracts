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ffa0e75ab445b1" /><Relationship Type="http://schemas.openxmlformats.org/officeDocument/2006/relationships/extended-properties" Target="/docProps/app.xml" Id="R4853588b60c64893" /><Relationship Type="http://schemas.openxmlformats.org/officeDocument/2006/relationships/officeDocument" Target="/ppt/presentation.xml" Id="Raa8fa30640bc41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414ebf478f4f85"/>
  </p:sldMasterIdLst>
  <p:notesMasterIdLst>
    <p:notesMasterId xmlns:r="http://schemas.openxmlformats.org/officeDocument/2006/relationships" r:id="R715d07ddb1234548"/>
  </p:notesMasterIdLst>
  <p:sldIdLst>
    <p:sldId xmlns:r="http://schemas.openxmlformats.org/officeDocument/2006/relationships" id="256" r:id="R200302fe550b4a72"/>
    <p:sldId xmlns:r="http://schemas.openxmlformats.org/officeDocument/2006/relationships" id="257" r:id="R5682b2d16297441b"/>
    <p:sldId xmlns:r="http://schemas.openxmlformats.org/officeDocument/2006/relationships" id="258" r:id="Rbc9713ff66b145c0"/>
    <p:sldId xmlns:r="http://schemas.openxmlformats.org/officeDocument/2006/relationships" id="259" r:id="R1b9ac66a40284a59"/>
    <p:sldId xmlns:r="http://schemas.openxmlformats.org/officeDocument/2006/relationships" id="260" r:id="R35277bd1f5284567"/>
    <p:sldId xmlns:r="http://schemas.openxmlformats.org/officeDocument/2006/relationships" id="261" r:id="Ree551d2dcc0c4236"/>
    <p:sldId xmlns:r="http://schemas.openxmlformats.org/officeDocument/2006/relationships" id="262" r:id="R6c1368a6fb8240ab"/>
    <p:sldId xmlns:r="http://schemas.openxmlformats.org/officeDocument/2006/relationships" id="263" r:id="R5ae3b81529594c77"/>
    <p:sldId xmlns:r="http://schemas.openxmlformats.org/officeDocument/2006/relationships" id="264" r:id="R62b3e3881048495e"/>
    <p:sldId xmlns:r="http://schemas.openxmlformats.org/officeDocument/2006/relationships" id="265" r:id="R78011db32468413f"/>
    <p:sldId xmlns:r="http://schemas.openxmlformats.org/officeDocument/2006/relationships" id="266" r:id="Rc931c76e6b224967"/>
    <p:sldId xmlns:r="http://schemas.openxmlformats.org/officeDocument/2006/relationships" id="267" r:id="R739b11e330e640e7"/>
    <p:sldId xmlns:r="http://schemas.openxmlformats.org/officeDocument/2006/relationships" id="268" r:id="R6a3140b26227489a"/>
    <p:sldId xmlns:r="http://schemas.openxmlformats.org/officeDocument/2006/relationships" id="269" r:id="Rdb04eda630d147dc"/>
    <p:sldId xmlns:r="http://schemas.openxmlformats.org/officeDocument/2006/relationships" id="270" r:id="Ra295a937c3bd4ba1"/>
    <p:sldId xmlns:r="http://schemas.openxmlformats.org/officeDocument/2006/relationships" id="271" r:id="R48286be00d434bfa"/>
    <p:sldId xmlns:r="http://schemas.openxmlformats.org/officeDocument/2006/relationships" id="272" r:id="Rf5c5cdd502e5492f"/>
    <p:sldId xmlns:r="http://schemas.openxmlformats.org/officeDocument/2006/relationships" id="273" r:id="R73c075b5073443e1"/>
    <p:sldId xmlns:r="http://schemas.openxmlformats.org/officeDocument/2006/relationships" id="274" r:id="R0a110639f17245e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414ebf478f4f85" /><Relationship Type="http://schemas.openxmlformats.org/officeDocument/2006/relationships/theme" Target="/ppt/theme/theme1.xml" Id="R10d2e02df738434e" /><Relationship Type="http://schemas.openxmlformats.org/officeDocument/2006/relationships/notesMaster" Target="/ppt/notesMasters/notesMaster1.xml" Id="R715d07ddb1234548" /><Relationship Type="http://schemas.openxmlformats.org/officeDocument/2006/relationships/presProps" Target="/ppt/presProps.xml" Id="R5a9912e484354f05" /><Relationship Type="http://schemas.openxmlformats.org/officeDocument/2006/relationships/viewProps" Target="/ppt/viewProps.xml" Id="Rf0feabbc344645db" /><Relationship Type="http://schemas.openxmlformats.org/officeDocument/2006/relationships/tableStyles" Target="/ppt/tableStyles.xml" Id="R8e6c76ba8c2d418a" /><Relationship Type="http://schemas.openxmlformats.org/officeDocument/2006/relationships/slide" Target="/ppt/slides/slide1.xml" Id="R200302fe550b4a72" /><Relationship Type="http://schemas.openxmlformats.org/officeDocument/2006/relationships/slide" Target="/ppt/slides/slide2.xml" Id="R5682b2d16297441b" /><Relationship Type="http://schemas.openxmlformats.org/officeDocument/2006/relationships/slide" Target="/ppt/slides/slide3.xml" Id="Rbc9713ff66b145c0" /><Relationship Type="http://schemas.openxmlformats.org/officeDocument/2006/relationships/slide" Target="/ppt/slides/slide4.xml" Id="R1b9ac66a40284a59" /><Relationship Type="http://schemas.openxmlformats.org/officeDocument/2006/relationships/slide" Target="/ppt/slides/slide5.xml" Id="R35277bd1f5284567" /><Relationship Type="http://schemas.openxmlformats.org/officeDocument/2006/relationships/slide" Target="/ppt/slides/slide6.xml" Id="Ree551d2dcc0c4236" /><Relationship Type="http://schemas.openxmlformats.org/officeDocument/2006/relationships/slide" Target="/ppt/slides/slide7.xml" Id="R6c1368a6fb8240ab" /><Relationship Type="http://schemas.openxmlformats.org/officeDocument/2006/relationships/slide" Target="/ppt/slides/slide8.xml" Id="R5ae3b81529594c77" /><Relationship Type="http://schemas.openxmlformats.org/officeDocument/2006/relationships/slide" Target="/ppt/slides/slide9.xml" Id="R62b3e3881048495e" /><Relationship Type="http://schemas.openxmlformats.org/officeDocument/2006/relationships/slide" Target="/ppt/slides/slide10.xml" Id="R78011db32468413f" /><Relationship Type="http://schemas.openxmlformats.org/officeDocument/2006/relationships/slide" Target="/ppt/slides/slide11.xml" Id="Rc931c76e6b224967" /><Relationship Type="http://schemas.openxmlformats.org/officeDocument/2006/relationships/slide" Target="/ppt/slides/slide12.xml" Id="R739b11e330e640e7" /><Relationship Type="http://schemas.openxmlformats.org/officeDocument/2006/relationships/slide" Target="/ppt/slides/slide13.xml" Id="R6a3140b26227489a" /><Relationship Type="http://schemas.openxmlformats.org/officeDocument/2006/relationships/slide" Target="/ppt/slides/slide14.xml" Id="Rdb04eda630d147dc" /><Relationship Type="http://schemas.openxmlformats.org/officeDocument/2006/relationships/slide" Target="/ppt/slides/slide15.xml" Id="Ra295a937c3bd4ba1" /><Relationship Type="http://schemas.openxmlformats.org/officeDocument/2006/relationships/slide" Target="/ppt/slides/slide16.xml" Id="R48286be00d434bfa" /><Relationship Type="http://schemas.openxmlformats.org/officeDocument/2006/relationships/slide" Target="/ppt/slides/slide17.xml" Id="Rf5c5cdd502e5492f" /><Relationship Type="http://schemas.openxmlformats.org/officeDocument/2006/relationships/slide" Target="/ppt/slides/slide18.xml" Id="R73c075b5073443e1" /><Relationship Type="http://schemas.openxmlformats.org/officeDocument/2006/relationships/slide" Target="/ppt/slides/slide19.xml" Id="R0a110639f17245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68528019cc6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Tokamak Private App Channels">
  <a:themeElements>
    <a:clrScheme name="Tokamak Private App Channels">
      <a:accent1>
        <a:srgbClr val="2563EB"/>
      </a:accent1>
      <a:accent2>
        <a:srgbClr val="00A6B2"/>
      </a:accent2>
      <a:accent3>
        <a:srgbClr val="21A67A"/>
      </a:accent3>
      <a:accent4>
        <a:srgbClr val="F59E0B"/>
      </a:accent4>
      <a:accent5>
        <a:srgbClr val="6D5BD0"/>
      </a:accent5>
      <a:accent6>
        <a:srgbClr val="D94A4A"/>
      </a:accent6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okamak Private App Channels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ad92eb6cba4c15" /><Relationship Type="http://schemas.openxmlformats.org/officeDocument/2006/relationships/notesMaster" Target="/ppt/notesMasters/notesMaster1.xml" Id="R1e1371b07a67487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5298ff5b194bb2" /><Relationship Type="http://schemas.openxmlformats.org/officeDocument/2006/relationships/notesMaster" Target="/ppt/notesMasters/notesMaster1.xml" Id="Rffb954104e214e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410fde17d849b2" /><Relationship Type="http://schemas.openxmlformats.org/officeDocument/2006/relationships/notesMaster" Target="/ppt/notesMasters/notesMaster1.xml" Id="Rc6edb2a7860d44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45d6e4cfc546d5" /><Relationship Type="http://schemas.openxmlformats.org/officeDocument/2006/relationships/notesMaster" Target="/ppt/notesMasters/notesMaster1.xml" Id="Rccb6beb667f242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8b2b61f7e0483d" /><Relationship Type="http://schemas.openxmlformats.org/officeDocument/2006/relationships/notesMaster" Target="/ppt/notesMasters/notesMaster1.xml" Id="R274b8939d5af43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7c4b1734a244c3" /><Relationship Type="http://schemas.openxmlformats.org/officeDocument/2006/relationships/notesMaster" Target="/ppt/notesMasters/notesMaster1.xml" Id="R8a2e9683a00940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2c1c19791342e5" /><Relationship Type="http://schemas.openxmlformats.org/officeDocument/2006/relationships/notesMaster" Target="/ppt/notesMasters/notesMaster1.xml" Id="Rdd82478aad4c46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1fd43a50b94379" /><Relationship Type="http://schemas.openxmlformats.org/officeDocument/2006/relationships/notesMaster" Target="/ppt/notesMasters/notesMaster1.xml" Id="R7f31495734d645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ac1a91d9d747ec" /><Relationship Type="http://schemas.openxmlformats.org/officeDocument/2006/relationships/notesMaster" Target="/ppt/notesMasters/notesMaster1.xml" Id="R865ac74ca3004f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d616caf67d481e" /><Relationship Type="http://schemas.openxmlformats.org/officeDocument/2006/relationships/notesMaster" Target="/ppt/notesMasters/notesMaster1.xml" Id="R439d8f48c74644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ef6d27bf1f4bba" /><Relationship Type="http://schemas.openxmlformats.org/officeDocument/2006/relationships/notesMaster" Target="/ppt/notesMasters/notesMaster1.xml" Id="R5f0df7311404477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b8f27d495904c89" /><Relationship Type="http://schemas.openxmlformats.org/officeDocument/2006/relationships/notesMaster" Target="/ppt/notesMasters/notesMaster1.xml" Id="R56208d686eb9465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0cd9a98bf894f38" /><Relationship Type="http://schemas.openxmlformats.org/officeDocument/2006/relationships/notesMaster" Target="/ppt/notesMasters/notesMaster1.xml" Id="R3a40799cb12d497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2797c673fb94ea7" /><Relationship Type="http://schemas.openxmlformats.org/officeDocument/2006/relationships/notesMaster" Target="/ppt/notesMasters/notesMaster1.xml" Id="R641ea1f63ad448f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ba5b789a8f040cc" /><Relationship Type="http://schemas.openxmlformats.org/officeDocument/2006/relationships/notesMaster" Target="/ppt/notesMasters/notesMaster1.xml" Id="R79676ac4ba964c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3aad13161694ecc" /><Relationship Type="http://schemas.openxmlformats.org/officeDocument/2006/relationships/notesMaster" Target="/ppt/notesMasters/notesMaster1.xml" Id="R14df05cd08a44f4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393c63cfe9467f" /><Relationship Type="http://schemas.openxmlformats.org/officeDocument/2006/relationships/notesMaster" Target="/ppt/notesMasters/notesMaster1.xml" Id="R04b41e413f4f409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93504ee80a64764" /><Relationship Type="http://schemas.openxmlformats.org/officeDocument/2006/relationships/notesMaster" Target="/ppt/notesMasters/notesMaster1.xml" Id="Rfc55d57430234be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c91f35d13f1490f" /><Relationship Type="http://schemas.openxmlformats.org/officeDocument/2006/relationships/notesMaster" Target="/ppt/notesMasters/notesMaster1.xml" Id="R294c0b6642264a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19: Present the visible points and relate them to the repository documents: docs/whitepaper.md, bridge/docs/dev/spec.md, bridge/docs/dev/current-implementation.md, and docs/dapps/private-state.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77dc00d960430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4F919-0DA3-4C7E-AFB8-B2C6476A1BD6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1B176C2-7756-43FD-A16C-A63422F031B3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D27C514-A63F-43DA-BE24-F9FF89CB75C9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B22E9F-03BC-4DEB-A389-00C9A4D8A8A2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5d1cb96f1c443a3" /><Relationship Type="http://schemas.openxmlformats.org/officeDocument/2006/relationships/slideLayout" Target="/ppt/slideLayouts/slideLayout2.xml" Id="R7f2fba5138354e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F153FB-6104-4793-A817-7214F6D99D48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2fba5138354e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7b7ca43e1346ea" /><Relationship Type="http://schemas.openxmlformats.org/officeDocument/2006/relationships/notesSlide" Target="/ppt/notesSlides/notesSlide1.xml" Id="R495806cf758043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216f4421454642" /><Relationship Type="http://schemas.openxmlformats.org/officeDocument/2006/relationships/notesSlide" Target="/ppt/notesSlides/notesSlide2.xml" Id="R757fe306ef1240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f9d7614b8149fd" /><Relationship Type="http://schemas.openxmlformats.org/officeDocument/2006/relationships/notesSlide" Target="/ppt/notesSlides/notesSlide3.xml" Id="R78ab7ec9300c4f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b9211261c74f07" /><Relationship Type="http://schemas.openxmlformats.org/officeDocument/2006/relationships/notesSlide" Target="/ppt/notesSlides/notesSlide4.xml" Id="R695ed4ee9f9143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a26e7f6087455a" /><Relationship Type="http://schemas.openxmlformats.org/officeDocument/2006/relationships/notesSlide" Target="/ppt/notesSlides/notesSlide5.xml" Id="R2b60cadac07841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d56f6c18e444f7" /><Relationship Type="http://schemas.openxmlformats.org/officeDocument/2006/relationships/notesSlide" Target="/ppt/notesSlides/notesSlide6.xml" Id="R8bd76eac7b3a49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6e6da8c3c14694" /><Relationship Type="http://schemas.openxmlformats.org/officeDocument/2006/relationships/notesSlide" Target="/ppt/notesSlides/notesSlide7.xml" Id="R3331f3684e2a4f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15df5184064c0b" /><Relationship Type="http://schemas.openxmlformats.org/officeDocument/2006/relationships/notesSlide" Target="/ppt/notesSlides/notesSlide8.xml" Id="Rc8b8880dbd574e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ea593673a44fb8" /><Relationship Type="http://schemas.openxmlformats.org/officeDocument/2006/relationships/notesSlide" Target="/ppt/notesSlides/notesSlide9.xml" Id="R92f07b8d87454e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caf69791ba451d" /><Relationship Type="http://schemas.openxmlformats.org/officeDocument/2006/relationships/notesSlide" Target="/ppt/notesSlides/notesSlide10.xml" Id="R8d849adcb17b47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bdb57024e64f14" /><Relationship Type="http://schemas.openxmlformats.org/officeDocument/2006/relationships/notesSlide" Target="/ppt/notesSlides/notesSlide11.xml" Id="R854efa2f9fff40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1b34f303d84de7" /><Relationship Type="http://schemas.openxmlformats.org/officeDocument/2006/relationships/notesSlide" Target="/ppt/notesSlides/notesSlide12.xml" Id="R059c3e1ea80a44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5d7670e9404245" /><Relationship Type="http://schemas.openxmlformats.org/officeDocument/2006/relationships/notesSlide" Target="/ppt/notesSlides/notesSlide13.xml" Id="R60c85827ba1d457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664d7871d14b83" /><Relationship Type="http://schemas.openxmlformats.org/officeDocument/2006/relationships/notesSlide" Target="/ppt/notesSlides/notesSlide14.xml" Id="R859c907014bf412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ba373386214d4e" /><Relationship Type="http://schemas.openxmlformats.org/officeDocument/2006/relationships/notesSlide" Target="/ppt/notesSlides/notesSlide15.xml" Id="R7aace53a1474454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0b686c55654acb" /><Relationship Type="http://schemas.openxmlformats.org/officeDocument/2006/relationships/notesSlide" Target="/ppt/notesSlides/notesSlide16.xml" Id="R0deeda7e229d41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a40f47fa2e4542" /><Relationship Type="http://schemas.openxmlformats.org/officeDocument/2006/relationships/notesSlide" Target="/ppt/notesSlides/notesSlide17.xml" Id="R417ff7d3503e46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25093d934f41b2" /><Relationship Type="http://schemas.openxmlformats.org/officeDocument/2006/relationships/notesSlide" Target="/ppt/notesSlides/notesSlide18.xml" Id="Rd57d6d3761304ae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ca7518aa224e16" /><Relationship Type="http://schemas.openxmlformats.org/officeDocument/2006/relationships/notesSlide" Target="/ppt/notesSlides/notesSlide19.xml" Id="Raa94dea11e1b414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9A51EC-2871-4CB6-9B3C-9B17C0AB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8"/>
          </a:solidFill>
          <a:ln xmlns:a="http://schemas.openxmlformats.org/drawingml/2006/main">
            <a:solidFill>
              <a:srgbClr val="10182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A02D13-783A-4172-AFB3-51D692CD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-762000"/>
            <a:ext cx="5334000" cy="838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A5F"/>
          </a:solidFill>
          <a:ln xmlns:a="http://schemas.openxmlformats.org/drawingml/2006/main">
            <a:solidFill>
              <a:srgbClr val="1F3A5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56D18-801F-4F59-9240-3E811D4F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62000"/>
            <a:ext cx="314325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43B63"/>
          </a:solidFill>
          <a:ln xmlns:a="http://schemas.openxmlformats.org/drawingml/2006/main" w="9525">
            <a:solidFill>
              <a:srgbClr val="4F7AC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EDE21-B325-46E9-A2CA-5491CF43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38375"/>
            <a:ext cx="247650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3F46"/>
          </a:solidFill>
          <a:ln xmlns:a="http://schemas.openxmlformats.org/drawingml/2006/main" w="9525">
            <a:solidFill>
              <a:srgbClr val="44C2C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320591-9722-4247-A170-8158A224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14750"/>
            <a:ext cx="3333750" cy="876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4637"/>
          </a:solidFill>
          <a:ln xmlns:a="http://schemas.openxmlformats.org/drawingml/2006/main" w="9525">
            <a:solidFill>
              <a:srgbClr val="40C58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68C19E-E283-4EA6-88D3-3AE7D370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38300"/>
            <a:ext cx="114300" cy="6000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93C5FD"/>
          </a:solidFill>
          <a:ln xmlns:a="http://schemas.openxmlformats.org/drawingml/2006/main">
            <a:solidFill>
              <a:srgbClr val="93C5F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5A839-D8B5-4094-9951-31D26808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114675"/>
            <a:ext cx="114300" cy="6000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DD3FC"/>
          </a:solidFill>
          <a:ln xmlns:a="http://schemas.openxmlformats.org/drawingml/2006/main">
            <a:solidFill>
              <a:srgbClr val="7DD3FC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D377C-5D5C-483B-A768-2B95261E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33450"/>
            <a:ext cx="685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3300" b="1">
                <a:solidFill>
                  <a:srgbClr val="FFFFFF"/>
                </a:solidFill>
              </a:rPr>
              <a:t>Tokamak Private App Channels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B939C4-73ED-412E-A768-21356591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575">
                <a:solidFill>
                  <a:srgbClr val="CFD8E8"/>
                </a:solidFill>
              </a:rPr>
              <a:t>Bridge-coupled validity-proven DApp channels for Ethereum-settled confidential application state.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DBC58-4E34-49B3-8ADF-18FC71B2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71450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Ethereum settlement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B87C48-7BE6-4174-A624-17D6C0A0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19450"/>
            <a:ext cx="184785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DApp policy snapshots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D03480-E7B3-40A1-B7A2-A81D6CEF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1619250" cy="285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975" b="1">
                <a:solidFill>
                  <a:srgbClr val="FFFFFF"/>
                </a:solidFill>
              </a:rPr>
              <a:t>Proof-backed state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120B9-91BF-4F4C-BA71-298FFCE8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AEBAD0"/>
                </a:solidFill>
              </a:rPr>
              <a:t>Target audience: graduate researchers and protocol developers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B7FEAE-7F3F-472F-973A-7DB3C46E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0668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BridgeCore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0A631D-D813-4822-B381-68F98FC1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431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ChannelManager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9343D-F413-416F-8A64-63CF62A7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195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DApp State</a:t>
            </a:r>
          </a:p>
        </p:txBody>
      </p:sp>
    </p:spTree>
    <p:extLst>
      <p:ext uri="{BB962C8B-B14F-4D97-AF65-F5344CB8AC3E}">
        <p14:creationId xmlns:p14="http://schemas.microsoft.com/office/powerpoint/2010/main" val="5312207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AEDD8-F810-4DB6-8477-3D2C59D5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87009-FDFB-4D0A-B980-9D4284D1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70C04F-05F4-4C93-8FC2-9C95DB22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BACKGROUND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A218F-ABEA-4C2F-9A21-E351A99E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Why App-Specific Channels?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71DE2-A980-4D7E-B300-6B948394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system narrows the execution domain so privacy, custody, and proof meaning are easier to reason about.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AEC3D-7F32-4DBF-844A-7F847F4D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112E25-AA66-4627-A2EA-5D33C68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ABE79-C742-4FE5-A98E-BBD645DF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B6364-C0D8-4FAD-8A91-65636419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DEFD7D-7837-490A-B5DE-BBD36379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E72AF0-7436-432B-B6E0-6F4C7C31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Custody ambiguity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CDBE5-0F97-4BEF-9A83-C950E286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Private execution should not move the canonical asset into an opaque operator custody model.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5473AF-C33B-45F7-AF94-B6DF3348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451E4-0001-487A-9469-FDFE3E19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F65D95-A474-405D-B14F-6B0F825C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Proof interpretation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7DD10-6367-48DA-8A84-1C6A649A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 proof is only meaningful when the bridge knows which function, storage surface, and public-input layout it describes.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A9AE1-1F88-4090-8599-9044E928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AE4164-DEDA-42C3-9D34-24F880C3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47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012C78-DD04-4CD4-A522-1669954E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Privacy overclaiming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29994B-8064-40BE-9662-FDC7A2CB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14650"/>
            <a:ext cx="29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The bridge lowers the settlement disclosure surface, but semantic privacy must be programmed by each DApp.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369B82-32BA-4ADB-BBA4-DEE6F7DC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2563EB"/>
                </a:solidFill>
              </a:rPr>
              <a:t>Design response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06B5C2-E0B6-4D15-AC88-2BB76787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43D071-A2B9-4085-8B0A-4135CDE2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Keep canonical custody and proof acceptance on Ethereum.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C7E719-566E-47CD-8F52-993EBCC3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C3FD7F-D27C-4E84-84E3-BBA295D5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2445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Admit execution through bridge-managed DApp metadata.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D7DC92-B969-416D-A380-38D3D44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867EE7-FC1C-4080-9F0D-98E2B03B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9124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Snapshot the channel policy when users choose to join.</a:t>
            </a:r>
          </a:p>
        </p:txBody>
      </p:sp>
    </p:spTree>
    <p:extLst>
      <p:ext uri="{BB962C8B-B14F-4D97-AF65-F5344CB8AC3E}">
        <p14:creationId xmlns:p14="http://schemas.microsoft.com/office/powerpoint/2010/main" val="16188878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FFF54-F960-4E94-8541-37FC8366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A8D02-066E-4303-BE38-EE82A799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D9C1B-33F6-4465-A5CC-77848EFF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PURPOSE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3B5A75-C763-49B6-B3EA-AAE41B80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The Core Thesis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2F911-2D46-4E5E-8161-663A8888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Users join a specific channel policy, not a mutable generic rollup.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7FE5D-01EA-4B36-929B-09063A1A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D5CB0-9D5B-4A37-84D7-E91119BB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064A7-7BA1-4CA4-AF36-624B91A8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0D203-A283-4D08-A3A6-CFCFDD34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838700" cy="2571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801DCC-31E8-4DF7-B290-F382FF32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D94A4A"/>
                </a:solidFill>
              </a:rPr>
              <a:t>Generic rollup mindset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DFE1F-5992-423F-BC1E-1BD5FB99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76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C1474E-F25F-4E47-AB60-5CE26D3BC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004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One global execution 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D803EE-E5CC-4E90-A01A-3BA8EA3D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338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2621A5-C4E9-4A49-A1E5-691D2DCD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576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Application policy is often downstream of rollup policy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C8CD65-B9C7-4FE9-8459-89A540DC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E1E9E-3263-4AA4-9D6C-30D84B6D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14800"/>
            <a:ext cx="3467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Privacy assumptions can become implicit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BD25C5-CCCC-4936-914F-251E9D4A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838700" cy="2571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AC2CAB-646A-4870-B480-DB8B394A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47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21A67A"/>
                </a:solidFill>
              </a:rPr>
              <a:t>Private App Channel mindset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163B8-2C9A-46C9-BC91-1E3ABF00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0577E4-D79F-4F0F-B12B-E156465E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004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One registered DApp per channel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2C1234-13A6-43E2-8C62-7A896FA6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338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D808CE-5CDA-4CB4-B734-204383FD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576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Immutable policy snapshot at creation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A6D619-2DC6-4D91-9CEA-68B1446B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91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650662-F16A-4060-B8A2-9AFE4DA6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114800"/>
            <a:ext cx="350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>
                <a:solidFill>
                  <a:srgbClr val="1B1F2A"/>
                </a:solidFill>
              </a:rPr>
              <a:t>DApp-programmed disclosure 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9C248F-E4DD-4280-B59D-C76C1DA8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543300"/>
            <a:ext cx="6858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22F0BF-792D-4813-BF51-0999946D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0958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2563EB"/>
                </a:solidFill>
              </a:rPr>
              <a:t>policy choice becomes explicit</a:t>
            </a:r>
          </a:p>
        </p:txBody>
      </p:sp>
    </p:spTree>
    <p:extLst>
      <p:ext uri="{BB962C8B-B14F-4D97-AF65-F5344CB8AC3E}">
        <p14:creationId xmlns:p14="http://schemas.microsoft.com/office/powerpoint/2010/main" val="13655678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8720A9-2A7A-49B3-85E2-4BF0D1C5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EC43D-D016-4874-BEE2-4F6DEC63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CDDC8-E652-416C-9033-2A630E5C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SYSTEM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4C90C-84F6-470A-B56B-07390B19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Actors, Contracts, and State Domains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2194B-CDED-4D20-9E3A-EF3533CE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bridge fabric is shared, while each channel is a DApp-scoped execution domain.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CB714-B504-4335-9373-CF789402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DA009-2F58-4BEF-8367-AE61F187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B0CE2-75D3-46EC-A791-BF2D40D6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699F7-A8B9-4ADA-B547-169CF11A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809750" cy="666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User / CLI / Prover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40EA23-9956-415B-AF3F-DACB36CB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097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BridgeCore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5F632E-E161-4CA3-9D36-0DBE695C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DAppManager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7E0122-3899-4737-8D70-623A57D7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71950"/>
            <a:ext cx="1676400" cy="60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485ED8-BF35-4EE8-8D89-C602B705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628900"/>
            <a:ext cx="2000250" cy="666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ChannelManager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08DD9-95AF-4BBF-86C8-77EC6903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8120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B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TokamakVerifier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D2B6F-AB96-480E-9326-0B4BF62A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7185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8E7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Groth16Verifier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B26839-D97B-4DDF-B2A1-69F99F30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762500"/>
            <a:ext cx="1885950" cy="57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 storage vector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4B33AB-D44A-4B24-8F7E-F906D71A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14550"/>
            <a:ext cx="114300" cy="847725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3222EE-D752-49C1-BB08-4F0FC7F6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0512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EAE97-38FF-4CB5-80ED-CDD410A9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57400"/>
            <a:ext cx="895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85892-3532-4E26-83B3-EC665195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38500"/>
            <a:ext cx="895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1344C6-010C-4554-B89A-C6A1C6D8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38500"/>
            <a:ext cx="114300" cy="123825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36D6BD-CA87-4DA3-BDC3-4E67AD20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800350"/>
            <a:ext cx="8001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26A01-244F-4D29-B400-97F61B14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09900"/>
            <a:ext cx="8001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30EAF6-1731-4348-818D-8E44F0AB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0400"/>
            <a:ext cx="114300" cy="1847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F090BF-E30E-4249-8ABD-0F5ADC16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333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5C667A"/>
                </a:solidFill>
              </a:rPr>
              <a:t>Shared L1 control plane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DCB07E-0EF6-456E-870B-F0ED84F4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5C667A"/>
                </a:solidFill>
              </a:rPr>
              <a:t>Per-channel execution surface</a:t>
            </a:r>
          </a:p>
        </p:txBody>
      </p:sp>
    </p:spTree>
    <p:extLst>
      <p:ext uri="{BB962C8B-B14F-4D97-AF65-F5344CB8AC3E}">
        <p14:creationId xmlns:p14="http://schemas.microsoft.com/office/powerpoint/2010/main" val="571554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D2591-4DB0-4D0D-809D-790425CA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AED2E-D638-4115-9B5B-4D12DD6C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C27DAD-E4BA-45A5-A8ED-FCDFDC12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RESEARCH DIFFERENTIATION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4EC7B-2A22-4A69-9F65-7D9F04AB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Is Different?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A031F-DF5B-4D52-A0D9-A5DE3532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bridge is DApp-aware at admission time and DApp-agnostic at settlement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0D98C-1464-4141-8625-065677DD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4F31B-68FA-4AA5-966D-0BDDD4D6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140200-5277-42B7-9177-4F4ED786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3A20B-98D9-41E0-9E52-F15C3A00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80E08-1069-4F27-A197-224EA8CE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C033CD-34ED-4252-93BC-268B4459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Metadata-driven admission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0E3B02-D39B-4B50-97D4-A5F101FA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Registered metadata defines the bridge vocabulary for function selectors, preprocess hashes, storage roots, and public-input offsets.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043A82-2DFC-4101-A25D-BF954700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9ADC-9B72-4901-B9AF-DD8EAAE3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0F0F37-46DD-41C5-87F6-C23E496E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Immutable channel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798C2A-205F-449E-826B-0E6931F6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Existing channels keep the verifier snapshot, function root, managed storage vector, and refund policy they accepted at creation.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365D48-AB29-4AA7-B317-5875F4B6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3314700" cy="1752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76F32A-042C-44A5-A006-64C4C1FC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476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64628C-B057-416D-8151-4855E813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Split proof roles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C8893D-95C9-423F-B52E-544C818A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81300"/>
            <a:ext cx="2895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Tokamak proofs cover general DApp execution; Groth16 updateTree proofs cover channel-token-vault accounting.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0B59AF-0B78-4A3F-889C-5FD074A7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10210800" cy="685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0D093-AABF-4E86-A5F6-2C9416E8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965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79166"/>
          </a:bodyPr>
          <a:lstStyle xmlns:a="http://schemas.openxmlformats.org/drawingml/2006/main"/>
          <a:p xmlns:a="http://schemas.openxmlformats.org/drawingml/2006/main">
            <a:pPr algn="ctr"/>
            <a:r>
              <a:rPr sz="1350">
                <a:solidFill>
                  <a:srgbClr val="FFFFFF"/>
                </a:solidFill>
              </a:rPr>
              <a:t>Research lens: the system studies how far validity proofs, metadata admission, and channel-local policy can replace a monolithic rollup without giving up Ethereum settlement.</a:t>
            </a:r>
          </a:p>
        </p:txBody>
      </p:sp>
    </p:spTree>
    <p:extLst>
      <p:ext uri="{BB962C8B-B14F-4D97-AF65-F5344CB8AC3E}">
        <p14:creationId xmlns:p14="http://schemas.microsoft.com/office/powerpoint/2010/main" val="11414410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22CD5-C43F-40A0-87E7-AE055CD4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AC5934-0E8D-40A0-B5D2-842C112E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808CA-7717-4FBB-8DE0-2B52A327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CHANNEL POLICY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25A1B-B0DD-436E-B3B8-7067CE01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Is Fixed at Channel Creation?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5688F-A1AF-4E88-8571-524CCE36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A channel snapshots the execution grammar that users are about to accept.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8D458-8C89-4B47-B92E-20D6BF0F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CA51F-2F4E-4CB6-9000-837C7E25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846AFD-1930-46E1-B793-C2AA8A72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8FD5E-0992-4177-84BF-041C3901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46560-F053-4282-875F-D90D5914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688E4-D7EC-439F-A025-3968F80E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DApp metadata digest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BCAE8D-3D6E-4A38-9AAA-27AB8C57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E7BDD-42E7-4E4C-881B-7D293AC1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F1A857-BFF9-47CE-A85B-5849A207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function metadata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D9130-C6ED-478C-978B-B38EC628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669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3B76C3-34B4-4753-9E88-5C4ACB90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44D2E8-B60B-4401-A1BE-DC5072B3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38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verifier snapshot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3C5D8D-38E8-4521-A810-F9AB2D90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F952B-9F60-4089-A78B-E3AE6CDF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AC23DE-0537-4339-A5B1-FA8CF0C5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managed storage vector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8E163B-8D45-44A9-AB19-9ECC0090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D38216-B8EB-4CEE-BD55-84587FE1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8D8E9E-6BF3-49DF-8938-4F9EA571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token-vault index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B5EB38-637D-4B66-8407-6ADF97AE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29718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0364F5-381E-4268-A1E6-DCE40835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480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8E674B-4ABE-4395-8209-8F9B5DA6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join toll / refund policy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5E17DE-3299-406A-B83A-E19375AE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48150"/>
            <a:ext cx="7124700" cy="590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9BD317-7781-473C-BD1D-5233253A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209550" cy="2095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54052"/>
          </a:solidFill>
          <a:ln xmlns:a="http://schemas.openxmlformats.org/drawingml/2006/main">
            <a:solidFill>
              <a:srgbClr val="354052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9F047E-4723-4DB5-A0E4-8448C18E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1960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1B1F2A"/>
                </a:solidFill>
              </a:rPr>
              <a:t>genesis proof context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ED762D-7345-43A6-82BB-22CE60BF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86375"/>
            <a:ext cx="979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0592"/>
          </a:bodyPr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2563EB"/>
                </a:solidFill>
              </a:rPr>
              <a:t>Future DApp metadata or verifier changes affect future channels. They do not silently rewrite already-created channels.</a:t>
            </a:r>
          </a:p>
        </p:txBody>
      </p:sp>
    </p:spTree>
    <p:extLst>
      <p:ext uri="{BB962C8B-B14F-4D97-AF65-F5344CB8AC3E}">
        <p14:creationId xmlns:p14="http://schemas.microsoft.com/office/powerpoint/2010/main" val="90882557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D568F-5C79-4EA6-BDB4-949DEFD4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8F1731-A3D7-4D5F-9E93-0FF34D79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1150A7-45DE-4999-933C-FE511F6D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BRIDGE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5BF1A-3540-4C8C-823B-74B8F837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Shared Control Plane, Isolated Channels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423F9-9789-4077-A25D-12EEEA45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Root contracts coordinate custody and admission; channel managers track channel-local commitments.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C9E01-05F1-4EE6-9BBF-C388E3A8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512FB-C61E-4397-A542-932141CC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97A8FD-BBFC-457C-99BE-75992D76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8152FF-86A6-4206-85BF-A62CE6D5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0782300" cy="1066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919AC9-D25A-4DC0-A068-12E0939A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B1F2A"/>
                </a:solidFill>
              </a:rPr>
              <a:t>Shared Ethereum Control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122F8-36B0-49E9-AF88-306B8893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BridgeCore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F719B5-9B68-435F-8668-0C1AF669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DAppManager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5A06ED-E580-4D34-811C-E2618CC4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90AED5-0553-4294-9897-660EFCB0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95600"/>
            <a:ext cx="20002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ChannelDeployer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DD7EA0-C53C-44FE-B20B-2CB67869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107823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6F2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C5742B-D421-43FA-8CA0-F5B97D56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425" b="1">
                <a:solidFill>
                  <a:srgbClr val="1B1F2A"/>
                </a:solidFill>
              </a:rPr>
              <a:t>Per-Channel Execution Domains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4D7A2-E815-4015-8463-F712B4D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A
ChannelManager + state commitment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5B195E-7EE0-4E3D-9A2B-0C2610A3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D38723-70DA-46B9-B8F7-3E43FE0B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B
ChannelManager + state commitment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85FD91-9AAF-4040-9748-D37C0915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87787-22CE-46C9-A1DD-C1DD7707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10100"/>
            <a:ext cx="260985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 C
ChannelManager + state commitment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37F089-863F-4599-81CC-0B306114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352800"/>
            <a:ext cx="1143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2292D5-ED2D-4D56-9808-D1FD8197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76875"/>
            <a:ext cx="998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>
                <a:solidFill>
                  <a:srgbClr val="5C667A"/>
                </a:solidFill>
              </a:rPr>
              <a:t>Isolation is the safety default: corruption or policy failure in one channel should not rewrite another channel's accepted state.</a:t>
            </a:r>
          </a:p>
        </p:txBody>
      </p:sp>
    </p:spTree>
    <p:extLst>
      <p:ext uri="{BB962C8B-B14F-4D97-AF65-F5344CB8AC3E}">
        <p14:creationId xmlns:p14="http://schemas.microsoft.com/office/powerpoint/2010/main" val="16323620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EB7581-C153-488C-AE29-7C18076C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158AE-B39D-421B-9A69-F7948EE2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D387C-CDE4-4AFB-AEF1-E50D3CFC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DAPP REGISTRATION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90D5B-4AB2-417F-98EA-8A492838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Metadata Is the Admission Boundary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80A05-88B5-481C-AB84-79237E35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A Solidity function is not enough; the bridge admits only registered proof vocabulary.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A9170-947E-4800-BBE0-466D4792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7202EB-C2FC-4B56-BDFA-8E1414F5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D1C844-2E59-454F-9E47-32713303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B1D21-B157-4D8A-9823-E2081CBA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4381500" cy="3143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A7E4D-F390-4BE9-8755-7E02228A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765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1B1F2A"/>
                </a:solidFill>
              </a:rPr>
              <a:t>Registration payload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C9F457-3C6A-4571-90A5-262405D8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480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0B976A-D14B-494E-96A5-2AE6B14B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7180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managed storage vector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D542F4-65EA-4572-88B0-1496782C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2422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25BBE-D58E-4F9B-B3E0-EA028EFA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4802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pre-allocated storage keys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1CBD0A-3B71-4851-95E0-8CD08A8D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A3364B-4F83-449E-9AAC-D5682E2A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2425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user storage slots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12556A-FC92-4762-AD3E-E53A1AD9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7667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4D6E57-A604-4DC4-9CE3-9E3F36CE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0047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supported function list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EFC11A-DB4A-41F1-8397-EA7DDB54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529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08A5D-3945-43AA-A97D-787A95DF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7670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preprocess hash per function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7DD456-819B-4A11-A70D-6680282B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2912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7C8A3D-3BF3-4925-B0DF-A64B60BB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5292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instance layout offsets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2669F-5B98-4C7E-9D02-9516CE87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05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D3234A-EDEF-4325-B03B-2423E350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29150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storage-write metadata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C7E613-8539-4E21-B626-1768CED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81575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32A083-E8D5-4058-97EF-915ECADE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05375"/>
            <a:ext cx="3219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1B1F2A"/>
                </a:solidFill>
              </a:rPr>
              <a:t>event-log metadata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4686B8-E19F-4C6B-B10C-0C1A0A7D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38375"/>
            <a:ext cx="4381500" cy="3143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BC01D4-BD01-4963-B3F9-B51FE5E6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650" b="1">
                <a:solidFill>
                  <a:srgbClr val="1B1F2A"/>
                </a:solidFill>
              </a:rPr>
              <a:t>Runtime decision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B262BD-1DBE-485E-8BB6-1B505C76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05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44B914-9608-441F-B973-99517CAC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Does this DApp exist?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DAF27A-51AF-4037-A2BD-6C44374E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86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B3B05F-653A-4AB9-AA97-EE5FE6E5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09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Is the function root admissible?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D1037D-6EA9-452E-AD2F-E908B5CA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67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081E08-7D3D-4684-B25E-A03703AB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Does the preprocess hash match?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07DA41-89F3-4A43-B586-1426F61B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48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AFCD39-8631-4B27-9E3D-3442CAEC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71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954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 storage-write indices stay in the managed vector?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76646B-6C1E-4465-9073-6697C244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291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070E1B-3C31-4CED-BAFF-7999000E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52950"/>
            <a:ext cx="3124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9540"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B1F2A"/>
                </a:solidFill>
              </a:rPr>
              <a:t>Do public-input offsets decode the expected fields?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1FF643-6C83-4354-A879-121746A0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733800"/>
            <a:ext cx="8763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</p:spTree>
    <p:extLst>
      <p:ext uri="{BB962C8B-B14F-4D97-AF65-F5344CB8AC3E}">
        <p14:creationId xmlns:p14="http://schemas.microsoft.com/office/powerpoint/2010/main" val="202026121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D03103-6DAE-4324-B040-537E9149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DE31A-6EDD-47CA-B1A8-E0DD21B9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C047E-17C4-49DE-8008-7370DBD8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CHANNEL CREATION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C09905-9BE2-43FC-A2A3-18EDD18C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From Registered DApp to Live Channel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72D446-615B-46ED-A889-C4801AEF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Creation is permissionless at the bridge level after a DApp is registered.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4C982-5F50-41FA-B5AC-D3AF2600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A578A4-E4AF-433A-85C5-4AEC98A2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7EEF8-DFC3-459E-9964-A3B04CE9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26DD27-7DD9-43C4-823F-7212897F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9B9998-0CD2-4408-BDD0-92CF6D69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C98AF-5CBC-4E18-A3AE-8D43F54D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D5D4C-B9FB-434D-B94F-2C66705E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Check DApp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E0E136-7E6E-4267-8577-60F435F6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6C8B1-7E1C-4F47-98D5-4B3E9E4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70471E-C2EA-4B28-A4B6-505E0366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0D695E-539F-45EA-8CD0-9D6C07C7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E4F989-3ED5-4DE5-A2BE-67C1DFC7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Bind leader and asset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FE9B88-8D8E-4978-9C31-0DD9131D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BDEA8-FD8E-4A7A-B85A-E2E3C49D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F7A00-BF2D-4AF6-9DD4-19630617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CA1CDE-7C37-4C07-B093-1B9C28F4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FD636E-7715-417D-86D9-C5955785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6809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Snapshot verifiers and function root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052AE2-5AFE-4576-9C33-7928C168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33F2D7-59F3-4F0A-82E9-069FC782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231C81-2ABF-43E1-A7F8-E7EC29F7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11C8B1-A8AD-49CE-9500-92885F49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1B5575-3075-44B8-97D4-65741A95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Deploy ChannelManager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70415C-D0ED-4322-BA5F-7CC211CA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90900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C667A"/>
          </a:solidFill>
          <a:ln xmlns:a="http://schemas.openxmlformats.org/drawingml/2006/main">
            <a:solidFill>
              <a:srgbClr val="5C667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663DC2-4256-4D7D-9BE3-A0BCA2D4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765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41397B-1096-438D-83BF-42FDE30A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43150"/>
            <a:ext cx="51435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B2"/>
          </a:solidFill>
          <a:ln xmlns:a="http://schemas.openxmlformats.org/drawingml/2006/main">
            <a:solidFill>
              <a:srgbClr val="00A6B2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1BC096-9AFC-40DF-8216-13B6BC38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574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38396A-0C82-4147-9325-8DBD92DD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2137"/>
          </a:bodyPr>
          <a:lstStyle xmlns:a="http://schemas.openxmlformats.org/drawingml/2006/main"/>
          <a:p xmlns:a="http://schemas.openxmlformats.org/drawingml/2006/main">
            <a:pPr algn="ctr"/>
            <a:r>
              <a:rPr sz="1200" b="1">
                <a:solidFill>
                  <a:srgbClr val="1B1F2A"/>
                </a:solidFill>
              </a:rPr>
              <a:t>Initialize commitment and proof context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2A5FAA-F892-438E-ADFE-2B276948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62500"/>
            <a:ext cx="960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425">
                <a:solidFill>
                  <a:srgbClr val="5C667A"/>
                </a:solidFill>
              </a:rPr>
              <a:t>The creator chooses only channel-level parameters exposed by bridge and DApp policy. The execution grammar itself comes from registration metadata.</a:t>
            </a:r>
          </a:p>
        </p:txBody>
      </p:sp>
    </p:spTree>
    <p:extLst>
      <p:ext uri="{BB962C8B-B14F-4D97-AF65-F5344CB8AC3E}">
        <p14:creationId xmlns:p14="http://schemas.microsoft.com/office/powerpoint/2010/main" val="4343992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4F39B-C934-4922-A905-E4562E38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8787B-9866-4AF1-BF9C-F6F6E018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DCF05-D80C-44EF-BC4F-6EBE8CEA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STATE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BC836-E1DC-4C5E-AF9B-6184485C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Proof-Backed Bridge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D92BD-E643-4647-A7FB-513AF7D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L1 bridge verifies proof meaning before accepting a new channel commitment.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3D4F4-3E77-4008-8247-6296CAD3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B419E-C54B-4056-8962-AE41A9A6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94AD79-DCD0-4DC4-9327-E8F661B9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80295-8E71-4FEA-ADFB-DE5BB785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CLI builds proof input bundle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C5762B-B8DB-4993-A843-CF6FD508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98EECF-76DC-4FB6-87FD-A263D584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B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Tokamak proof verifies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E060F-09B9-46E4-8E13-735B01B0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4F56A5-FC1B-4F86-ACF3-8B01E558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Metadata checks decode public inputs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CF443-8D7C-4759-A71B-F2A12448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0A00EB-E304-4DE3-BDA7-FCE82BD9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currentRootVectorHash advances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597619-343F-48B5-9E86-10DA0A76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95625"/>
            <a:ext cx="4381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1D4D29-F470-4475-9876-E73D0CBF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781300"/>
            <a:ext cx="17145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Observed writes are emitted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BEB5E4-8C73-4B45-87D7-1434B566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24375"/>
            <a:ext cx="8801100" cy="1104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EBC064-8945-46BF-BC94-4F387096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current state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B8BCAA-8CC4-4624-881F-C8BF416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H(R_current)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A1613B-A56A-4DF5-8385-F94B926A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proof claim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ED54B0-DE99-4C5B-9A6C-CA5D35AB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pi validates 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56D32B-62EC-4C84-8939-C4623137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59394E-1FA8-4120-8A10-4E1B4E59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958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next state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1A6B05-37C8-4186-944A-6B05FF55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815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H(R_updated)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091260-C7F5-42AF-9BDF-DDA1CE25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57725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</p:spTree>
    <p:extLst>
      <p:ext uri="{BB962C8B-B14F-4D97-AF65-F5344CB8AC3E}">
        <p14:creationId xmlns:p14="http://schemas.microsoft.com/office/powerpoint/2010/main" val="5153802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347597-E704-40E4-85A3-C0EEED3E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38743-05C7-4C2B-BCC7-3A82D9AF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03344-430E-4D75-885A-9ACEF491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TOKEN MOVEMENT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678A4-CC57-432D-8E31-FE9E0B6E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101828"/>
                </a:solidFill>
              </a:rPr>
              <a:t>Custody and Accounting Are Deliberately Split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47209-DA96-4506-B6EB-E044553D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Canonical tokens remain in the shared L1 vault; channel state records accounting and notes.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CEED4-FDF9-4DE6-9AB4-C1FF6AED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A47B3-8F8D-4143-9562-7E292EEF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F76C93-0DB0-44F7-800C-F5493FB7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5624B3-FD0C-43E1-A793-61BFC1D3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52400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9F1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 wallet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5AD0D-9CB0-49DF-AC2E-81325402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24150"/>
            <a:ext cx="20955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L1TokenVault
canonical custody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6739D-6B42-49A2-B086-9836DAF0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24150"/>
            <a:ext cx="21717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channelTokenVault
Merkle accounting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B8163-9559-4478-9B9B-17D931EA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24150"/>
            <a:ext cx="2247900" cy="819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Private-State DApp
liquid balance + notes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F80A0A-A9DE-4C2B-9D2F-44E25A01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48025"/>
            <a:ext cx="8382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AE6466-6D5A-4297-A0F1-94D17773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7657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A20E1A-66E2-43D2-BC46-71772C7B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76575"/>
            <a:ext cx="7810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F142F-4C77-486F-93A5-4CBA58B9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533900"/>
            <a:ext cx="9639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5C667A"/>
                </a:solidFill>
              </a:rPr>
              <a:t>Deposit / withdraw accounting uses Groth16 updateTree proofs. Rich DApp execution uses Tokamak proofs over registered metadata.</a:t>
            </a:r>
          </a:p>
        </p:txBody>
      </p:sp>
    </p:spTree>
    <p:extLst>
      <p:ext uri="{BB962C8B-B14F-4D97-AF65-F5344CB8AC3E}">
        <p14:creationId xmlns:p14="http://schemas.microsoft.com/office/powerpoint/2010/main" val="3809684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A3FD3-EDE3-4070-9B6B-1A1313DB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965E7-C89E-4476-A38A-8420F347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9311C2-C9EC-40F5-9C1C-4F766C31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PRIVATE-STATE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E2577-AA9C-4DED-A83E-654D1496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7629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A Bridge-Coupled zk-Note Payment DApp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C1D04E-BC5B-41C5-B98B-EE2CCD22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Private-state keeps TON custody on L1 while channel-local state records balances, commitments, and nullifiers.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2FA45D-A4C1-4060-A807-A5099EFE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C436F2-5375-40FE-9E0D-68B145F8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C56FF-EFCF-47D9-A782-B105B0D2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A4665-4F58-43D2-8CF6-DD12AC90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4572000" cy="1847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D5637-DBB0-45FC-914E-B28DE2C7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536D06-E0AD-4EA4-B762-3C711C95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415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L2AccountingVault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929EF-85DB-45D8-B944-1BFAFFA6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4152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Accounting-only liquid balances. The controller mutates balances; the vault is not canonical custody.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80ED3-DD1C-4B3F-A35D-16A4E613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572000" cy="18478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F7A75-71CF-4463-88FF-F861F3C8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>
            <a:solidFill>
              <a:srgbClr val="6D5BD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117F22-C073-40D0-B484-4C883CD5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71750"/>
            <a:ext cx="415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PrivateStateController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0848F-590C-493D-B653-FFE7C1D0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33700"/>
            <a:ext cx="4152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User-facing note lifecycle: mint from liquid balance, transfer notes, redeem notes back to liquid balance.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054AEC-F21C-4F32-B730-8BB65AB2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57550"/>
            <a:ext cx="1143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45452-BB72-4FDC-AA3F-31C2A26A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76800"/>
            <a:ext cx="872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75" b="1">
                <a:solidFill>
                  <a:srgbClr val="2563EB"/>
                </a:solidFill>
              </a:rPr>
              <a:t>Managed storage vector: [PrivateStateController, L2AccountingVault]</a:t>
            </a:r>
          </a:p>
        </p:txBody>
      </p:sp>
    </p:spTree>
    <p:extLst>
      <p:ext uri="{BB962C8B-B14F-4D97-AF65-F5344CB8AC3E}">
        <p14:creationId xmlns:p14="http://schemas.microsoft.com/office/powerpoint/2010/main" val="156062045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F3AE5-02C5-4EA7-8B47-9BC368E1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469A0-368A-4BE7-97EB-B42451F4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CE175-6D94-4AA4-A7C1-D3542C45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NOTE LIFECYCLE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832DD-B2F0-48D1-B8CF-B5DC6B09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1171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Value Moves Through Three Representations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380DBE-4DF7-47F5-94A5-BDBD1E2A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Bridge liquidity, L2 accounting, and private notes are separate protocol objects.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FE3B3E-27D3-4955-9DB7-61BB5E3B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7507B9-3577-436D-81EF-31F183EF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7AA2F-6183-482F-9AC4-4780AE72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A1444-6BDF-4027-A10E-EEA0004C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deposit 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7429C8-9D06-4844-B65A-C274982A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A707F-3559-49D9-9D39-590BBAE4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deposit channel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7AA8D-90DD-4B0B-9B9E-E57436FD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96E16-78DC-45A4-A162-F07096A3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mint notes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2B2798-8587-4848-985D-67FCD36E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5F3721-FF72-4955-A042-B8F13F2C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transfer notes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CCE4E-631B-4C7D-BD8B-BBADC97F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7F62E2-EE37-4447-AFF3-CB86C4EB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redeem notes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DF870-F95D-453E-AD75-F6E5CADE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EE8F69-8625-4186-8768-4B84A555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withdraw channel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B87CD9-05A3-42C5-8F2B-17A3B50B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527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61BBCA-5495-4E26-8EA2-FDA5A875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33700"/>
            <a:ext cx="1200150" cy="552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sz="1125" b="1">
                <a:solidFill>
                  <a:srgbClr val="1B1F2A"/>
                </a:solidFill>
              </a:rPr>
              <a:t>withdraw bridge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A8BAE4-278E-45B0-8515-43F16F6F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DE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8EED4A-F719-419B-9855-BF8C39C6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L1 custody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EDDE43-50B4-47FA-AE32-806BE9A8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7F0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CE50BC-92E6-4013-8646-9BBD6140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liquid L2 accounting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B871D2-B9CB-4095-89C9-3C0CC200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29100"/>
            <a:ext cx="3009900" cy="742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EE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14F4FD-C0CB-4F6D-9185-ADA49E7E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45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425" b="1">
                <a:solidFill>
                  <a:srgbClr val="1B1F2A"/>
                </a:solidFill>
              </a:rPr>
              <a:t>private notes</a:t>
            </a:r>
          </a:p>
        </p:txBody>
      </p:sp>
    </p:spTree>
    <p:extLst>
      <p:ext uri="{BB962C8B-B14F-4D97-AF65-F5344CB8AC3E}">
        <p14:creationId xmlns:p14="http://schemas.microsoft.com/office/powerpoint/2010/main" val="167510024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E65B7-866C-4D43-8ECB-414420DE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E8B28-E0EB-4704-8B7A-6E89F551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BC4F10-DCD0-4C3B-9CEA-73A2504D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PRIVACY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1C3BF-7268-45A6-9FFD-1DA72893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101828"/>
                </a:solidFill>
              </a:rPr>
              <a:t>Programmed Disclosure, Not Invisible Activity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21988F-9CBC-4180-9A19-60D75534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DApp decides which public observations exist after proof acceptance.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FCA28-26DE-4B99-A5C3-C8ECE6BA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8D5F8B-D9DF-49F0-9910-4729105D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2D4A9D-BC25-420E-A4EC-80FB2D43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E8172-83D7-4FF0-9D25-7EFEB1B6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4762500" cy="2724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28A6C-43D2-414B-B4E0-627542C1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21A67A"/>
                </a:solidFill>
              </a:rPr>
              <a:t>Hidden from public contract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69DD6-64CC-4BE7-9730-73BF9FF7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552E4-230B-4E12-B5DB-A5EDB938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05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note plaintext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6C74A6-B2BE-4379-9707-341570B2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FCA090-0D0D-43A3-B7B8-4A118151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242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note ownership meaning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FE2ABE-F670-45ED-B1D9-23C4A2F2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A0BB87-98D1-4BFE-A89C-212ADA1C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43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sender-recipient provenance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2A8B2-3FD7-4F3E-86A6-98BE4B2A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E98059-9DD9-4FD2-BB07-E67FF18C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624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complete private note history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F6A68F-4072-42CD-A228-89BF469C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4762500" cy="27241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164FD1-437A-4774-99F0-AEBA19F9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09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575" b="1">
                <a:solidFill>
                  <a:srgbClr val="F59E0B"/>
                </a:solidFill>
              </a:rPr>
              <a:t>Visible monitoring surface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578827-6838-42D4-865B-005410D3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813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7EAAC7-50FA-4C3A-A370-EED9B72D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05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joins, deposits, withdrawals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BC7541-339C-4D1F-B4DA-773808D4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004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9A24C1-DABE-4E86-855A-DE00C7BA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242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accepted transitions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C0DA07-82AF-4A21-A9EA-5353BD5C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195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1DCD60-0DD4-4B84-9BF0-4EBC02FE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43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commitments and nullifiers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4D28B8-8B8B-48BA-9AB4-CB5443F4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386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722501-18BD-49CB-8749-852858A2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624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1B1F2A"/>
                </a:solidFill>
              </a:rPr>
              <a:t>encrypted note-delivery events</a:t>
            </a:r>
          </a:p>
        </p:txBody>
      </p:sp>
    </p:spTree>
    <p:extLst>
      <p:ext uri="{BB962C8B-B14F-4D97-AF65-F5344CB8AC3E}">
        <p14:creationId xmlns:p14="http://schemas.microsoft.com/office/powerpoint/2010/main" val="149401697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B4E16-F54C-4816-9F5A-CA4A1462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DE88E-A33E-4947-8A25-2EA4955C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A00936-FC43-400E-8A59-7693C479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SECURITY INVARIANTS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CC9CF-F7F3-4325-B6A3-0805FD72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88809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The Bridge Rejects Ambiguous State 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9E28D-D520-423B-9EC4-D2CC2403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abstract spec turns implementation assumptions into explicit admissibility constraints.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415114-DE78-423A-8277-1C658102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4CB6E2-E714-472B-9CA7-3509EDDF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A92934-D02F-4EE6-B604-193CF4D9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D713C-0BE7-46A5-8D72-B320F8D6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0439400" cy="1104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F9377-F5D9-4C05-8E47-F840CFFF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DApp storage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AE978-8F8F-4FB7-93FE-02500DDC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exists! S_d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80AA74-7A38-4D96-BC3C-EBFFAE09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function uniqueness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F1E93C-8874-4115-B739-1730D3E1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(d,f) -&gt; (p,L)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9D3B2B-81E5-4A5A-8D73-804BE89C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5F767-4680-485E-B380-77BD6844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channel uniqueness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5CC9A-DEEB-4639-9886-3B71505F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exists! C_c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DC742-3D3E-4A8D-80C8-BE2B0EB1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6D078-CC34-465C-8D2F-6D4FB40E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95550"/>
            <a:ext cx="2228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900" b="1">
                <a:solidFill>
                  <a:srgbClr val="A9B7D0"/>
                </a:solidFill>
              </a:rPr>
              <a:t>leaf index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EB3947-B4A8-4F33-BF51-41981647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500">
                <a:solidFill>
                  <a:srgbClr val="FFFFFF"/>
                </a:solidFill>
              </a:rPr>
              <a:t>LeafIndex(k)=k mod 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948277-495F-4234-B53B-B865B270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95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06A"/>
          </a:solidFill>
          <a:ln xmlns:a="http://schemas.openxmlformats.org/drawingml/2006/main">
            <a:solidFill>
              <a:srgbClr val="41506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D9812-76E9-4570-92E0-9466CCB4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BA835-9FFC-4EE8-96CA-6C0D0DEB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86080-A26E-478F-9D93-59FF71F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Storage-vector ordering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7CA6F4-0395-4002-8CD5-67F8115D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Every root vector, storage-write descriptor, snapshot, and proof input must use the same DApp-wide storage order.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3CE478-2257-4F37-B5B1-D65856ED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8C0460-09E0-4740-A8E9-07D2AE49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A7AC86-DD2A-42E2-8930-5D6C1241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Proof-gated transition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FDDB94-D9D3-4866-9E4E-EB444B79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A state update becomes meaningful only when proof verification and bridge metadata checks both succeed.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90BAD2-445E-46D0-91D8-4C80E462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00500"/>
            <a:ext cx="3181350" cy="1238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E4B0FC-C882-4191-8B13-5245296B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0050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0B64D2-75A4-464C-9A42-0A019E69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No arbitrary ABI execution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4794BD-635E-43BD-85EA-98119032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33900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The bridge does not accept a selector merely because it exists in deployed bytecode.</a:t>
            </a:r>
          </a:p>
        </p:txBody>
      </p:sp>
    </p:spTree>
    <p:extLst>
      <p:ext uri="{BB962C8B-B14F-4D97-AF65-F5344CB8AC3E}">
        <p14:creationId xmlns:p14="http://schemas.microsoft.com/office/powerpoint/2010/main" val="88683241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CD2D2-B5DC-481D-8D8F-F712F67B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E3FF8F-D3B8-4D12-A271-0C9E4EA2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540C6-8990-432C-B313-17EBB46E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IMPLEMENTATION MAPPING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0B5D1-C521-4330-923A-7B9186C8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Concepts to Contracts and Scripts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B59CA3-55ED-41A8-B04C-77F2ABB1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current codebase separates stable protocol roles from volatile deployment details.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893A5-04A0-46EE-92C5-59A86364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C3B7F-1B67-4896-B7B7-41FB4BCB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CBA466-A6AA-4AF3-8696-594C188E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82314-0DE1-4F4D-AB37-F49F6FB3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10553700" cy="33909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E38DFF-1D85-44CF-AC90-3FD5FADB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Shared control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BC7BE0-2589-42D1-B434-5886B17B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BridgeCore, DAppManager, L1TokenVault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7A56C2-891F-484F-AA2B-FACD5E72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BEA6EE-E345-411F-B03F-0A35A5BE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717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Per-channel state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9C1DD-BB66-497C-BCB1-F0C3F50C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7177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ChannelManager, ChannelDeployer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183E30-8A0F-43D4-B0F6-41839B65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49744-AEC6-4968-82A6-07EF30C3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00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General execution proof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012001-00E9-4C83-A6D2-C45376B8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004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TokamakVerifier and generated setup parameters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DFBDE-1D00-4F64-BB62-73CDFEF9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93463-2908-41F4-858A-28BB0635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290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Vault accounting proof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2AF0E8-F9C5-4E8A-A456-05AE696F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2902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Groth16Verifier and updateTree verifier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F7EDCB-D344-437D-999A-8FA3D63F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5287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44FC26-7BAA-483B-9D47-BB40131D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7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DApp registration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86902E-70AB-4931-BB02-3085A7A6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5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bridge/scripts/admin-add-dapp.mjs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39E539-A968-4EDA-AAC1-375AD145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81500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095419-7B54-4C80-818F-0780F126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862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Bridge deployment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E9917D-F8FE-4926-8EE2-2E0B2CA5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486275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bridge/scripts/deploy-bridge.mjs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976CF9-AB91-4D28-91E6-4FAD895B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0125"/>
            <a:ext cx="10077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63C0E9-3F0C-4115-9411-181E078F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Private-state CLI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98968F-680E-4EE8-9617-B83A8DF3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9149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125">
                <a:solidFill>
                  <a:srgbClr val="5C667A"/>
                </a:solidFill>
              </a:rPr>
              <a:t>packages/apps/private-state/cli</a:t>
            </a:r>
          </a:p>
        </p:txBody>
      </p:sp>
    </p:spTree>
    <p:extLst>
      <p:ext uri="{BB962C8B-B14F-4D97-AF65-F5344CB8AC3E}">
        <p14:creationId xmlns:p14="http://schemas.microsoft.com/office/powerpoint/2010/main" val="16704676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C7A573-78FD-40BC-B5F4-C1AC60AF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3341D-00B7-4735-A554-F6CBB78F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0831C-7AB1-4C80-A8EF-75C6D03E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DEVELOPER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860B44-E88D-40BA-9B22-FDF93343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7455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How to Implement and Operate a Channel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46174-158C-424B-9944-44A931F7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workflow turns contracts, synthesizer metadata, and CLI proof generation into one bridge-coupled path.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E878C-11B4-4555-AF1E-EE1F9076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828AE-27CE-4F72-B280-83D6DC0D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90389F-CA69-4CBE-A9C6-AEFF1A8A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87F8A-AF95-4E2E-B7E8-FB893759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F630CC-628B-4626-83D4-A3EBEDD2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C4851-6455-4E44-B479-EEB5DD89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E3AAC7-C085-4D2F-A2DE-EAA97DF6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Deploy bridge stack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570872-65E0-4D78-ADCF-EB6EEB98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289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D2C47-DE26-4D4E-93BE-61FACDAE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FD408-9003-4C3B-821A-08436D3B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4A2A51-14FD-4C5A-8AA2-282C6725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BC62D0-CF9F-46BE-A14A-6C3B203A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Deploy private-state DApp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AB98B2-5566-4D80-9BB4-9E206D73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289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906C40-8DEF-4806-B4EB-0BEFE91D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955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B294D-686D-4169-B86A-9254429C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860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E1A0C9-AF3D-4483-986B-D85BB8C0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71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5EF030-5CB5-4484-B0EF-532535F6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670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Synthesize and preprocess examples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6F4713-A91A-492B-A07F-822CDF71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76600"/>
            <a:ext cx="114300" cy="8953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D9EEDC-412B-49B4-9EFC-5606921C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B23F21-4D2C-4176-A001-E740BFF4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7A86DF-7D86-43BC-86DB-006A388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53298F-B13E-4BA9-A9C3-C7D5CE71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Register DApp metadata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1C5200-F3E1-42F7-A329-CEE598BA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053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B29D8F-5718-4B32-B6A2-80D39B21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4077F8-FB8F-443F-AECF-8F925F48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D2311-F6E5-43A8-A084-29624A2D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338CF7-6D5E-4ED6-B4F1-2EC45FC6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Create or join a channel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887FBD-1985-4A6F-ACD5-48A6FC92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05325"/>
            <a:ext cx="514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BDE4EE-4C5C-4A47-B51E-37865A5C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71950"/>
            <a:ext cx="2667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FEB79A-0D2D-4914-8366-FF25EA6E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62450"/>
            <a:ext cx="381000" cy="381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C633E2-7FD0-4C8A-9ABC-D21AE2BD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48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/>
            <a:r>
              <a:rPr sz="127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312A7B-14B9-4FE2-865C-C6B12CDA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4340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B1F2A"/>
                </a:solidFill>
              </a:rPr>
              <a:t>Submit proof-backed wallet operations</a:t>
            </a:r>
          </a:p>
        </p:txBody>
      </p:sp>
    </p:spTree>
    <p:extLst>
      <p:ext uri="{BB962C8B-B14F-4D97-AF65-F5344CB8AC3E}">
        <p14:creationId xmlns:p14="http://schemas.microsoft.com/office/powerpoint/2010/main" val="204524760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CEEB3-2022-4800-956C-D9DBAFDA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D5334-B594-41B7-9D6A-1EF82D0D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92A1D-784E-46AE-828E-DD28929C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TRADEOFFS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B15A80-7969-46E4-96E9-E17F41DA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95058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Open Research and Engineering Questions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E771E-DE0C-4701-80C8-8431436C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The design chooses explicit policy and isolation over some forms of global flexibility.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05DE7-D30E-4363-899F-0D0BB331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3A15F-7CA6-4753-8255-1CEEF714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BADA11-E585-4C36-BB15-45A3B471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3776E1-37B2-40DD-A1DA-A774E86C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180F9-C792-4C38-973B-9737D0E9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5E0CEF-D7C2-4EA2-AA50-0704434D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384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Isolation vs composability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E8B7C-C73B-4F87-8BCB-E51A603F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Per-channel execution gives tight safety boundaries, but cross-channel composition is not the primary optimization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B3CADD-E72C-4B6D-80A7-397A55F2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78FD13-5465-4591-82EB-15B8779A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>
            <a:solidFill>
              <a:srgbClr val="F59E0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4369E-2539-43C6-AC59-9C3CD44C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384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Immutable policy vs upgradeability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EA98E5-79B8-44BA-9422-BD0700E7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003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Channel policy bugs normally require a new channel or migration path rather than in-place rewriting.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51C744-3AC6-40A0-A0DD-9162462A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1CA639-2914-47ED-BCB4-CBC7CAC3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A4A"/>
          </a:solidFill>
          <a:ln xmlns:a="http://schemas.openxmlformats.org/drawingml/2006/main">
            <a:solidFill>
              <a:srgbClr val="D94A4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2EDF9-1FCB-4F11-A622-178A73BA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672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Finite Merkle leaf capacity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68F82-A964-4B0D-868D-9EEBE78B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Storage keys are projected into a finite leaf domain, so capacity and collision risk are channel-lifetime concerns.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9EC00-6B1D-4831-A5B1-88155081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953000" cy="13144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F443B9-02B4-4151-9BCC-96EF5130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625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A67A"/>
          </a:solidFill>
          <a:ln xmlns:a="http://schemas.openxmlformats.org/drawingml/2006/main">
            <a:solidFill>
              <a:srgbClr val="21A67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4365FC-727A-4C11-BC4B-86002908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67200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B1F2A"/>
                </a:solidFill>
              </a:rPr>
              <a:t>DApp-specific disclosure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D046B7-DB39-4A81-A583-B32ACC56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29150"/>
            <a:ext cx="4533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5C667A"/>
                </a:solidFill>
              </a:rPr>
              <a:t>Compliance, auditability, and selective disclosure must be programmed and documented per DApp.</a:t>
            </a:r>
          </a:p>
        </p:txBody>
      </p:sp>
    </p:spTree>
    <p:extLst>
      <p:ext uri="{BB962C8B-B14F-4D97-AF65-F5344CB8AC3E}">
        <p14:creationId xmlns:p14="http://schemas.microsoft.com/office/powerpoint/2010/main" val="1687065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59316-B4BB-42AA-9EDF-4B27092320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98B76-D6AA-40DC-BC26-8E6C8564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>
            <a:solidFill>
              <a:srgbClr val="F7F8F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91AED-4182-462A-924F-F99F7911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A9B7D-BA48-4CAE-9EE8-62900753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2563EB"/>
                </a:solidFill>
              </a:rPr>
              <a:t>TAKEAWAYS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315B37-1D3A-467C-8F2F-0695EF49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2925" b="1">
                <a:solidFill>
                  <a:srgbClr val="101828"/>
                </a:solidFill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12A1C-082E-478D-AAAE-D853C5A9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350">
                <a:solidFill>
                  <a:srgbClr val="5C667A"/>
                </a:solidFill>
              </a:rPr>
              <a:t>Tokamak Private App Channels are a bridge fabric for validity-proven DApp-specific execution.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C1E08-18A3-49F4-A4F3-1D228648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6"/>
          </a:solidFill>
          <a:ln xmlns:a="http://schemas.openxmlformats.org/drawingml/2006/main">
            <a:solidFill>
              <a:srgbClr val="D8DD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2A2CB0-6278-42F8-B842-B106F4EC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750">
                <a:solidFill>
                  <a:srgbClr val="5C667A"/>
                </a:solidFill>
              </a:rPr>
              <a:t>Tokamak Private App Channels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0D2F7-1954-4364-B995-39F3A539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/>
            <a:r>
              <a:rPr sz="750">
                <a:solidFill>
                  <a:srgbClr val="5C667A"/>
                </a:solidFill>
              </a:rPr>
              <a:t>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9EEF7-460A-46CF-9295-DE2AA9ED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84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179D88-510C-450A-BF7F-F7853E28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622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Ethereum remains the custody and validity anchor.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CC59AC-0566-4CAA-B4D3-1BC5105C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908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450E83-D043-4CBD-A895-DF194D9B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1465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The bridge admits execution through registered metadata, not arbitrary ABI interpretation.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ADFB7-F7B7-45DE-9D3A-7BE355EC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433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F9AF8-97A3-434F-9E2F-4D42C699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671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Each channel snapshots its DApp policy, verifier bindings, function root, and storage vector.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4DB99E-47D7-467C-B648-42051F1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A15EF5-3E0C-4A8F-A260-9B09AA6F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1955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Tokamak proofs and Groth16 accounting proofs serve different bridge responsibilities.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226A70-201A-488A-BBB2-DBD3447A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76200" cy="76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4CE7F-6C2F-463F-9524-A6E075E4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9124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1650">
                <a:solidFill>
                  <a:srgbClr val="1B1F2A"/>
                </a:solidFill>
              </a:rPr>
              <a:t>Private-state demonstrates DApp-programmed privacy with transparent L1 entry and exit.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8EAF15-94F2-4D0C-8FC0-ACE86E04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76875"/>
            <a:ext cx="9258300" cy="476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52238"/>
          </a:solidFill>
          <a:ln xmlns:a="http://schemas.openxmlformats.org/drawingml/2006/main">
            <a:solidFill>
              <a:srgbClr val="15223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B0218A-8E87-4F68-8DC8-7595001B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00700"/>
            <a:ext cx="872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D8DDE6"/>
            </a:solidFill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350" b="1">
                <a:solidFill>
                  <a:srgbClr val="FFFFFF"/>
                </a:solidFill>
              </a:rPr>
              <a:t>The central question is not only whether a proof verifies, but what policy gives that proof meaning.</a:t>
            </a:r>
          </a:p>
        </p:txBody>
      </p:sp>
    </p:spTree>
    <p:extLst>
      <p:ext uri="{BB962C8B-B14F-4D97-AF65-F5344CB8AC3E}">
        <p14:creationId xmlns:p14="http://schemas.microsoft.com/office/powerpoint/2010/main" val="214061822"/>
      </p:ext>
    </p:extLst>
  </p:cSld>
</p:sld>
</file>

<file path=ppt/theme/theme1.xml><?xml version="1.0" encoding="utf-8"?>
<a:theme xmlns:a="http://schemas.openxmlformats.org/drawingml/2006/main" name="Tokamak Private App Channels">
  <a:themeElements>
    <a:clrScheme name="Tokamak Private App Channels">
      <a:accent1>
        <a:srgbClr val="2563EB"/>
      </a:accent1>
      <a:accent2>
        <a:srgbClr val="00A6B2"/>
      </a:accent2>
      <a:accent3>
        <a:srgbClr val="21A67A"/>
      </a:accent3>
      <a:accent4>
        <a:srgbClr val="F59E0B"/>
      </a:accent4>
      <a:accent5>
        <a:srgbClr val="6D5BD0"/>
      </a:accent5>
      <a:accent6>
        <a:srgbClr val="D94A4A"/>
      </a:accent6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okamak Private App Channels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19</ap:Slides>
  <ap:Notes>19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2026-05-26T11:24:05.0370000Z</dcterms:created>
  <dcterms:modified xsi:type="dcterms:W3CDTF">2026-05-26T11:24:05.0370000Z</dcterms:modified>
</coreProperties>
</file>